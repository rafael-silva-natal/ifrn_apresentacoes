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B36B6B-FD51-42E9-AA17-DB4BAAC8FC27}" v="467" dt="2025-11-06T05:09:18.843"/>
    <p1510:client id="{5B5B1FF0-9706-4667-9971-11620D4C8F0A}" v="71" dt="2025-11-06T02:35:14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6897EE-AC6C-481E-B248-9B750C2E950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52BDDE-345C-4F42-9473-B9A2EBB3499A}">
      <dgm:prSet/>
      <dgm:spPr/>
      <dgm:t>
        <a:bodyPr/>
        <a:lstStyle/>
        <a:p>
          <a:r>
            <a:rPr lang="pt-BR" b="1"/>
            <a:t>Professora: Idalina</a:t>
          </a:r>
          <a:endParaRPr lang="en-US"/>
        </a:p>
      </dgm:t>
    </dgm:pt>
    <dgm:pt modelId="{E086C33D-4D44-4988-AACA-1408816D5279}" type="parTrans" cxnId="{934725EA-45D6-4AAE-8B6A-F0F0C11CFD5C}">
      <dgm:prSet/>
      <dgm:spPr/>
      <dgm:t>
        <a:bodyPr/>
        <a:lstStyle/>
        <a:p>
          <a:endParaRPr lang="en-US"/>
        </a:p>
      </dgm:t>
    </dgm:pt>
    <dgm:pt modelId="{E8F9F28F-5255-4E59-A452-DD2B96583139}" type="sibTrans" cxnId="{934725EA-45D6-4AAE-8B6A-F0F0C11CFD5C}">
      <dgm:prSet/>
      <dgm:spPr/>
      <dgm:t>
        <a:bodyPr/>
        <a:lstStyle/>
        <a:p>
          <a:endParaRPr lang="en-US"/>
        </a:p>
      </dgm:t>
    </dgm:pt>
    <dgm:pt modelId="{C3BD0E09-472F-48BA-BAE3-14022FB15FDD}">
      <dgm:prSet/>
      <dgm:spPr/>
      <dgm:t>
        <a:bodyPr/>
        <a:lstStyle/>
        <a:p>
          <a:r>
            <a:rPr lang="pt-BR" b="1"/>
            <a:t>Aluno: Rafael Bruno da Silva</a:t>
          </a:r>
          <a:endParaRPr lang="en-US"/>
        </a:p>
      </dgm:t>
    </dgm:pt>
    <dgm:pt modelId="{BBF6B133-FAEA-4734-B817-CABA85F6AD77}" type="parTrans" cxnId="{BB584AF3-C440-4470-AC8E-D81481DE26D4}">
      <dgm:prSet/>
      <dgm:spPr/>
      <dgm:t>
        <a:bodyPr/>
        <a:lstStyle/>
        <a:p>
          <a:endParaRPr lang="en-US"/>
        </a:p>
      </dgm:t>
    </dgm:pt>
    <dgm:pt modelId="{6CD5F4C9-1EAD-4606-833A-D66CF7C4E012}" type="sibTrans" cxnId="{BB584AF3-C440-4470-AC8E-D81481DE26D4}">
      <dgm:prSet/>
      <dgm:spPr/>
      <dgm:t>
        <a:bodyPr/>
        <a:lstStyle/>
        <a:p>
          <a:endParaRPr lang="en-US"/>
        </a:p>
      </dgm:t>
    </dgm:pt>
    <dgm:pt modelId="{BEC8AEA5-8606-492C-BA11-B42319F461F9}" type="pres">
      <dgm:prSet presAssocID="{2B6897EE-AC6C-481E-B248-9B750C2E9505}" presName="root" presStyleCnt="0">
        <dgm:presLayoutVars>
          <dgm:dir/>
          <dgm:resizeHandles val="exact"/>
        </dgm:presLayoutVars>
      </dgm:prSet>
      <dgm:spPr/>
    </dgm:pt>
    <dgm:pt modelId="{F4DF2C29-FB14-44F2-869E-A9143595BB1E}" type="pres">
      <dgm:prSet presAssocID="{B952BDDE-345C-4F42-9473-B9A2EBB3499A}" presName="compNode" presStyleCnt="0"/>
      <dgm:spPr/>
    </dgm:pt>
    <dgm:pt modelId="{A28B89DB-34D5-4936-8887-2AFEF8150EA3}" type="pres">
      <dgm:prSet presAssocID="{B952BDDE-345C-4F42-9473-B9A2EBB3499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FA18B074-562C-4062-B3EE-C82AD1907BFD}" type="pres">
      <dgm:prSet presAssocID="{B952BDDE-345C-4F42-9473-B9A2EBB3499A}" presName="spaceRect" presStyleCnt="0"/>
      <dgm:spPr/>
    </dgm:pt>
    <dgm:pt modelId="{12891047-85D6-4D68-8F86-A4BDC95932EE}" type="pres">
      <dgm:prSet presAssocID="{B952BDDE-345C-4F42-9473-B9A2EBB3499A}" presName="textRect" presStyleLbl="revTx" presStyleIdx="0" presStyleCnt="2">
        <dgm:presLayoutVars>
          <dgm:chMax val="1"/>
          <dgm:chPref val="1"/>
        </dgm:presLayoutVars>
      </dgm:prSet>
      <dgm:spPr/>
    </dgm:pt>
    <dgm:pt modelId="{ED8358D2-BA04-45E9-951F-3FA7761F72FC}" type="pres">
      <dgm:prSet presAssocID="{E8F9F28F-5255-4E59-A452-DD2B96583139}" presName="sibTrans" presStyleCnt="0"/>
      <dgm:spPr/>
    </dgm:pt>
    <dgm:pt modelId="{F4BF9EF9-FDFD-466F-8415-DE379DA747E1}" type="pres">
      <dgm:prSet presAssocID="{C3BD0E09-472F-48BA-BAE3-14022FB15FDD}" presName="compNode" presStyleCnt="0"/>
      <dgm:spPr/>
    </dgm:pt>
    <dgm:pt modelId="{9E7E5EDD-86C7-4B16-A85B-78A89AC54A6E}" type="pres">
      <dgm:prSet presAssocID="{C3BD0E09-472F-48BA-BAE3-14022FB15FD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C43BED8-7109-4B9A-BCA7-3D4FAEA14630}" type="pres">
      <dgm:prSet presAssocID="{C3BD0E09-472F-48BA-BAE3-14022FB15FDD}" presName="spaceRect" presStyleCnt="0"/>
      <dgm:spPr/>
    </dgm:pt>
    <dgm:pt modelId="{8053FF59-8BE7-4D9E-82A4-5979E88A60DE}" type="pres">
      <dgm:prSet presAssocID="{C3BD0E09-472F-48BA-BAE3-14022FB15FD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0F75427-5762-4152-842B-D58DBDDC89FA}" type="presOf" srcId="{2B6897EE-AC6C-481E-B248-9B750C2E9505}" destId="{BEC8AEA5-8606-492C-BA11-B42319F461F9}" srcOrd="0" destOrd="0" presId="urn:microsoft.com/office/officeart/2018/2/layout/IconLabelList"/>
    <dgm:cxn modelId="{C00AFCCF-C26A-4832-B211-FA34EEB2B3DE}" type="presOf" srcId="{B952BDDE-345C-4F42-9473-B9A2EBB3499A}" destId="{12891047-85D6-4D68-8F86-A4BDC95932EE}" srcOrd="0" destOrd="0" presId="urn:microsoft.com/office/officeart/2018/2/layout/IconLabelList"/>
    <dgm:cxn modelId="{934725EA-45D6-4AAE-8B6A-F0F0C11CFD5C}" srcId="{2B6897EE-AC6C-481E-B248-9B750C2E9505}" destId="{B952BDDE-345C-4F42-9473-B9A2EBB3499A}" srcOrd="0" destOrd="0" parTransId="{E086C33D-4D44-4988-AACA-1408816D5279}" sibTransId="{E8F9F28F-5255-4E59-A452-DD2B96583139}"/>
    <dgm:cxn modelId="{BB584AF3-C440-4470-AC8E-D81481DE26D4}" srcId="{2B6897EE-AC6C-481E-B248-9B750C2E9505}" destId="{C3BD0E09-472F-48BA-BAE3-14022FB15FDD}" srcOrd="1" destOrd="0" parTransId="{BBF6B133-FAEA-4734-B817-CABA85F6AD77}" sibTransId="{6CD5F4C9-1EAD-4606-833A-D66CF7C4E012}"/>
    <dgm:cxn modelId="{8DFD14FD-9D50-4DDD-9E68-D8BD87D317E2}" type="presOf" srcId="{C3BD0E09-472F-48BA-BAE3-14022FB15FDD}" destId="{8053FF59-8BE7-4D9E-82A4-5979E88A60DE}" srcOrd="0" destOrd="0" presId="urn:microsoft.com/office/officeart/2018/2/layout/IconLabelList"/>
    <dgm:cxn modelId="{7EB2D8CD-9F3C-4CD5-BF0A-D5A09608FF66}" type="presParOf" srcId="{BEC8AEA5-8606-492C-BA11-B42319F461F9}" destId="{F4DF2C29-FB14-44F2-869E-A9143595BB1E}" srcOrd="0" destOrd="0" presId="urn:microsoft.com/office/officeart/2018/2/layout/IconLabelList"/>
    <dgm:cxn modelId="{2C5B44CD-FCBA-42A9-8BAC-971FC2945F98}" type="presParOf" srcId="{F4DF2C29-FB14-44F2-869E-A9143595BB1E}" destId="{A28B89DB-34D5-4936-8887-2AFEF8150EA3}" srcOrd="0" destOrd="0" presId="urn:microsoft.com/office/officeart/2018/2/layout/IconLabelList"/>
    <dgm:cxn modelId="{9E97C841-3E39-42EA-B024-24AEA1247907}" type="presParOf" srcId="{F4DF2C29-FB14-44F2-869E-A9143595BB1E}" destId="{FA18B074-562C-4062-B3EE-C82AD1907BFD}" srcOrd="1" destOrd="0" presId="urn:microsoft.com/office/officeart/2018/2/layout/IconLabelList"/>
    <dgm:cxn modelId="{3A4A37DC-7C07-4D57-BE6E-9C3A24F344AF}" type="presParOf" srcId="{F4DF2C29-FB14-44F2-869E-A9143595BB1E}" destId="{12891047-85D6-4D68-8F86-A4BDC95932EE}" srcOrd="2" destOrd="0" presId="urn:microsoft.com/office/officeart/2018/2/layout/IconLabelList"/>
    <dgm:cxn modelId="{739D93FD-1C1E-4364-9DCB-647BB2A22A16}" type="presParOf" srcId="{BEC8AEA5-8606-492C-BA11-B42319F461F9}" destId="{ED8358D2-BA04-45E9-951F-3FA7761F72FC}" srcOrd="1" destOrd="0" presId="urn:microsoft.com/office/officeart/2018/2/layout/IconLabelList"/>
    <dgm:cxn modelId="{11FE7993-7D49-4CC8-B0BB-AD20560E5FC0}" type="presParOf" srcId="{BEC8AEA5-8606-492C-BA11-B42319F461F9}" destId="{F4BF9EF9-FDFD-466F-8415-DE379DA747E1}" srcOrd="2" destOrd="0" presId="urn:microsoft.com/office/officeart/2018/2/layout/IconLabelList"/>
    <dgm:cxn modelId="{22328B9B-3E2F-4F8C-8A0E-165D68CBE9FA}" type="presParOf" srcId="{F4BF9EF9-FDFD-466F-8415-DE379DA747E1}" destId="{9E7E5EDD-86C7-4B16-A85B-78A89AC54A6E}" srcOrd="0" destOrd="0" presId="urn:microsoft.com/office/officeart/2018/2/layout/IconLabelList"/>
    <dgm:cxn modelId="{626D1658-32D4-4B77-8528-073E289E2643}" type="presParOf" srcId="{F4BF9EF9-FDFD-466F-8415-DE379DA747E1}" destId="{2C43BED8-7109-4B9A-BCA7-3D4FAEA14630}" srcOrd="1" destOrd="0" presId="urn:microsoft.com/office/officeart/2018/2/layout/IconLabelList"/>
    <dgm:cxn modelId="{283C22C9-D5BD-4F62-B0C0-909CAEE4D18D}" type="presParOf" srcId="{F4BF9EF9-FDFD-466F-8415-DE379DA747E1}" destId="{8053FF59-8BE7-4D9E-82A4-5979E88A60D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FD751B-55DD-42A2-A15C-BA9541229E25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B6ABBD3-3410-43D8-8770-C5427447DDCB}">
      <dgm:prSet/>
      <dgm:spPr/>
      <dgm:t>
        <a:bodyPr/>
        <a:lstStyle/>
        <a:p>
          <a:r>
            <a:rPr lang="pt-BR" b="1"/>
            <a:t>Finalidade: informar, interpretar e opinar.</a:t>
          </a:r>
          <a:endParaRPr lang="en-US"/>
        </a:p>
      </dgm:t>
    </dgm:pt>
    <dgm:pt modelId="{7E47C5F3-68A5-4B26-A374-E35CF1359834}" type="parTrans" cxnId="{D4498DE5-2676-4570-8D9B-3CB0F598EF61}">
      <dgm:prSet/>
      <dgm:spPr/>
      <dgm:t>
        <a:bodyPr/>
        <a:lstStyle/>
        <a:p>
          <a:endParaRPr lang="en-US"/>
        </a:p>
      </dgm:t>
    </dgm:pt>
    <dgm:pt modelId="{8967B474-70D3-4070-BB4C-BC2556773D61}" type="sibTrans" cxnId="{D4498DE5-2676-4570-8D9B-3CB0F598EF61}">
      <dgm:prSet/>
      <dgm:spPr/>
      <dgm:t>
        <a:bodyPr/>
        <a:lstStyle/>
        <a:p>
          <a:endParaRPr lang="en-US"/>
        </a:p>
      </dgm:t>
    </dgm:pt>
    <dgm:pt modelId="{B8CDE95E-8501-447E-90D1-138329D1C59A}">
      <dgm:prSet/>
      <dgm:spPr/>
      <dgm:t>
        <a:bodyPr/>
        <a:lstStyle/>
        <a:p>
          <a:r>
            <a:rPr lang="pt-BR" b="1"/>
            <a:t>Produzido por meios de comunicação (jornais, revistas, TV, internet).</a:t>
          </a:r>
          <a:endParaRPr lang="en-US"/>
        </a:p>
      </dgm:t>
    </dgm:pt>
    <dgm:pt modelId="{FC531186-9B93-4CBC-93F7-93BE4B234E28}" type="parTrans" cxnId="{221C3A1E-E767-4D81-96BD-092955C93337}">
      <dgm:prSet/>
      <dgm:spPr/>
      <dgm:t>
        <a:bodyPr/>
        <a:lstStyle/>
        <a:p>
          <a:endParaRPr lang="en-US"/>
        </a:p>
      </dgm:t>
    </dgm:pt>
    <dgm:pt modelId="{2609CBFB-7565-411D-A8E5-ED0420DE7F5A}" type="sibTrans" cxnId="{221C3A1E-E767-4D81-96BD-092955C93337}">
      <dgm:prSet/>
      <dgm:spPr/>
      <dgm:t>
        <a:bodyPr/>
        <a:lstStyle/>
        <a:p>
          <a:endParaRPr lang="en-US"/>
        </a:p>
      </dgm:t>
    </dgm:pt>
    <dgm:pt modelId="{2B884D5E-E190-4788-8449-330E4EAE6AF4}">
      <dgm:prSet/>
      <dgm:spPr/>
      <dgm:t>
        <a:bodyPr/>
        <a:lstStyle/>
        <a:p>
          <a:r>
            <a:rPr lang="pt-BR" b="1"/>
            <a:t>Usa linguagem clara, objetiva e atual.</a:t>
          </a:r>
          <a:endParaRPr lang="en-US"/>
        </a:p>
      </dgm:t>
    </dgm:pt>
    <dgm:pt modelId="{16070DB6-9FF6-4DE7-AC46-65754AA2B27B}" type="parTrans" cxnId="{7AE96A9A-57EE-4A86-935F-3DE36B28C061}">
      <dgm:prSet/>
      <dgm:spPr/>
      <dgm:t>
        <a:bodyPr/>
        <a:lstStyle/>
        <a:p>
          <a:endParaRPr lang="en-US"/>
        </a:p>
      </dgm:t>
    </dgm:pt>
    <dgm:pt modelId="{5C42925F-5084-4579-990A-7F28DF62CB5D}" type="sibTrans" cxnId="{7AE96A9A-57EE-4A86-935F-3DE36B28C061}">
      <dgm:prSet/>
      <dgm:spPr/>
      <dgm:t>
        <a:bodyPr/>
        <a:lstStyle/>
        <a:p>
          <a:endParaRPr lang="en-US"/>
        </a:p>
      </dgm:t>
    </dgm:pt>
    <dgm:pt modelId="{0FD2EF67-9601-4737-A9F6-85D08AD2DEA1}">
      <dgm:prSet/>
      <dgm:spPr/>
      <dgm:t>
        <a:bodyPr/>
        <a:lstStyle/>
        <a:p>
          <a:r>
            <a:rPr lang="pt-BR" b="1"/>
            <a:t>Divide-se em textos informativos e opinativos</a:t>
          </a:r>
          <a:endParaRPr lang="en-US"/>
        </a:p>
      </dgm:t>
    </dgm:pt>
    <dgm:pt modelId="{55654F38-173E-4B92-96AC-2CECD1500E2E}" type="parTrans" cxnId="{281950DF-066D-419C-84AF-1F5B778BDFBC}">
      <dgm:prSet/>
      <dgm:spPr/>
      <dgm:t>
        <a:bodyPr/>
        <a:lstStyle/>
        <a:p>
          <a:endParaRPr lang="en-US"/>
        </a:p>
      </dgm:t>
    </dgm:pt>
    <dgm:pt modelId="{DD1BCA78-A223-4C42-9B2D-4D64AAB142A1}" type="sibTrans" cxnId="{281950DF-066D-419C-84AF-1F5B778BDFBC}">
      <dgm:prSet/>
      <dgm:spPr/>
      <dgm:t>
        <a:bodyPr/>
        <a:lstStyle/>
        <a:p>
          <a:endParaRPr lang="en-US"/>
        </a:p>
      </dgm:t>
    </dgm:pt>
    <dgm:pt modelId="{0DC1E2F2-1503-427E-B91E-0DF1D875B951}" type="pres">
      <dgm:prSet presAssocID="{3FFD751B-55DD-42A2-A15C-BA9541229E25}" presName="matrix" presStyleCnt="0">
        <dgm:presLayoutVars>
          <dgm:chMax val="1"/>
          <dgm:dir/>
          <dgm:resizeHandles val="exact"/>
        </dgm:presLayoutVars>
      </dgm:prSet>
      <dgm:spPr/>
    </dgm:pt>
    <dgm:pt modelId="{B8A27804-7BF3-412D-80E8-8A905F08B88E}" type="pres">
      <dgm:prSet presAssocID="{3FFD751B-55DD-42A2-A15C-BA9541229E25}" presName="diamond" presStyleLbl="bgShp" presStyleIdx="0" presStyleCnt="1"/>
      <dgm:spPr/>
    </dgm:pt>
    <dgm:pt modelId="{43D7F852-6F7C-4B5E-A50A-937AD2E8E111}" type="pres">
      <dgm:prSet presAssocID="{3FFD751B-55DD-42A2-A15C-BA9541229E2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9D1FE00-55ED-46E5-BD44-613B43344560}" type="pres">
      <dgm:prSet presAssocID="{3FFD751B-55DD-42A2-A15C-BA9541229E2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96490A8-39CE-4884-A821-6FF165BD7458}" type="pres">
      <dgm:prSet presAssocID="{3FFD751B-55DD-42A2-A15C-BA9541229E2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DB49F64-4C7A-4283-89C9-48A6952011F2}" type="pres">
      <dgm:prSet presAssocID="{3FFD751B-55DD-42A2-A15C-BA9541229E2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9A81C07-32EC-4E8A-B297-D6EBAFFE381B}" type="presOf" srcId="{3FFD751B-55DD-42A2-A15C-BA9541229E25}" destId="{0DC1E2F2-1503-427E-B91E-0DF1D875B951}" srcOrd="0" destOrd="0" presId="urn:microsoft.com/office/officeart/2005/8/layout/matrix3"/>
    <dgm:cxn modelId="{1822380E-6AAE-443C-9D02-83F49380523F}" type="presOf" srcId="{3B6ABBD3-3410-43D8-8770-C5427447DDCB}" destId="{43D7F852-6F7C-4B5E-A50A-937AD2E8E111}" srcOrd="0" destOrd="0" presId="urn:microsoft.com/office/officeart/2005/8/layout/matrix3"/>
    <dgm:cxn modelId="{221C3A1E-E767-4D81-96BD-092955C93337}" srcId="{3FFD751B-55DD-42A2-A15C-BA9541229E25}" destId="{B8CDE95E-8501-447E-90D1-138329D1C59A}" srcOrd="1" destOrd="0" parTransId="{FC531186-9B93-4CBC-93F7-93BE4B234E28}" sibTransId="{2609CBFB-7565-411D-A8E5-ED0420DE7F5A}"/>
    <dgm:cxn modelId="{F21CAE78-5313-42D7-958A-051D41207344}" type="presOf" srcId="{B8CDE95E-8501-447E-90D1-138329D1C59A}" destId="{39D1FE00-55ED-46E5-BD44-613B43344560}" srcOrd="0" destOrd="0" presId="urn:microsoft.com/office/officeart/2005/8/layout/matrix3"/>
    <dgm:cxn modelId="{7AE96A9A-57EE-4A86-935F-3DE36B28C061}" srcId="{3FFD751B-55DD-42A2-A15C-BA9541229E25}" destId="{2B884D5E-E190-4788-8449-330E4EAE6AF4}" srcOrd="2" destOrd="0" parTransId="{16070DB6-9FF6-4DE7-AC46-65754AA2B27B}" sibTransId="{5C42925F-5084-4579-990A-7F28DF62CB5D}"/>
    <dgm:cxn modelId="{47238DBE-0D5B-47E4-9F0E-FBA36FC37693}" type="presOf" srcId="{2B884D5E-E190-4788-8449-330E4EAE6AF4}" destId="{696490A8-39CE-4884-A821-6FF165BD7458}" srcOrd="0" destOrd="0" presId="urn:microsoft.com/office/officeart/2005/8/layout/matrix3"/>
    <dgm:cxn modelId="{281950DF-066D-419C-84AF-1F5B778BDFBC}" srcId="{3FFD751B-55DD-42A2-A15C-BA9541229E25}" destId="{0FD2EF67-9601-4737-A9F6-85D08AD2DEA1}" srcOrd="3" destOrd="0" parTransId="{55654F38-173E-4B92-96AC-2CECD1500E2E}" sibTransId="{DD1BCA78-A223-4C42-9B2D-4D64AAB142A1}"/>
    <dgm:cxn modelId="{D4498DE5-2676-4570-8D9B-3CB0F598EF61}" srcId="{3FFD751B-55DD-42A2-A15C-BA9541229E25}" destId="{3B6ABBD3-3410-43D8-8770-C5427447DDCB}" srcOrd="0" destOrd="0" parTransId="{7E47C5F3-68A5-4B26-A374-E35CF1359834}" sibTransId="{8967B474-70D3-4070-BB4C-BC2556773D61}"/>
    <dgm:cxn modelId="{B25511F9-1334-4E30-8773-AB6AA2686FBB}" type="presOf" srcId="{0FD2EF67-9601-4737-A9F6-85D08AD2DEA1}" destId="{8DB49F64-4C7A-4283-89C9-48A6952011F2}" srcOrd="0" destOrd="0" presId="urn:microsoft.com/office/officeart/2005/8/layout/matrix3"/>
    <dgm:cxn modelId="{9CF57149-60FE-4718-994D-0BE0B2F39C49}" type="presParOf" srcId="{0DC1E2F2-1503-427E-B91E-0DF1D875B951}" destId="{B8A27804-7BF3-412D-80E8-8A905F08B88E}" srcOrd="0" destOrd="0" presId="urn:microsoft.com/office/officeart/2005/8/layout/matrix3"/>
    <dgm:cxn modelId="{9A68863E-A9F1-4A9B-BC6B-FC129B06F3A0}" type="presParOf" srcId="{0DC1E2F2-1503-427E-B91E-0DF1D875B951}" destId="{43D7F852-6F7C-4B5E-A50A-937AD2E8E111}" srcOrd="1" destOrd="0" presId="urn:microsoft.com/office/officeart/2005/8/layout/matrix3"/>
    <dgm:cxn modelId="{E8819D43-85B5-4946-B0D1-F1AE6A77E1E2}" type="presParOf" srcId="{0DC1E2F2-1503-427E-B91E-0DF1D875B951}" destId="{39D1FE00-55ED-46E5-BD44-613B43344560}" srcOrd="2" destOrd="0" presId="urn:microsoft.com/office/officeart/2005/8/layout/matrix3"/>
    <dgm:cxn modelId="{EB710CC1-B551-4FD8-A977-015D542C7BA0}" type="presParOf" srcId="{0DC1E2F2-1503-427E-B91E-0DF1D875B951}" destId="{696490A8-39CE-4884-A821-6FF165BD7458}" srcOrd="3" destOrd="0" presId="urn:microsoft.com/office/officeart/2005/8/layout/matrix3"/>
    <dgm:cxn modelId="{6EC5DDFE-3744-402A-823E-6FCC5936EF3B}" type="presParOf" srcId="{0DC1E2F2-1503-427E-B91E-0DF1D875B951}" destId="{8DB49F64-4C7A-4283-89C9-48A6952011F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B89DB-34D5-4936-8887-2AFEF8150EA3}">
      <dsp:nvSpPr>
        <dsp:cNvPr id="0" name=""/>
        <dsp:cNvSpPr/>
      </dsp:nvSpPr>
      <dsp:spPr>
        <a:xfrm>
          <a:off x="1549679" y="216005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91047-85D6-4D68-8F86-A4BDC95932EE}">
      <dsp:nvSpPr>
        <dsp:cNvPr id="0" name=""/>
        <dsp:cNvSpPr/>
      </dsp:nvSpPr>
      <dsp:spPr>
        <a:xfrm>
          <a:off x="361679" y="263015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1" kern="1200"/>
            <a:t>Professora: Idalina</a:t>
          </a:r>
          <a:endParaRPr lang="en-US" sz="2600" kern="1200"/>
        </a:p>
      </dsp:txBody>
      <dsp:txXfrm>
        <a:off x="361679" y="2630154"/>
        <a:ext cx="4320000" cy="720000"/>
      </dsp:txXfrm>
    </dsp:sp>
    <dsp:sp modelId="{9E7E5EDD-86C7-4B16-A85B-78A89AC54A6E}">
      <dsp:nvSpPr>
        <dsp:cNvPr id="0" name=""/>
        <dsp:cNvSpPr/>
      </dsp:nvSpPr>
      <dsp:spPr>
        <a:xfrm>
          <a:off x="6625679" y="216005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3FF59-8BE7-4D9E-82A4-5979E88A60DE}">
      <dsp:nvSpPr>
        <dsp:cNvPr id="0" name=""/>
        <dsp:cNvSpPr/>
      </dsp:nvSpPr>
      <dsp:spPr>
        <a:xfrm>
          <a:off x="5437679" y="263015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1" kern="1200"/>
            <a:t>Aluno: Rafael Bruno da Silva</a:t>
          </a:r>
          <a:endParaRPr lang="en-US" sz="2600" kern="1200"/>
        </a:p>
      </dsp:txBody>
      <dsp:txXfrm>
        <a:off x="5437679" y="2630154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27804-7BF3-412D-80E8-8A905F08B88E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7F852-6F7C-4B5E-A50A-937AD2E8E111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/>
            <a:t>Finalidade: informar, interpretar e opinar.</a:t>
          </a:r>
          <a:endParaRPr lang="en-US" sz="2100" kern="1200"/>
        </a:p>
      </dsp:txBody>
      <dsp:txXfrm>
        <a:off x="1011204" y="630714"/>
        <a:ext cx="1946396" cy="1946396"/>
      </dsp:txXfrm>
    </dsp:sp>
    <dsp:sp modelId="{39D1FE00-55ED-46E5-BD44-613B43344560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/>
            <a:t>Produzido por meios de comunicação (jornais, revistas, TV, internet).</a:t>
          </a:r>
          <a:endParaRPr lang="en-US" sz="2100" kern="1200"/>
        </a:p>
      </dsp:txBody>
      <dsp:txXfrm>
        <a:off x="3334113" y="630714"/>
        <a:ext cx="1946396" cy="1946396"/>
      </dsp:txXfrm>
    </dsp:sp>
    <dsp:sp modelId="{696490A8-39CE-4884-A821-6FF165BD7458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/>
            <a:t>Usa linguagem clara, objetiva e atual.</a:t>
          </a:r>
          <a:endParaRPr lang="en-US" sz="2100" kern="1200"/>
        </a:p>
      </dsp:txBody>
      <dsp:txXfrm>
        <a:off x="1011204" y="2953623"/>
        <a:ext cx="1946396" cy="1946396"/>
      </dsp:txXfrm>
    </dsp:sp>
    <dsp:sp modelId="{8DB49F64-4C7A-4283-89C9-48A6952011F2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/>
            <a:t>Divide-se em textos informativos e opinativos</a:t>
          </a:r>
          <a:endParaRPr lang="en-US" sz="2100" kern="1200"/>
        </a:p>
      </dsp:txBody>
      <dsp:txXfrm>
        <a:off x="3334113" y="2953623"/>
        <a:ext cx="1946396" cy="1946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FF5E77E-13DB-9DBE-3510-25A4A31F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40" y="1906587"/>
            <a:ext cx="11628319" cy="30577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FF0831-FA11-8B10-0AFD-ABEBE8F6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6">
                    <a:lumMod val="76000"/>
                  </a:schemeClr>
                </a:solidFill>
              </a:rPr>
              <a:t>Disciplina: Língua portuguesa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08484ED-954A-A796-E201-654A40467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1716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9669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DC854D-B8F6-8DF4-71B5-B5D60498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/>
              <a:t>O Gênero Jornalístico Argumentativo</a:t>
            </a:r>
          </a:p>
          <a:p>
            <a:endParaRPr lang="en-US" sz="37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CA9439-679D-61F8-31D1-71032E616258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Análise e características da linguagem no campo discursivo jornalístico</a:t>
            </a:r>
          </a:p>
        </p:txBody>
      </p:sp>
      <p:pic>
        <p:nvPicPr>
          <p:cNvPr id="8" name="Picture 4" descr="Lupa mostrando declínio de desempenho">
            <a:extLst>
              <a:ext uri="{FF2B5EF4-FFF2-40B4-BE49-F238E27FC236}">
                <a16:creationId xmlns:a16="http://schemas.microsoft.com/office/drawing/2014/main" id="{96869622-6638-ABFE-6690-6236D76AA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13" r="18373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29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56E6F9-0735-75C8-B5A8-207E3186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t-BR" sz="4000" b="1">
                <a:ea typeface="+mj-lt"/>
                <a:cs typeface="+mj-lt"/>
              </a:rPr>
              <a:t>O que são gêneros de linguagem?</a:t>
            </a:r>
            <a:endParaRPr lang="pt-BR" sz="40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B5C46-7B66-DAF2-80A6-97E5CC3AC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pt-BR" sz="2000" b="1">
                <a:ea typeface="+mn-lt"/>
                <a:cs typeface="+mn-lt"/>
              </a:rPr>
              <a:t>Formas de uso social da língua.</a:t>
            </a:r>
            <a:endParaRPr lang="pt-BR" sz="2000" b="1"/>
          </a:p>
          <a:p>
            <a:pPr marL="0" indent="0">
              <a:buNone/>
            </a:pPr>
            <a:endParaRPr lang="pt-BR" sz="20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000" b="1">
                <a:ea typeface="+mn-lt"/>
                <a:cs typeface="+mn-lt"/>
              </a:rPr>
              <a:t>Cada gênero tem estrutura, objetivo e estilo próprios.</a:t>
            </a:r>
            <a:endParaRPr lang="pt-BR" sz="2000" b="1"/>
          </a:p>
          <a:p>
            <a:pPr>
              <a:buFont typeface="Arial"/>
              <a:buChar char="•"/>
            </a:pPr>
            <a:endParaRPr lang="pt-BR" sz="20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000" b="1">
                <a:ea typeface="+mn-lt"/>
                <a:cs typeface="+mn-lt"/>
              </a:rPr>
              <a:t>Exemplo: receita, notícia, carta, crônica, artigo, propaganda.</a:t>
            </a:r>
            <a:endParaRPr lang="pt-BR" sz="2000" b="1"/>
          </a:p>
          <a:p>
            <a:pPr>
              <a:buFont typeface="Arial"/>
              <a:buChar char="•"/>
            </a:pPr>
            <a:endParaRPr lang="pt-BR" sz="20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000" b="1">
                <a:ea typeface="+mn-lt"/>
                <a:cs typeface="+mn-lt"/>
              </a:rPr>
              <a:t>São modelos de comunicação criados pela sociedade.</a:t>
            </a:r>
            <a:endParaRPr lang="pt-BR" sz="2000" b="1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5" name="Picture 4" descr="Caixas de ponto de interrogação">
            <a:extLst>
              <a:ext uri="{FF2B5EF4-FFF2-40B4-BE49-F238E27FC236}">
                <a16:creationId xmlns:a16="http://schemas.microsoft.com/office/drawing/2014/main" id="{00BFB35C-360F-FAD7-5F48-70025767A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92" r="2245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4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551675-F376-9E3D-FB26-3BA887DC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FFFFFF"/>
                </a:solidFill>
                <a:ea typeface="+mj-lt"/>
                <a:cs typeface="+mj-lt"/>
              </a:rPr>
              <a:t>O campo discursivo jornalístico</a:t>
            </a:r>
            <a:endParaRPr lang="pt-BR" b="1">
              <a:solidFill>
                <a:srgbClr val="FFFFFF"/>
              </a:solidFill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9083E458-58C1-F859-8BA5-9C80E216D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054310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132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C86511-247C-B627-B382-5602AABA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t-BR" sz="4000" b="1">
                <a:ea typeface="+mj-lt"/>
                <a:cs typeface="+mj-lt"/>
              </a:rPr>
              <a:t>O gênero jornalístico argumentativo</a:t>
            </a:r>
            <a:endParaRPr lang="pt-BR" sz="40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5E8F0-E68C-336C-726C-9DEF7F3BC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pt-BR" sz="1600" b="1">
                <a:ea typeface="+mn-lt"/>
                <a:cs typeface="+mn-lt"/>
              </a:rPr>
              <a:t>Representado por artigos de opinião, editoriais e crônicas argumentativas.</a:t>
            </a:r>
            <a:endParaRPr lang="pt-BR" sz="1600" b="1"/>
          </a:p>
          <a:p>
            <a:pPr marL="0" indent="0">
              <a:buNone/>
            </a:pPr>
            <a:endParaRPr lang="pt-BR" sz="16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1600" b="1">
                <a:ea typeface="+mn-lt"/>
                <a:cs typeface="+mn-lt"/>
              </a:rPr>
              <a:t>Objetivo: defender um ponto de vista sobre um tema atual.</a:t>
            </a:r>
            <a:endParaRPr lang="pt-BR" sz="1600" b="1"/>
          </a:p>
          <a:p>
            <a:pPr marL="0" indent="0">
              <a:buNone/>
            </a:pPr>
            <a:endParaRPr lang="pt-BR" sz="16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1600" b="1">
                <a:ea typeface="+mn-lt"/>
                <a:cs typeface="+mn-lt"/>
              </a:rPr>
              <a:t>Combina informação + argumentação + opinião.</a:t>
            </a:r>
            <a:endParaRPr lang="pt-BR" sz="1600" b="1"/>
          </a:p>
          <a:p>
            <a:pPr marL="0" indent="0">
              <a:buNone/>
            </a:pPr>
            <a:endParaRPr lang="pt-BR" sz="16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1600" b="1">
                <a:ea typeface="+mn-lt"/>
                <a:cs typeface="+mn-lt"/>
              </a:rPr>
              <a:t>Estrutura: introdução do tema → desenvolvimento de argumentos → conclusão com reflexão.</a:t>
            </a:r>
            <a:endParaRPr lang="pt-BR" sz="1600" b="1"/>
          </a:p>
          <a:p>
            <a:pPr marL="0" indent="0">
              <a:buNone/>
            </a:pPr>
            <a:endParaRPr lang="pt-BR" sz="1600"/>
          </a:p>
        </p:txBody>
      </p:sp>
      <p:pic>
        <p:nvPicPr>
          <p:cNvPr id="5" name="Picture 4" descr="Caixas de diálogo de várias cores">
            <a:extLst>
              <a:ext uri="{FF2B5EF4-FFF2-40B4-BE49-F238E27FC236}">
                <a16:creationId xmlns:a16="http://schemas.microsoft.com/office/drawing/2014/main" id="{D01AD0A3-B13B-822D-B553-DCD5A42CB9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38" r="17619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6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2CB810-F224-70BF-4696-4AFB7F65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sz="3700" b="1">
                <a:solidFill>
                  <a:srgbClr val="FFFFFF"/>
                </a:solidFill>
                <a:ea typeface="+mj-lt"/>
                <a:cs typeface="+mj-lt"/>
              </a:rPr>
              <a:t>Estrutura e linguagem do texto argumentativo jornalístico</a:t>
            </a:r>
            <a:endParaRPr lang="pt-BR" sz="3700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756C5C-94E5-65BA-4B47-5B20CAA76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pt-BR" sz="2600" b="1">
                <a:ea typeface="+mn-lt"/>
                <a:cs typeface="+mn-lt"/>
              </a:rPr>
              <a:t>Linguagem: clara, objetiva, mas pode ser crítica e expressiva.</a:t>
            </a:r>
            <a:endParaRPr lang="pt-BR" sz="2600" b="1"/>
          </a:p>
          <a:p>
            <a:pPr>
              <a:buFont typeface="Arial"/>
              <a:buChar char="•"/>
            </a:pPr>
            <a:endParaRPr lang="pt-BR" sz="26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600" b="1">
                <a:ea typeface="+mn-lt"/>
                <a:cs typeface="+mn-lt"/>
              </a:rPr>
              <a:t>Marcas linguísticas: verbos de opinião (“acredita-se”, “defende-se”, “é necessário”), conectivos (“portanto”, “porque”, “entretanto”).</a:t>
            </a:r>
            <a:endParaRPr lang="pt-BR" sz="2600" b="1"/>
          </a:p>
          <a:p>
            <a:pPr>
              <a:buFont typeface="Arial"/>
              <a:buChar char="•"/>
            </a:pPr>
            <a:endParaRPr lang="pt-BR" sz="26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600" b="1">
                <a:ea typeface="+mn-lt"/>
                <a:cs typeface="+mn-lt"/>
              </a:rPr>
              <a:t>Sequências textuais predominantes: expositiva e argumentativa.</a:t>
            </a:r>
            <a:endParaRPr lang="pt-BR" sz="2600" b="1"/>
          </a:p>
          <a:p>
            <a:pPr>
              <a:buFont typeface="Arial"/>
              <a:buChar char="•"/>
            </a:pPr>
            <a:endParaRPr lang="pt-BR" sz="26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600" b="1">
                <a:ea typeface="+mn-lt"/>
                <a:cs typeface="+mn-lt"/>
              </a:rPr>
              <a:t>Pode incluir citações, dados e comparações.</a:t>
            </a:r>
            <a:endParaRPr lang="pt-BR" sz="2600" b="1"/>
          </a:p>
          <a:p>
            <a:pPr marL="0" indent="0">
              <a:buNone/>
            </a:pPr>
            <a:endParaRPr lang="pt-BR" sz="2600"/>
          </a:p>
        </p:txBody>
      </p:sp>
    </p:spTree>
    <p:extLst>
      <p:ext uri="{BB962C8B-B14F-4D97-AF65-F5344CB8AC3E}">
        <p14:creationId xmlns:p14="http://schemas.microsoft.com/office/powerpoint/2010/main" val="158134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688E31-9A1E-018C-06E5-7E0C9E483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pt-BR" sz="2600" b="1">
                <a:ea typeface="+mj-lt"/>
                <a:cs typeface="+mj-lt"/>
              </a:rPr>
              <a:t>Exemplo de texto jornalístico argumentativo</a:t>
            </a:r>
            <a:endParaRPr lang="pt-BR" sz="2600" b="1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E1932D-7128-2F7F-B458-A97B5AD91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701" y="2718054"/>
            <a:ext cx="4241727" cy="32616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1700" b="1">
                <a:ea typeface="+mn-lt"/>
                <a:cs typeface="+mn-lt"/>
              </a:rPr>
              <a:t>Artigo escolhido ( </a:t>
            </a:r>
            <a:r>
              <a:rPr lang="pt-BR" sz="1700" b="1" i="1">
                <a:ea typeface="+mn-lt"/>
                <a:cs typeface="+mn-lt"/>
              </a:rPr>
              <a:t>Tecnoadrenalina</a:t>
            </a:r>
            <a:r>
              <a:rPr lang="pt-BR" sz="1700" b="1">
                <a:ea typeface="+mn-lt"/>
                <a:cs typeface="+mn-lt"/>
              </a:rPr>
              <a:t>, de Fábio Gandour).</a:t>
            </a:r>
            <a:endParaRPr lang="pt-BR" sz="1700" b="1"/>
          </a:p>
          <a:p>
            <a:pPr marL="0" indent="0">
              <a:buNone/>
            </a:pPr>
            <a:endParaRPr lang="pt-BR" sz="1700" b="1"/>
          </a:p>
          <a:p>
            <a:endParaRPr lang="pt-BR" sz="1700"/>
          </a:p>
        </p:txBody>
      </p:sp>
      <p:pic>
        <p:nvPicPr>
          <p:cNvPr id="4" name="Imagem 3" descr="Tabela&#10;&#10;O conteúdo gerado por IA pode estar incorreto.">
            <a:extLst>
              <a:ext uri="{FF2B5EF4-FFF2-40B4-BE49-F238E27FC236}">
                <a16:creationId xmlns:a16="http://schemas.microsoft.com/office/drawing/2014/main" id="{B9C6C4DC-7179-38DE-E655-4B801C113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952760"/>
            <a:ext cx="6922008" cy="505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4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F76D3F-80C8-F4D4-6207-0FD1ABF5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sz="3100" b="1">
                <a:solidFill>
                  <a:srgbClr val="FFFFFF"/>
                </a:solidFill>
                <a:ea typeface="+mj-lt"/>
                <a:cs typeface="+mj-lt"/>
              </a:rPr>
              <a:t>Analisando o texto: Tecnoadrenalina</a:t>
            </a:r>
            <a:endParaRPr lang="pt-BR" sz="3100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699D90-98E0-5BD5-B4E5-A308B3F83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2000" b="1">
                <a:ea typeface="+mn-lt"/>
                <a:cs typeface="+mn-lt"/>
              </a:rPr>
              <a:t>Intenção comunicativa: provocar reflexão sobre o vício tecnológico.</a:t>
            </a:r>
            <a:endParaRPr lang="pt-BR" sz="2000" b="1"/>
          </a:p>
          <a:p>
            <a:endParaRPr lang="pt-BR" sz="2000" b="1">
              <a:ea typeface="+mn-lt"/>
              <a:cs typeface="+mn-lt"/>
            </a:endParaRPr>
          </a:p>
          <a:p>
            <a:r>
              <a:rPr lang="pt-BR" sz="2000" b="1">
                <a:ea typeface="+mn-lt"/>
                <a:cs typeface="+mn-lt"/>
              </a:rPr>
              <a:t>Temática: influência da tecnologia no comportamento humano.</a:t>
            </a:r>
            <a:endParaRPr lang="pt-BR" sz="2000" b="1"/>
          </a:p>
          <a:p>
            <a:endParaRPr lang="pt-BR" sz="2000" b="1">
              <a:ea typeface="+mn-lt"/>
              <a:cs typeface="+mn-lt"/>
            </a:endParaRPr>
          </a:p>
          <a:p>
            <a:r>
              <a:rPr lang="pt-BR" sz="2000" b="1">
                <a:ea typeface="+mn-lt"/>
                <a:cs typeface="+mn-lt"/>
              </a:rPr>
              <a:t>Variações linguísticas: mistura de linguagem científica e coloquial.</a:t>
            </a:r>
            <a:endParaRPr lang="pt-BR" sz="2000" b="1"/>
          </a:p>
          <a:p>
            <a:endParaRPr lang="pt-BR" sz="2000" b="1">
              <a:ea typeface="+mn-lt"/>
              <a:cs typeface="+mn-lt"/>
            </a:endParaRPr>
          </a:p>
          <a:p>
            <a:r>
              <a:rPr lang="pt-BR" sz="2000" b="1">
                <a:ea typeface="+mn-lt"/>
                <a:cs typeface="+mn-lt"/>
              </a:rPr>
              <a:t>Sequências textuais: expositiva (explica a adrenalina) e argumentativa (critica o vício).</a:t>
            </a:r>
            <a:endParaRPr lang="pt-BR" sz="2000" b="1"/>
          </a:p>
          <a:p>
            <a:endParaRPr lang="pt-BR" sz="2000" b="1">
              <a:ea typeface="+mn-lt"/>
              <a:cs typeface="+mn-lt"/>
            </a:endParaRPr>
          </a:p>
          <a:p>
            <a:r>
              <a:rPr lang="pt-BR" sz="2000" b="1">
                <a:ea typeface="+mn-lt"/>
                <a:cs typeface="+mn-lt"/>
              </a:rPr>
              <a:t>Conclusão: texto é um artigo jornalístico argumentativo por apresentar opinião e argumentação sobre tema atual.</a:t>
            </a:r>
            <a:endParaRPr lang="pt-BR" sz="2000" b="1"/>
          </a:p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728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CAE20B-66BF-E50A-1760-35A2E560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pt-BR" sz="3700" b="1">
                <a:ea typeface="+mj-lt"/>
                <a:cs typeface="+mj-lt"/>
              </a:rPr>
              <a:t>Conclusão – O papel do gênero jornalístico argumentativo</a:t>
            </a:r>
            <a:endParaRPr lang="pt-BR" sz="37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85F52-DB66-40FD-21C5-90CE225B0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2000" b="1">
                <a:ea typeface="+mn-lt"/>
                <a:cs typeface="+mn-lt"/>
              </a:rPr>
              <a:t>Estimula a reflexão e o pensamento crítico.</a:t>
            </a:r>
            <a:endParaRPr lang="pt-BR" sz="2000" b="1"/>
          </a:p>
          <a:p>
            <a:endParaRPr lang="pt-BR" sz="2000" b="1">
              <a:ea typeface="+mn-lt"/>
              <a:cs typeface="+mn-lt"/>
            </a:endParaRPr>
          </a:p>
          <a:p>
            <a:r>
              <a:rPr lang="pt-BR" sz="2000" b="1">
                <a:ea typeface="+mn-lt"/>
                <a:cs typeface="+mn-lt"/>
              </a:rPr>
              <a:t>Informa e forma opinião ao mesmo tempo.</a:t>
            </a:r>
            <a:endParaRPr lang="pt-BR" sz="2000" b="1"/>
          </a:p>
          <a:p>
            <a:endParaRPr lang="pt-BR" sz="2000" b="1">
              <a:ea typeface="+mn-lt"/>
              <a:cs typeface="+mn-lt"/>
            </a:endParaRPr>
          </a:p>
          <a:p>
            <a:r>
              <a:rPr lang="pt-BR" sz="2000" b="1">
                <a:ea typeface="+mn-lt"/>
                <a:cs typeface="+mn-lt"/>
              </a:rPr>
              <a:t>Aproxima fatos da realidade do leitor.</a:t>
            </a:r>
            <a:endParaRPr lang="pt-BR" sz="2000" b="1"/>
          </a:p>
          <a:p>
            <a:endParaRPr lang="pt-BR" sz="2000" b="1">
              <a:ea typeface="+mn-lt"/>
              <a:cs typeface="+mn-lt"/>
            </a:endParaRPr>
          </a:p>
          <a:p>
            <a:r>
              <a:rPr lang="pt-BR" sz="2000" b="1">
                <a:ea typeface="+mn-lt"/>
                <a:cs typeface="+mn-lt"/>
              </a:rPr>
              <a:t>Tem função social: promover debate e consciência pública.</a:t>
            </a:r>
            <a:endParaRPr lang="pt-BR" sz="2000" b="1"/>
          </a:p>
          <a:p>
            <a:endParaRPr lang="pt-BR" sz="2000"/>
          </a:p>
        </p:txBody>
      </p:sp>
      <p:pic>
        <p:nvPicPr>
          <p:cNvPr id="5" name="Picture 4" descr="Desenhos em papel colorido">
            <a:extLst>
              <a:ext uri="{FF2B5EF4-FFF2-40B4-BE49-F238E27FC236}">
                <a16:creationId xmlns:a16="http://schemas.microsoft.com/office/drawing/2014/main" id="{8A858F7A-4E17-C33A-A2C0-EB7E78EADE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28" r="37112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670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B7313-0354-3B91-0436-82D12808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6000"/>
                  </a:schemeClr>
                </a:solidFill>
              </a:rPr>
              <a:t>Referencias: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52083F-1A20-C414-7B10-24138B0E4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Google.com.</a:t>
            </a:r>
          </a:p>
          <a:p>
            <a:pPr marL="0" indent="0">
              <a:buNone/>
            </a:pPr>
            <a:r>
              <a:rPr lang="pt-BR" dirty="0"/>
              <a:t>Google AI.</a:t>
            </a:r>
          </a:p>
          <a:p>
            <a:pPr marL="0" indent="0">
              <a:buNone/>
            </a:pPr>
            <a:r>
              <a:rPr lang="pt-BR" dirty="0"/>
              <a:t>ChatGPT.</a:t>
            </a:r>
          </a:p>
          <a:p>
            <a:pPr marL="0" indent="0">
              <a:buNone/>
            </a:pPr>
            <a:r>
              <a:rPr lang="pt-BR" dirty="0"/>
              <a:t>Texto: </a:t>
            </a:r>
            <a:r>
              <a:rPr lang="pt-BR" dirty="0" err="1"/>
              <a:t>Tecnoadrenalina</a:t>
            </a:r>
            <a:r>
              <a:rPr lang="pt-BR" dirty="0"/>
              <a:t>, Fábio </a:t>
            </a:r>
            <a:r>
              <a:rPr lang="pt-BR" dirty="0" err="1"/>
              <a:t>Gandour</a:t>
            </a:r>
            <a:r>
              <a:rPr lang="pt-BR" dirty="0"/>
              <a:t>, atividades IFRN.</a:t>
            </a:r>
          </a:p>
          <a:p>
            <a:pPr marL="0" indent="0">
              <a:buNone/>
            </a:pPr>
            <a:r>
              <a:rPr lang="pt-BR" dirty="0"/>
              <a:t>Professora: Idalina, IFRN.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EDDE2EFC-163D-3976-9EC5-367CEB6F5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722" y="5152379"/>
            <a:ext cx="3285640" cy="101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79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Tema do Office</vt:lpstr>
      <vt:lpstr>Apresentação do PowerPoint</vt:lpstr>
      <vt:lpstr>Disciplina: Língua portuguesa</vt:lpstr>
      <vt:lpstr>O Gênero Jornalístico Argumentativo </vt:lpstr>
      <vt:lpstr>O que são gêneros de linguagem?</vt:lpstr>
      <vt:lpstr>O campo discursivo jornalístico</vt:lpstr>
      <vt:lpstr>O gênero jornalístico argumentativo</vt:lpstr>
      <vt:lpstr>Estrutura e linguagem do texto argumentativo jornalístico</vt:lpstr>
      <vt:lpstr>Exemplo de texto jornalístico argumentativo</vt:lpstr>
      <vt:lpstr>Analisando o texto: Tecnoadrenalina</vt:lpstr>
      <vt:lpstr>Conclusão – O papel do gênero jornalístico argumentativo</vt:lpstr>
      <vt:lpstr>Referencias: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305</cp:revision>
  <dcterms:created xsi:type="dcterms:W3CDTF">2025-11-06T02:21:21Z</dcterms:created>
  <dcterms:modified xsi:type="dcterms:W3CDTF">2025-11-06T05:12:39Z</dcterms:modified>
</cp:coreProperties>
</file>