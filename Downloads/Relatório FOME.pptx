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65D30A4-B72E-4FC0-BE29-D7E3BF33A412}" v="290" dt="2025-12-16T07:50:09.9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959" autoAdjust="0"/>
    <p:restoredTop sz="94660"/>
  </p:normalViewPr>
  <p:slideViewPr>
    <p:cSldViewPr snapToGrid="0">
      <p:cViewPr varScale="1">
        <p:scale>
          <a:sx n="61" d="100"/>
          <a:sy n="61" d="100"/>
        </p:scale>
        <p:origin x="84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005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813757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246138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9442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8533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782815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78365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455663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65880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6397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E51C7C-CEA3-4CAA-BE4B-344879E7C377}" type="datetimeFigureOut">
              <a:rPr lang="de-DE" smtClean="0"/>
              <a:t>15.12.2025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4FE2FE-B55E-4328-8F5C-2CEB8781A47B}" type="slidenum">
              <a:rPr lang="de-DE" smtClean="0"/>
              <a:t>‹nº›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757469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ndexmundi.com/facts/brazil/indicator/SN.ITK.DEFC.ZS?utm_source=chatgpt.com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rabois.org.br/2025/08/13/mapa-da-fome-como-brasil-saiu-segunda-vez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fao.org/brasil/noticias/detail-events/fr/c/1741586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v.br/mds/pt-br/acoes-e-programas/brasil-sem-fome/balanco/2024/relatorio_balanco_pt.pdf?utm_source=chatgpt.com" TargetMode="External"/><Relationship Id="rId2" Type="http://schemas.openxmlformats.org/officeDocument/2006/relationships/hyperlink" Target="https://www.gov.br/mds/pt-br/acoes-e-programas/brasil-sem-fome/balanco/balanco_atualizado_mapa_da_fome.pdf?utm_source=chatgpt.co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rabois.org.br/2025/08/13/mapa-da-fome-como-brasil-saiu-segunda-vez/" TargetMode="External"/><Relationship Id="rId5" Type="http://schemas.openxmlformats.org/officeDocument/2006/relationships/hyperlink" Target="https://www.indexmundi.com/facts/brazil/indicator/SN.ITK.DEFC.ZS?utm_source=chatgpt.com" TargetMode="External"/><Relationship Id="rId4" Type="http://schemas.openxmlformats.org/officeDocument/2006/relationships/hyperlink" Target="https://www.gov.br/secom/pt-br/assuntos/noticias/2025/10/brasil-volta-ao-menor-patamar-de-fome-da-histori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DB39AA74-A6B6-EB8B-F53D-6711ECE30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568" y="1715998"/>
            <a:ext cx="11060907" cy="2279572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0D7B65E-9E85-AC36-3571-BE2F749FD1F1}"/>
              </a:ext>
            </a:extLst>
          </p:cNvPr>
          <p:cNvSpPr txBox="1"/>
          <p:nvPr/>
        </p:nvSpPr>
        <p:spPr>
          <a:xfrm>
            <a:off x="716620" y="4132529"/>
            <a:ext cx="2743200" cy="5847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3200" b="1" dirty="0"/>
              <a:t>DIAC</a:t>
            </a: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252827F-FAAE-2F54-3034-97B5023B8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400" b="1" dirty="0">
                <a:highlight>
                  <a:srgbClr val="FFFFFF"/>
                </a:highlight>
              </a:rPr>
              <a:t>Curso: Licenciatura em Física.</a:t>
            </a:r>
          </a:p>
          <a:p>
            <a:pPr marL="0" indent="0">
              <a:buNone/>
            </a:pPr>
            <a:r>
              <a:rPr lang="pt-BR" sz="2400" b="1" dirty="0">
                <a:highlight>
                  <a:srgbClr val="FFFFFF"/>
                </a:highlight>
              </a:rPr>
              <a:t>Turno: Tarde.</a:t>
            </a:r>
          </a:p>
          <a:p>
            <a:pPr marL="0" indent="0">
              <a:buNone/>
            </a:pPr>
            <a:r>
              <a:rPr lang="pt-BR" sz="2400" b="1" dirty="0">
                <a:highlight>
                  <a:srgbClr val="FFFFFF"/>
                </a:highlight>
              </a:rPr>
              <a:t>Disciplina: Língua portuguesa.</a:t>
            </a:r>
          </a:p>
          <a:p>
            <a:pPr marL="0" indent="0">
              <a:buNone/>
            </a:pPr>
            <a:r>
              <a:rPr lang="pt-BR" sz="2400" b="1" dirty="0">
                <a:highlight>
                  <a:srgbClr val="FFFFFF"/>
                </a:highlight>
              </a:rPr>
              <a:t>Professor: </a:t>
            </a:r>
            <a:r>
              <a:rPr lang="pt-BR" sz="2400" b="1" err="1">
                <a:highlight>
                  <a:srgbClr val="FFFFFF"/>
                </a:highlight>
              </a:rPr>
              <a:t>Aldalina</a:t>
            </a:r>
            <a:r>
              <a:rPr lang="pt-BR" sz="2400" b="1" dirty="0">
                <a:highlight>
                  <a:srgbClr val="FFFFFF"/>
                </a:highlight>
              </a:rPr>
              <a:t> Ribeiro Freitas.</a:t>
            </a:r>
          </a:p>
          <a:p>
            <a:pPr marL="0" indent="0">
              <a:buNone/>
            </a:pPr>
            <a:r>
              <a:rPr lang="pt-BR" sz="2400" b="1" dirty="0">
                <a:highlight>
                  <a:srgbClr val="FFFFFF"/>
                </a:highlight>
              </a:rPr>
              <a:t>Aluno: Rafael Bruno da Silva.</a:t>
            </a:r>
          </a:p>
          <a:p>
            <a:pPr marL="0" indent="0">
              <a:buNone/>
            </a:pPr>
            <a:r>
              <a:rPr lang="pt-BR" sz="2400" b="1" dirty="0">
                <a:highlight>
                  <a:srgbClr val="FFFFFF"/>
                </a:highlight>
              </a:rPr>
              <a:t>Tema: Relatório técnico de pesquisa sobre a insegurança alimentar.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027979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B2A2C2-EC02-724C-B773-EA23C8383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8753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highlight>
                  <a:srgbClr val="FFFFFF"/>
                </a:highlight>
                <a:latin typeface="Aptos"/>
              </a:rPr>
              <a:t>Insegurança alimentar (2000/2025)</a:t>
            </a:r>
            <a:endParaRPr lang="pt-BR" sz="3200" b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DE074B4-AD45-627F-ACC6-EB784C18F7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2302"/>
            <a:ext cx="10515600" cy="3219544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>
              <a:buNone/>
            </a:pPr>
            <a:r>
              <a:rPr lang="pt-BR" sz="2000" b="1">
                <a:solidFill>
                  <a:srgbClr val="0F4761"/>
                </a:solidFill>
                <a:highlight>
                  <a:srgbClr val="FFFFFF"/>
                </a:highlight>
              </a:rPr>
              <a:t>Elaborado por:</a:t>
            </a:r>
            <a:endParaRPr lang="pt-BR" sz="2000" b="1" dirty="0">
              <a:solidFill>
                <a:srgbClr val="0F4761"/>
              </a:solidFill>
              <a:highlight>
                <a:srgbClr val="FFFFFF"/>
              </a:highlight>
            </a:endParaRPr>
          </a:p>
          <a:p>
            <a:pPr algn="just">
              <a:buNone/>
            </a:pPr>
            <a:r>
              <a:rPr lang="pt-BR" sz="2000" b="1" dirty="0">
                <a:highlight>
                  <a:srgbClr val="FFFFFF"/>
                </a:highlight>
              </a:rPr>
              <a:t>Rafael Bruno da Silva</a:t>
            </a:r>
          </a:p>
          <a:p>
            <a:pPr algn="just">
              <a:buNone/>
            </a:pPr>
            <a:r>
              <a:rPr lang="pt-BR" sz="2000" b="1" dirty="0">
                <a:solidFill>
                  <a:srgbClr val="0F4761"/>
                </a:solidFill>
                <a:highlight>
                  <a:srgbClr val="FFFFFF"/>
                </a:highlight>
              </a:rPr>
              <a:t>Para:</a:t>
            </a:r>
          </a:p>
          <a:p>
            <a:pPr algn="just">
              <a:buNone/>
            </a:pPr>
            <a:r>
              <a:rPr lang="pt-BR" sz="2000" b="1" dirty="0">
                <a:highlight>
                  <a:srgbClr val="FFFFFF"/>
                </a:highlight>
              </a:rPr>
              <a:t>Instituto Federal do Rio Grande do Norte</a:t>
            </a:r>
          </a:p>
          <a:p>
            <a:pPr algn="just">
              <a:buNone/>
            </a:pPr>
            <a:r>
              <a:rPr lang="pt-BR" sz="2000" b="1" dirty="0">
                <a:solidFill>
                  <a:srgbClr val="0F4761"/>
                </a:solidFill>
                <a:highlight>
                  <a:srgbClr val="FFFFFF"/>
                </a:highlight>
              </a:rPr>
              <a:t>Data de Emissão:</a:t>
            </a:r>
          </a:p>
          <a:p>
            <a:pPr algn="just">
              <a:buNone/>
            </a:pPr>
            <a:r>
              <a:rPr lang="pt-BR" sz="2000" b="1" dirty="0">
                <a:highlight>
                  <a:srgbClr val="FFFFFF"/>
                </a:highlight>
              </a:rPr>
              <a:t>Dezembro, 2025.</a:t>
            </a:r>
          </a:p>
          <a:p>
            <a:pPr algn="just">
              <a:buNone/>
            </a:pPr>
            <a:r>
              <a:rPr lang="pt-BR" sz="2000" b="1" dirty="0">
                <a:solidFill>
                  <a:srgbClr val="0F4761"/>
                </a:solidFill>
                <a:highlight>
                  <a:srgbClr val="FFFFFF"/>
                </a:highlight>
              </a:rPr>
              <a:t>Versão:</a:t>
            </a:r>
          </a:p>
          <a:p>
            <a:pPr algn="just">
              <a:buNone/>
            </a:pPr>
            <a:r>
              <a:rPr lang="pt-BR" sz="2000" b="1">
                <a:highlight>
                  <a:srgbClr val="FFFFFF"/>
                </a:highlight>
              </a:rPr>
              <a:t>1.0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187246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5980A8-31F6-C3A6-DFA2-64A3A886C8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5641" y="-4669"/>
            <a:ext cx="10515600" cy="1325563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rgbClr val="0F4761"/>
                </a:solidFill>
                <a:highlight>
                  <a:srgbClr val="FFFFFF"/>
                </a:highlight>
                <a:latin typeface="Aptos"/>
              </a:rPr>
              <a:t>Introdução</a:t>
            </a:r>
            <a:br>
              <a:rPr lang="pt-BR" sz="2400" b="1" dirty="0">
                <a:solidFill>
                  <a:srgbClr val="0F4761"/>
                </a:solidFill>
                <a:highlight>
                  <a:srgbClr val="FFFFFF"/>
                </a:highlight>
                <a:latin typeface="Aptos"/>
              </a:rPr>
            </a:br>
            <a:br>
              <a:rPr lang="pt-BR" sz="3200" b="1" dirty="0">
                <a:highlight>
                  <a:srgbClr val="FFFFFF"/>
                </a:highlight>
                <a:latin typeface="Aptos"/>
              </a:rPr>
            </a:br>
            <a:r>
              <a:rPr lang="pt-BR" sz="2400" b="1" dirty="0">
                <a:solidFill>
                  <a:srgbClr val="0F4761"/>
                </a:solidFill>
                <a:highlight>
                  <a:srgbClr val="FFFFFF"/>
                </a:highlight>
                <a:latin typeface="Aptos"/>
              </a:rPr>
              <a:t>Definição e Conceitualização da Fome</a:t>
            </a:r>
            <a:endParaRPr lang="pt-BR" sz="2400" dirty="0">
              <a:solidFill>
                <a:srgbClr val="0F4761"/>
              </a:solidFill>
              <a:highlight>
                <a:srgbClr val="FFFFFF"/>
              </a:highlight>
              <a:latin typeface="Aptos"/>
            </a:endParaRPr>
          </a:p>
        </p:txBody>
      </p:sp>
      <p:sp>
        <p:nvSpPr>
          <p:cNvPr id="12" name="Espaço Reservado para Conteúdo 11">
            <a:extLst>
              <a:ext uri="{FF2B5EF4-FFF2-40B4-BE49-F238E27FC236}">
                <a16:creationId xmlns:a16="http://schemas.microsoft.com/office/drawing/2014/main" id="{4869F956-BC4D-AAEA-E5D4-1385D61AD8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5641" y="1579096"/>
            <a:ext cx="10515600" cy="4653896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>
              <a:buNone/>
            </a:pPr>
            <a:r>
              <a:rPr lang="pt-BR" sz="1800" dirty="0">
                <a:highlight>
                  <a:srgbClr val="FFFFFF"/>
                </a:highlight>
              </a:rPr>
              <a:t>  A fome, em sua acepção mais estrita e conforme monitorada por organismos internacionais como a FAO, é definida como a condição de </a:t>
            </a:r>
            <a:r>
              <a:rPr lang="pt-BR" sz="1800" b="1" dirty="0">
                <a:highlight>
                  <a:srgbClr val="FFFFFF"/>
                </a:highlight>
              </a:rPr>
              <a:t>subalimentação crônica</a:t>
            </a:r>
            <a:r>
              <a:rPr lang="pt-BR" sz="1800" dirty="0">
                <a:highlight>
                  <a:srgbClr val="FFFFFF"/>
                </a:highlight>
              </a:rPr>
              <a:t> – ou seja, a ingestão alimentar que é insuficiente para fornecer a quantidade de energia alimentar (calorias) necessária para manter um peso corporal normal para uma vida ativa e saudável.</a:t>
            </a:r>
          </a:p>
          <a:p>
            <a:pPr algn="just">
              <a:buNone/>
            </a:pPr>
            <a:r>
              <a:rPr lang="pt-BR" sz="1800" dirty="0">
                <a:highlight>
                  <a:srgbClr val="FFFFFF"/>
                </a:highlight>
              </a:rPr>
              <a:t>  É crucial, no entanto, distinguir a fome da </a:t>
            </a:r>
            <a:r>
              <a:rPr lang="pt-BR" sz="1800" b="1" dirty="0">
                <a:highlight>
                  <a:srgbClr val="FFFFFF"/>
                </a:highlight>
              </a:rPr>
              <a:t>Insegurança Alimentar</a:t>
            </a:r>
            <a:r>
              <a:rPr lang="pt-BR" sz="1800" dirty="0">
                <a:highlight>
                  <a:srgbClr val="FFFFFF"/>
                </a:highlight>
              </a:rPr>
              <a:t>, um conceito mais amplo.</a:t>
            </a:r>
          </a:p>
          <a:p>
            <a:pPr algn="just">
              <a:buFont typeface="Arial"/>
              <a:buChar char="•"/>
            </a:pPr>
            <a:r>
              <a:rPr lang="pt-BR" sz="1800" b="1" dirty="0">
                <a:highlight>
                  <a:srgbClr val="FFFFFF"/>
                </a:highlight>
              </a:rPr>
              <a:t>Subalimentação (Fome):</a:t>
            </a:r>
            <a:r>
              <a:rPr lang="pt-BR" sz="1800" dirty="0">
                <a:highlight>
                  <a:srgbClr val="FFFFFF"/>
                </a:highlight>
              </a:rPr>
              <a:t> Foco na </a:t>
            </a:r>
            <a:r>
              <a:rPr lang="pt-BR" sz="1800" b="1" dirty="0">
                <a:highlight>
                  <a:srgbClr val="FFFFFF"/>
                </a:highlight>
              </a:rPr>
              <a:t>falta crônica de calorias suficientes</a:t>
            </a:r>
            <a:r>
              <a:rPr lang="pt-BR" sz="1800" dirty="0">
                <a:highlight>
                  <a:srgbClr val="FFFFFF"/>
                </a:highlight>
              </a:rPr>
              <a:t>. É o indicador que determina a presença ou ausência de um país no chamado "Mapa da Fome" da ONU.</a:t>
            </a:r>
          </a:p>
          <a:p>
            <a:pPr algn="just">
              <a:buFont typeface="Arial"/>
              <a:buChar char="•"/>
            </a:pPr>
            <a:r>
              <a:rPr lang="pt-BR" sz="1800" b="1" dirty="0">
                <a:highlight>
                  <a:srgbClr val="FFFFFF"/>
                </a:highlight>
              </a:rPr>
              <a:t>Insegurança Alimentar:</a:t>
            </a:r>
            <a:r>
              <a:rPr lang="pt-BR" sz="1800" dirty="0">
                <a:highlight>
                  <a:srgbClr val="FFFFFF"/>
                </a:highlight>
              </a:rPr>
              <a:t> A condição de </a:t>
            </a:r>
            <a:r>
              <a:rPr lang="pt-BR" sz="1800" b="1" dirty="0">
                <a:highlight>
                  <a:srgbClr val="FFFFFF"/>
                </a:highlight>
              </a:rPr>
              <a:t>acesso limitado ou incerto</a:t>
            </a:r>
            <a:r>
              <a:rPr lang="pt-BR" sz="1800" dirty="0">
                <a:highlight>
                  <a:srgbClr val="FFFFFF"/>
                </a:highlight>
              </a:rPr>
              <a:t> a alimentos nutricionalmente adequados e seguros, ou a capacidade limitada de adquirir alimentos de forma socialmente aceitável. A insegurança alimentar é medida em diferentes níveis (leve, moderada e grave) e engloba não apenas a falta de calorias, mas também a </a:t>
            </a:r>
            <a:r>
              <a:rPr lang="pt-BR" sz="1800" b="1" dirty="0">
                <a:highlight>
                  <a:srgbClr val="FFFFFF"/>
                </a:highlight>
              </a:rPr>
              <a:t>qualidade da dieta</a:t>
            </a:r>
            <a:r>
              <a:rPr lang="pt-BR" sz="1800" dirty="0">
                <a:highlight>
                  <a:srgbClr val="FFFFFF"/>
                </a:highlight>
              </a:rPr>
              <a:t> e a </a:t>
            </a:r>
            <a:r>
              <a:rPr lang="pt-BR" sz="1800" b="1" dirty="0">
                <a:highlight>
                  <a:srgbClr val="FFFFFF"/>
                </a:highlight>
              </a:rPr>
              <a:t>regularidade do acesso</a:t>
            </a:r>
            <a:r>
              <a:rPr lang="pt-BR" sz="1800" dirty="0">
                <a:highlight>
                  <a:srgbClr val="FFFFFF"/>
                </a:highlight>
              </a:rPr>
              <a:t>.</a:t>
            </a:r>
          </a:p>
          <a:p>
            <a:pPr indent="0" algn="just">
              <a:buNone/>
            </a:pPr>
            <a:r>
              <a:rPr lang="pt-BR" sz="1800" dirty="0">
                <a:highlight>
                  <a:srgbClr val="FFFFFF"/>
                </a:highlight>
              </a:rPr>
              <a:t> A análise deste relatório se baseará primariamente no indicador da </a:t>
            </a:r>
            <a:r>
              <a:rPr lang="pt-BR" sz="1800" b="1" dirty="0">
                <a:highlight>
                  <a:srgbClr val="FFFFFF"/>
                </a:highlight>
              </a:rPr>
              <a:t>Prevalência de Subalimentação da FAO</a:t>
            </a:r>
            <a:r>
              <a:rPr lang="pt-BR" sz="1800" dirty="0">
                <a:highlight>
                  <a:srgbClr val="FFFFFF"/>
                </a:highlight>
              </a:rPr>
              <a:t>, que mede a fome crônica, mas contextualizará as oscilações com o cenário mais amplo da Insegurança Alimentar no Brasil.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61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D84BB5-4942-B466-CD01-1B3DD04889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29801"/>
            <a:ext cx="10515600" cy="1325563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rgbClr val="156082"/>
                </a:solidFill>
                <a:highlight>
                  <a:srgbClr val="FFFFFF"/>
                </a:highlight>
                <a:latin typeface="Aptos"/>
              </a:rPr>
              <a:t>Panorama da Fome no Brasil (2000–2025) com Dados da FAO/ONU</a:t>
            </a:r>
            <a:endParaRPr lang="pt-BR" sz="2400" dirty="0">
              <a:solidFill>
                <a:srgbClr val="156082"/>
              </a:solidFill>
              <a:highlight>
                <a:srgbClr val="FFFFFF"/>
              </a:highlight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BD70482-60B1-835F-9AED-3F82FBA417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906" y="145583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3200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 O relatório principal utilizado para essas avaliações é o "Estado da Segurança Alimentar e Nutricional no Mundo" (SOFI), produzido conjuntamente por agências da ONU, incluindo a FAO (Organização das Nações Unidas para Alimentação e Agricultura). A classificação no "Mapa da Fome" da ONU depende do índice de subalimentação (pessoas sem acesso contínuo a uma alimentação minimamente necessária) ser inferior a 2,5% da população. 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25529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574468-311B-1675-515F-B7573E8CCD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69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pt-BR" sz="3200" b="1" dirty="0">
                <a:latin typeface="Roboto"/>
                <a:ea typeface="Roboto"/>
                <a:cs typeface="Roboto"/>
              </a:rPr>
              <a:t>A Trajetória em Três Fases</a:t>
            </a:r>
            <a:endParaRPr lang="pt-BR" sz="3200" dirty="0">
              <a:latin typeface="Roboto"/>
              <a:ea typeface="Roboto"/>
              <a:cs typeface="Roboto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64AE45A-B861-8E54-BF11-15FB15F94D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75532"/>
            <a:ext cx="10515600" cy="189865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t-BR" sz="2000" b="1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1. Avanços e Saída do Mapa da Fome (Anos 2000 a 2014)</a:t>
            </a:r>
            <a:br>
              <a:rPr lang="pt-BR" sz="2000" b="1" dirty="0">
                <a:latin typeface="Roboto"/>
                <a:ea typeface="Roboto"/>
                <a:cs typeface="Roboto"/>
              </a:rPr>
            </a:br>
            <a:r>
              <a:rPr lang="pt-BR" sz="2000" b="1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 </a:t>
            </a:r>
            <a:r>
              <a:rPr lang="pt-BR" sz="200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 </a:t>
            </a:r>
            <a:r>
              <a:rPr lang="pt-BR" sz="2000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Neste período, o Brasil implementou uma série de políticas públicas de combate à fome e à pobreza, como o programa Fome Zero e o Bolsa Família. Esses esforços foram bem-sucedidos, e o país alcançou a marca de menos de 2,5% de sua população subalimentada, saindo do Mapa da Fome em 2014. O crescimento da renda e a expansão de programas sociais foram fatores-chave. </a:t>
            </a:r>
          </a:p>
        </p:txBody>
      </p:sp>
      <p:pic>
        <p:nvPicPr>
          <p:cNvPr id="4" name="Imagem 3" descr="Gráfico, Gráfico de linhas&#10;&#10;O conteúdo gerado por IA pode estar incorreto.">
            <a:extLst>
              <a:ext uri="{FF2B5EF4-FFF2-40B4-BE49-F238E27FC236}">
                <a16:creationId xmlns:a16="http://schemas.microsoft.com/office/drawing/2014/main" id="{351F6874-7FBF-E8B1-DCA5-E74C29F3F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2788" y="2979629"/>
            <a:ext cx="5148263" cy="37433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72858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19559AF9-2F57-BCE5-DFDC-F9EF33B02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0640" y="237157"/>
            <a:ext cx="4958651" cy="2935315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FD658E4B-F63B-663F-D7DA-C3B8299EA421}"/>
              </a:ext>
            </a:extLst>
          </p:cNvPr>
          <p:cNvSpPr txBox="1"/>
          <p:nvPr/>
        </p:nvSpPr>
        <p:spPr>
          <a:xfrm>
            <a:off x="6835004" y="716334"/>
            <a:ext cx="4938792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1200" u="sng" dirty="0">
                <a:highlight>
                  <a:srgbClr val="FFFFFF"/>
                </a:highlight>
                <a:hlinkClick r:id="rId3"/>
              </a:rPr>
              <a:t>https://www.indexmundi.com/facts/brazil/indicator/SN.ITK.DEFC.ZS?utm_source=chatgpt.com</a:t>
            </a:r>
            <a:endParaRPr lang="pt-BR" sz="1200">
              <a:highlight>
                <a:srgbClr val="FFFFFF"/>
              </a:highlight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CADB3AB1-90A1-9C3B-0AB3-CB833CE01EF3}"/>
              </a:ext>
            </a:extLst>
          </p:cNvPr>
          <p:cNvSpPr txBox="1"/>
          <p:nvPr/>
        </p:nvSpPr>
        <p:spPr>
          <a:xfrm>
            <a:off x="264240" y="3426938"/>
            <a:ext cx="11510945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just"/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  O gráfico exibido mostra a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queda contínua da prevalência de subnutrição no Brasil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, medida em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percentual da população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, conforme metodologia da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FAO/ONU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.</a:t>
            </a:r>
          </a:p>
          <a:p>
            <a:pPr algn="just"/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O que ele demonstra claramente:</a:t>
            </a:r>
            <a:endParaRPr lang="pt-BR" dirty="0">
              <a:highlight>
                <a:srgbClr val="FFFFFF"/>
              </a:highlight>
              <a:latin typeface="Roboto"/>
              <a:ea typeface="Roboto"/>
              <a:cs typeface="Roboto"/>
            </a:endParaRPr>
          </a:p>
          <a:p>
            <a:pPr marL="285750" indent="-285750" algn="just">
              <a:buFont typeface="Symbol"/>
              <a:buChar char="•"/>
            </a:pP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Em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2001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, cerca de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10,7%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 da população brasileira estava subnutrida.</a:t>
            </a:r>
          </a:p>
          <a:p>
            <a:pPr marL="285750" indent="-285750" algn="just">
              <a:buFont typeface="Symbol"/>
              <a:buChar char="•"/>
            </a:pP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Ao longo dos anos 2000, observa-se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redução constante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, sem grandes interrupções.</a:t>
            </a:r>
          </a:p>
          <a:p>
            <a:pPr marL="285750" indent="-285750" algn="just">
              <a:buFont typeface="Symbol"/>
              <a:buChar char="•"/>
            </a:pP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Em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2014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, o índice cai para aproximadamente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2,6%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, valor próximo ao limite de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2,5%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 utilizado pela FAO para definir a saída do Mapa da Fome.</a:t>
            </a:r>
          </a:p>
          <a:p>
            <a:pPr marL="285750" indent="-285750" algn="just">
              <a:buFont typeface="Symbol"/>
              <a:buChar char="•"/>
            </a:pP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Essa trajetória sustenta empiricamente a afirmação de que o Brasil </a:t>
            </a:r>
            <a:r>
              <a:rPr lang="pt-BR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avançou no combate à fome</a:t>
            </a:r>
            <a:r>
              <a:rPr lang="pt-BR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 nesse período.</a:t>
            </a:r>
          </a:p>
          <a:p>
            <a:pPr algn="l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6358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36D5E6B-B5DD-5D82-901A-C3A1403BD6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669"/>
            <a:ext cx="10515600" cy="1325563"/>
          </a:xfrm>
        </p:spPr>
        <p:txBody>
          <a:bodyPr>
            <a:normAutofit/>
          </a:bodyPr>
          <a:lstStyle/>
          <a:p>
            <a:r>
              <a:rPr lang="pt-BR" sz="2400" b="1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2. Retorno e Agravamento da Fome (2015 a 2022)</a:t>
            </a:r>
            <a:endParaRPr lang="pt-BR" sz="2400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B0127F2-926E-8251-35F8-860B83D9A9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052" y="1074831"/>
            <a:ext cx="10515600" cy="1830015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2000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 Nos anos seguintes, a desestruturação de políticas públicas e crises econômicas levaram a um aumento progressivo da insegurança alimentar. O Brasil retornou ao Mapa da Fome na análise referente ao triênio 2018-2020, com a situação se agravando significativamente durante a pandemia de COVID-19. Dados do período 2021-2022 apontaram que 33,1 milhões de brasileiros estavam em situação de fome, um aumento de 60% em relação a 2018. </a:t>
            </a:r>
            <a:endParaRPr lang="pt-BR"/>
          </a:p>
        </p:txBody>
      </p:sp>
      <p:pic>
        <p:nvPicPr>
          <p:cNvPr id="4" name="Imagem 3" descr="Gráfico, Gráfico de barras&#10;&#10;O conteúdo gerado por IA pode estar incorreto.">
            <a:extLst>
              <a:ext uri="{FF2B5EF4-FFF2-40B4-BE49-F238E27FC236}">
                <a16:creationId xmlns:a16="http://schemas.microsoft.com/office/drawing/2014/main" id="{6006034F-6551-73D0-D38F-6655F281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359" y="2906246"/>
            <a:ext cx="5788959" cy="3443568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95CE8B6A-7265-5BCA-0DA8-64176BBA59D6}"/>
              </a:ext>
            </a:extLst>
          </p:cNvPr>
          <p:cNvSpPr txBox="1"/>
          <p:nvPr/>
        </p:nvSpPr>
        <p:spPr>
          <a:xfrm>
            <a:off x="7722940" y="5276177"/>
            <a:ext cx="4188758" cy="83099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1200" dirty="0">
                <a:latin typeface="Roboto"/>
                <a:ea typeface="Roboto"/>
                <a:cs typeface="Roboto"/>
              </a:rPr>
              <a:t>FAO/ONU – </a:t>
            </a:r>
            <a:r>
              <a:rPr lang="en-US" sz="1200" i="1" dirty="0">
                <a:latin typeface="Roboto"/>
                <a:ea typeface="Roboto"/>
                <a:cs typeface="Roboto"/>
              </a:rPr>
              <a:t>The State of Food Security and Nutrition in the World (SOFI)</a:t>
            </a:r>
            <a:br>
              <a:rPr lang="en-US" sz="1200" i="1" dirty="0">
                <a:latin typeface="Roboto"/>
                <a:ea typeface="Roboto"/>
                <a:cs typeface="Roboto"/>
              </a:rPr>
            </a:br>
            <a:r>
              <a:rPr lang="en-US" sz="1200" i="1" dirty="0">
                <a:latin typeface="Roboto"/>
                <a:ea typeface="Roboto"/>
                <a:cs typeface="Roboto"/>
              </a:rPr>
              <a:t>Rede Brasileira de Pesquisa </a:t>
            </a:r>
            <a:r>
              <a:rPr lang="en-US" sz="1200" i="1" dirty="0" err="1">
                <a:latin typeface="Roboto"/>
                <a:ea typeface="Roboto"/>
                <a:cs typeface="Roboto"/>
              </a:rPr>
              <a:t>em</a:t>
            </a:r>
            <a:r>
              <a:rPr lang="en-US" sz="1200" i="1" dirty="0">
                <a:latin typeface="Roboto"/>
                <a:ea typeface="Roboto"/>
                <a:cs typeface="Roboto"/>
              </a:rPr>
              <a:t> </a:t>
            </a:r>
            <a:r>
              <a:rPr lang="en-US" sz="1200" i="1" dirty="0" err="1">
                <a:latin typeface="Roboto"/>
                <a:ea typeface="Roboto"/>
                <a:cs typeface="Roboto"/>
              </a:rPr>
              <a:t>Soberania</a:t>
            </a:r>
            <a:r>
              <a:rPr lang="en-US" sz="1200" i="1" dirty="0">
                <a:latin typeface="Roboto"/>
                <a:ea typeface="Roboto"/>
                <a:cs typeface="Roboto"/>
              </a:rPr>
              <a:t> e </a:t>
            </a:r>
            <a:r>
              <a:rPr lang="en-US" sz="1200" i="1" dirty="0" err="1">
                <a:latin typeface="Roboto"/>
                <a:ea typeface="Roboto"/>
                <a:cs typeface="Roboto"/>
              </a:rPr>
              <a:t>Segurança</a:t>
            </a:r>
            <a:r>
              <a:rPr lang="en-US" sz="1200" i="1" dirty="0">
                <a:latin typeface="Roboto"/>
                <a:ea typeface="Roboto"/>
                <a:cs typeface="Roboto"/>
              </a:rPr>
              <a:t> </a:t>
            </a:r>
            <a:r>
              <a:rPr lang="en-US" sz="1200" i="1" dirty="0" err="1">
                <a:latin typeface="Roboto"/>
                <a:ea typeface="Roboto"/>
                <a:cs typeface="Roboto"/>
              </a:rPr>
              <a:t>Alimentar</a:t>
            </a:r>
            <a:r>
              <a:rPr lang="en-US" sz="1200" i="1" dirty="0">
                <a:latin typeface="Roboto"/>
                <a:ea typeface="Roboto"/>
                <a:cs typeface="Roboto"/>
              </a:rPr>
              <a:t> (PENSSAN)</a:t>
            </a:r>
            <a:endParaRPr lang="pt-BR" sz="1200" dirty="0">
              <a:latin typeface="Roboto"/>
              <a:ea typeface="Roboto"/>
              <a:cs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0031292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8A3613C-FF15-5D0F-14FB-67E813F84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125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3200" dirty="0">
                <a:latin typeface="Roboto"/>
                <a:ea typeface="Roboto"/>
                <a:cs typeface="Roboto"/>
              </a:rPr>
              <a:t> O gráfico evidencia o retorno do Brasil ao Mapa da Fome a partir do triênio 2018–2020, quando a prevalência de subnutrição ultrapassa o limite de 2,5% estabelecido pela FAO. Observa-se também o crescimento acelerado da insegurança alimentar severa e do número absoluto de pessoas em situação de fome, que atinge 33,1 milhões em 2021–2022, agravado pela pandemia de COVID-19 e pela fragilização das políticas públicas de segurança alimentar.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463227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FF9735-4613-4B72-0CE3-25EF5699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288105"/>
            <a:ext cx="10515600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3. Nova Redução e Saída do Mapa (2023 a 2025)</a:t>
            </a:r>
            <a:endParaRPr lang="pt-BR" sz="3200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A3AFDBC-5F26-5437-2CD3-CEEF1AE84A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513" y="743770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just">
              <a:buNone/>
            </a:pPr>
            <a:r>
              <a:rPr lang="pt-BR" sz="1800" dirty="0">
                <a:solidFill>
                  <a:srgbClr val="0A0A0A"/>
                </a:solidFill>
                <a:latin typeface="Roboto"/>
                <a:ea typeface="Roboto"/>
                <a:cs typeface="Roboto"/>
              </a:rPr>
              <a:t> Relatórios mais recentes, como o SOFI 2025 (que analisa o triênio 2022-2024), indicam uma nova e rápida reversão dessa tendência. Graças à retomada de políticas sociais e programas de transferência de renda, o Brasil conseguiu reduzir o índice de subalimentação para abaixo de 2,5% novamente, saindo do Mapa da Fome pela segunda vez. Cerca de 24 milhões de pessoas saíram da situação de insegurança alimentar grave até o final de 2023. </a:t>
            </a:r>
            <a:endParaRPr lang="pt-BR" sz="1800" dirty="0"/>
          </a:p>
        </p:txBody>
      </p:sp>
      <p:pic>
        <p:nvPicPr>
          <p:cNvPr id="4" name="Imagem 3" descr="Gráfico, Gráfico de cascata&#10;&#10;O conteúdo gerado por IA pode estar incorreto.">
            <a:extLst>
              <a:ext uri="{FF2B5EF4-FFF2-40B4-BE49-F238E27FC236}">
                <a16:creationId xmlns:a16="http://schemas.microsoft.com/office/drawing/2014/main" id="{7A82D74C-217C-502C-EBC3-F87FC3483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316" y="2174283"/>
            <a:ext cx="7110654" cy="398177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E519B7E2-E339-DBBB-0FE7-159E1424B564}"/>
              </a:ext>
            </a:extLst>
          </p:cNvPr>
          <p:cNvSpPr txBox="1"/>
          <p:nvPr/>
        </p:nvSpPr>
        <p:spPr>
          <a:xfrm>
            <a:off x="2865605" y="6170023"/>
            <a:ext cx="6475708" cy="24622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t-BR" sz="1000" u="sng" dirty="0">
                <a:latin typeface="Roboto"/>
                <a:ea typeface="Roboto"/>
                <a:cs typeface="Roboto"/>
                <a:hlinkClick r:id="rId3"/>
              </a:rPr>
              <a:t>https://grabois.org.br/2025/08/13/mapa-da-fome-como-brasil-saiu-segunda-vez/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33910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5C0E1A-4998-866D-8A7D-C1A2F673B1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72272"/>
            <a:ext cx="10515600" cy="5550367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just">
              <a:buNone/>
            </a:pPr>
            <a:r>
              <a:rPr lang="pt-BR" sz="2400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  O período entre 2023 e 2025 marca uma inflexão significativa no quadro da fome no Brasil. Após anos de agravamento, a retomada de políticas públicas de segurança alimentar, aliada à ampliação de programas de transferência de renda e valorização do salário-mínimo, resultou em uma rápida redução da subnutrição e da insegurança alimentar severa. Dados do SOFI indicam que o país voltou a apresentar índices de subalimentação inferiores a 2,5%, permitindo sua segunda saída do Mapa da Fome. </a:t>
            </a:r>
          </a:p>
          <a:p>
            <a:pPr algn="just">
              <a:buNone/>
            </a:pPr>
            <a:r>
              <a:rPr lang="pt-BR" sz="2400" b="1" dirty="0">
                <a:highlight>
                  <a:srgbClr val="FFFFFF"/>
                </a:highlight>
                <a:latin typeface="Roboto"/>
                <a:ea typeface="Roboto"/>
                <a:cs typeface="Roboto"/>
              </a:rPr>
              <a:t>  A retirada de cerca de 24 milhões de pessoas da situação de fome grave até o final de 2023 evidencia o papel decisivo das políticas estatais na garantia do direito humano à alimentação adequada. No entanto, a experiência recente demonstra que tais avanços não são irreversíveis, reforçando a necessidade de políticas contínuas e estruturantes para evitar novos retrocessos.</a:t>
            </a:r>
          </a:p>
          <a:p>
            <a:pPr marL="0" indent="0">
              <a:buNone/>
            </a:pPr>
            <a:endParaRPr lang="pt-BR" sz="2000" b="1" dirty="0"/>
          </a:p>
        </p:txBody>
      </p:sp>
    </p:spTree>
    <p:extLst>
      <p:ext uri="{BB962C8B-B14F-4D97-AF65-F5344CB8AC3E}">
        <p14:creationId xmlns:p14="http://schemas.microsoft.com/office/powerpoint/2010/main" val="32727611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C88B59B-4225-6A01-AF50-9878C3B33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669"/>
            <a:ext cx="10515600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latin typeface="Roboto"/>
                <a:ea typeface="Roboto"/>
                <a:cs typeface="Roboto"/>
              </a:rPr>
              <a:t>Desafios Atuais</a:t>
            </a:r>
            <a:endParaRPr lang="pt-BR" sz="3200" dirty="0">
              <a:latin typeface="Roboto"/>
              <a:ea typeface="Roboto"/>
              <a:cs typeface="Roboto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FE81B98-DCF2-42DE-28CF-A1EB331FC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788" y="1321360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>
              <a:buNone/>
            </a:pPr>
            <a:r>
              <a:rPr lang="pt-BR" dirty="0">
                <a:solidFill>
                  <a:srgbClr val="0A0A0A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</a:rPr>
              <a:t>  Apesar da saída do mapa, que é um marco estatístico, a insegurança alimentar moderada ou grave ainda afeta milhões de brasileiros (cerca de 28 milhões, segundo dados de 2025). Além disso, o custo de uma dieta saudável permanece elevado para grande parte da população, e o sobrepeso e a obesidade são preocupações crescentes, afetando cerca de 60% dos adultos. </a:t>
            </a:r>
          </a:p>
          <a:p>
            <a:pPr algn="just">
              <a:buNone/>
            </a:pPr>
            <a:r>
              <a:rPr lang="pt-BR" dirty="0">
                <a:solidFill>
                  <a:srgbClr val="0A0A0A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</a:rPr>
              <a:t>  Mais informações podem ser encontradas nos relatórios oficiais no site da </a:t>
            </a:r>
            <a:r>
              <a:rPr lang="pt-BR" u="sng" dirty="0">
                <a:highlight>
                  <a:srgbClr val="FFFFFF"/>
                </a:highlight>
                <a:latin typeface="Roboto"/>
                <a:ea typeface="Roboto"/>
                <a:cs typeface="Roboto"/>
                <a:hlinkClick r:id="rId2"/>
              </a:rPr>
              <a:t>Organização das Nações Unidas para Alimentação e Agricultura (FAO)</a:t>
            </a:r>
            <a:r>
              <a:rPr lang="pt-BR" dirty="0">
                <a:solidFill>
                  <a:srgbClr val="0A0A0A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</a:rPr>
              <a:t>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615497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2EC4764-9F27-C1B0-43C8-B38334A492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4669"/>
            <a:ext cx="10515600" cy="1325563"/>
          </a:xfrm>
        </p:spPr>
        <p:txBody>
          <a:bodyPr>
            <a:normAutofit/>
          </a:bodyPr>
          <a:lstStyle/>
          <a:p>
            <a:r>
              <a:rPr lang="pt-BR" sz="3200" b="1" dirty="0">
                <a:solidFill>
                  <a:srgbClr val="0F4761"/>
                </a:solidFill>
                <a:highlight>
                  <a:srgbClr val="FFFFFF"/>
                </a:highlight>
                <a:latin typeface="Aptos"/>
              </a:rPr>
              <a:t>Síntese conclusiva</a:t>
            </a:r>
            <a:endParaRPr lang="pt-BR" sz="3200" dirty="0">
              <a:solidFill>
                <a:srgbClr val="0F4761"/>
              </a:solidFill>
              <a:highlight>
                <a:srgbClr val="FFFFFF"/>
              </a:highlight>
              <a:latin typeface="Aptos"/>
            </a:endParaRP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5A16F905-0FFE-D041-825C-2737D73D3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4435" y="1119654"/>
            <a:ext cx="10515600" cy="5023690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just">
              <a:buNone/>
            </a:pPr>
            <a:r>
              <a:rPr lang="pt-BR" sz="1800" dirty="0">
                <a:highlight>
                  <a:srgbClr val="FFFFFF"/>
                </a:highlight>
              </a:rPr>
              <a:t>  O estudo da Prevalência de Subalimentação no Brasil, utilizando dados da FAO/ONU no período de </a:t>
            </a:r>
            <a:r>
              <a:rPr lang="pt-BR" sz="1800" b="1" dirty="0">
                <a:highlight>
                  <a:srgbClr val="FFFFFF"/>
                </a:highlight>
              </a:rPr>
              <a:t>2000 a 2025</a:t>
            </a:r>
            <a:r>
              <a:rPr lang="pt-BR" sz="1800" dirty="0">
                <a:highlight>
                  <a:srgbClr val="FFFFFF"/>
                </a:highlight>
              </a:rPr>
              <a:t>, revela que a trajetória do país no combate à fome é um reflexo direto da </a:t>
            </a:r>
            <a:r>
              <a:rPr lang="pt-BR" sz="1800" b="1" dirty="0">
                <a:highlight>
                  <a:srgbClr val="FFFFFF"/>
                </a:highlight>
              </a:rPr>
              <a:t>continuidade e do investimento em políticas sociais estruturais</a:t>
            </a:r>
            <a:r>
              <a:rPr lang="pt-BR" sz="1800" dirty="0">
                <a:highlight>
                  <a:srgbClr val="FFFFFF"/>
                </a:highlight>
              </a:rPr>
              <a:t>.</a:t>
            </a:r>
          </a:p>
          <a:p>
            <a:pPr algn="just">
              <a:buFont typeface="Arial"/>
              <a:buChar char="•"/>
            </a:pPr>
            <a:r>
              <a:rPr lang="pt-BR" sz="1800" b="1" dirty="0">
                <a:highlight>
                  <a:srgbClr val="FFFFFF"/>
                </a:highlight>
              </a:rPr>
              <a:t>Fase de Sucesso (2000-2014):</a:t>
            </a:r>
            <a:r>
              <a:rPr lang="pt-BR" sz="1800" dirty="0">
                <a:highlight>
                  <a:srgbClr val="FFFFFF"/>
                </a:highlight>
              </a:rPr>
              <a:t> A saída do Brasil do Mapa da Fome em 2014 foi um feito histórico, impulsionado pela eficácia de programas como o </a:t>
            </a:r>
            <a:r>
              <a:rPr lang="pt-BR" sz="1800" i="1" dirty="0">
                <a:highlight>
                  <a:srgbClr val="FFFFFF"/>
                </a:highlight>
              </a:rPr>
              <a:t>Fome Zero</a:t>
            </a:r>
            <a:r>
              <a:rPr lang="pt-BR" sz="1800" dirty="0">
                <a:highlight>
                  <a:srgbClr val="FFFFFF"/>
                </a:highlight>
              </a:rPr>
              <a:t> e o </a:t>
            </a:r>
            <a:r>
              <a:rPr lang="pt-BR" sz="1800" i="1" dirty="0">
                <a:highlight>
                  <a:srgbClr val="FFFFFF"/>
                </a:highlight>
              </a:rPr>
              <a:t>Bolsa Família</a:t>
            </a:r>
            <a:r>
              <a:rPr lang="pt-BR" sz="1800" dirty="0">
                <a:highlight>
                  <a:srgbClr val="FFFFFF"/>
                </a:highlight>
              </a:rPr>
              <a:t>, demonstrando que a redução da pobreza e o aumento da renda são fatores determinantes para a segurança alimentar.</a:t>
            </a:r>
          </a:p>
          <a:p>
            <a:pPr algn="just">
              <a:buFont typeface="Arial"/>
              <a:buChar char="•"/>
            </a:pPr>
            <a:r>
              <a:rPr lang="pt-BR" sz="1800" b="1" dirty="0">
                <a:highlight>
                  <a:srgbClr val="FFFFFF"/>
                </a:highlight>
              </a:rPr>
              <a:t>Fase de Retrocesso (2015-2021):</a:t>
            </a:r>
            <a:r>
              <a:rPr lang="pt-BR" sz="1800" dirty="0">
                <a:highlight>
                  <a:srgbClr val="FFFFFF"/>
                </a:highlight>
              </a:rPr>
              <a:t> O subsequente retorno ao Mapa da Fome evidenciou a </a:t>
            </a:r>
            <a:r>
              <a:rPr lang="pt-BR" sz="1800" b="1" dirty="0">
                <a:highlight>
                  <a:srgbClr val="FFFFFF"/>
                </a:highlight>
              </a:rPr>
              <a:t>fragilidade das conquistas sociais</a:t>
            </a:r>
            <a:r>
              <a:rPr lang="pt-BR" sz="1800" dirty="0">
                <a:highlight>
                  <a:srgbClr val="FFFFFF"/>
                </a:highlight>
              </a:rPr>
              <a:t> diante de crises econômicas e desarticulação das políticas de proteção, provando que a fome é um problema que ressurge rapidamente na ausência de vigilância e investimento contínuos.</a:t>
            </a:r>
          </a:p>
          <a:p>
            <a:pPr algn="just">
              <a:buFont typeface="Arial"/>
              <a:buChar char="•"/>
            </a:pPr>
            <a:r>
              <a:rPr lang="pt-BR" sz="1800" b="1" dirty="0">
                <a:highlight>
                  <a:srgbClr val="FFFFFF"/>
                </a:highlight>
              </a:rPr>
              <a:t>Aprendizado e Recuperação (Pós-2022):</a:t>
            </a:r>
            <a:r>
              <a:rPr lang="pt-BR" sz="1800" dirty="0">
                <a:highlight>
                  <a:srgbClr val="FFFFFF"/>
                </a:highlight>
              </a:rPr>
              <a:t> A recente reversão da tendência, com projeções de nova saída do Mapa, reitera a necessidade de um </a:t>
            </a:r>
            <a:r>
              <a:rPr lang="pt-BR" sz="1800" b="1" dirty="0">
                <a:highlight>
                  <a:srgbClr val="FFFFFF"/>
                </a:highlight>
              </a:rPr>
              <a:t>compromisso político ininterrupto</a:t>
            </a:r>
            <a:r>
              <a:rPr lang="pt-BR" sz="1800" dirty="0">
                <a:highlight>
                  <a:srgbClr val="FFFFFF"/>
                </a:highlight>
              </a:rPr>
              <a:t> com a proteção social e o fortalecimento da agricultura familiar.</a:t>
            </a:r>
          </a:p>
          <a:p>
            <a:pPr indent="0" algn="just">
              <a:buNone/>
            </a:pPr>
            <a:r>
              <a:rPr lang="pt-BR" sz="1800" b="1" dirty="0">
                <a:highlight>
                  <a:srgbClr val="FFFFFF"/>
                </a:highlight>
              </a:rPr>
              <a:t>A lição central é:</a:t>
            </a:r>
            <a:r>
              <a:rPr lang="pt-BR" sz="1800" dirty="0">
                <a:highlight>
                  <a:srgbClr val="FFFFFF"/>
                </a:highlight>
              </a:rPr>
              <a:t> O Brasil sabe como erradicar a fome, mas manter a segurança alimentar exige estabilidade no financiamento, combate contínuo à desigualdade estrutural e o foco em garantir não apenas calorias, mas o acesso a uma dieta nutricionalmente adequada para toda a população.</a:t>
            </a: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933634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F52B4-F4B4-959C-7ED9-BF07C9F4A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3969"/>
            <a:ext cx="10515600" cy="1325563"/>
          </a:xfrm>
        </p:spPr>
        <p:txBody>
          <a:bodyPr>
            <a:normAutofit/>
          </a:bodyPr>
          <a:lstStyle/>
          <a:p>
            <a:r>
              <a:rPr lang="pt-BR" sz="2000" dirty="0">
                <a:highlight>
                  <a:srgbClr val="FFFFFF"/>
                </a:highlight>
                <a:latin typeface="Aptos"/>
              </a:rPr>
              <a:t>Referencias:</a:t>
            </a:r>
            <a:endParaRPr lang="pt-BR" sz="2000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4400374-DC4D-21E8-B9E4-394D0DCF76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125"/>
            <a:ext cx="10515600" cy="4351338"/>
          </a:xfrm>
        </p:spPr>
        <p:txBody>
          <a:bodyPr vert="horz" lIns="91440" tIns="45720" rIns="91440" bIns="45720" rtlCol="0" anchor="t">
            <a:noAutofit/>
          </a:bodyPr>
          <a:lstStyle/>
          <a:p>
            <a:pPr algn="just">
              <a:buNone/>
            </a:pPr>
            <a:r>
              <a:rPr lang="pt-BR" sz="1400" b="1" dirty="0">
                <a:solidFill>
                  <a:srgbClr val="0A0A0A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</a:rPr>
              <a:t>(Anos 2000 a 2014)</a:t>
            </a:r>
            <a:endParaRPr lang="pt-BR" sz="1400" dirty="0">
              <a:solidFill>
                <a:srgbClr val="0A0A0A"/>
              </a:solidFill>
              <a:highlight>
                <a:srgbClr val="FFFFFF"/>
              </a:highlight>
              <a:latin typeface="Roboto"/>
              <a:ea typeface="Roboto"/>
              <a:cs typeface="Roboto"/>
            </a:endParaRPr>
          </a:p>
          <a:p>
            <a:pPr algn="just">
              <a:buNone/>
            </a:pPr>
            <a:r>
              <a:rPr lang="pt-BR" sz="1400" u="sng" dirty="0">
                <a:highlight>
                  <a:srgbClr val="FFFFFF"/>
                </a:highlight>
                <a:hlinkClick r:id="rId2"/>
              </a:rPr>
              <a:t>https://www.gov.br/mds/pt-br/acoes-e-programas/brasil-sem-fome/balanco/balanco_atualizado_mapa_da_fome.pdf?utm_source=chatgpt.com</a:t>
            </a:r>
            <a:endParaRPr lang="pt-BR" sz="1400" dirty="0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algn="just">
              <a:buNone/>
            </a:pPr>
            <a:r>
              <a:rPr lang="pt-BR" sz="1400" b="1" dirty="0">
                <a:solidFill>
                  <a:srgbClr val="0A0A0A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</a:rPr>
              <a:t>(2015 a 2022)</a:t>
            </a:r>
            <a:endParaRPr lang="pt-BR" sz="1400">
              <a:solidFill>
                <a:srgbClr val="0A0A0A"/>
              </a:solidFill>
              <a:highlight>
                <a:srgbClr val="FFFFFF"/>
              </a:highlight>
              <a:latin typeface="Roboto"/>
              <a:ea typeface="Roboto"/>
              <a:cs typeface="Roboto"/>
            </a:endParaRPr>
          </a:p>
          <a:p>
            <a:pPr algn="just">
              <a:buNone/>
            </a:pPr>
            <a:r>
              <a:rPr lang="pt-BR" sz="1400" u="sng" dirty="0">
                <a:highlight>
                  <a:srgbClr val="FFFFFF"/>
                </a:highlight>
                <a:hlinkClick r:id="rId3"/>
              </a:rPr>
              <a:t>https://www.gov.br/mds/pt-br/acoes-e-programas/brasil-sem-fome/balanco/2024/relatorio_balanco_pt.pdf?utm_source=chatgpt.com</a:t>
            </a:r>
            <a:endParaRPr lang="pt-BR" sz="1400" dirty="0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algn="just">
              <a:buNone/>
            </a:pPr>
            <a:r>
              <a:rPr lang="pt-BR" sz="1400" b="1" dirty="0">
                <a:solidFill>
                  <a:srgbClr val="0A0A0A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</a:rPr>
              <a:t>(2023 a 2025)</a:t>
            </a:r>
            <a:endParaRPr lang="pt-BR" sz="1400">
              <a:solidFill>
                <a:srgbClr val="0A0A0A"/>
              </a:solidFill>
              <a:highlight>
                <a:srgbClr val="FFFFFF"/>
              </a:highlight>
              <a:latin typeface="Roboto"/>
              <a:ea typeface="Roboto"/>
              <a:cs typeface="Roboto"/>
            </a:endParaRPr>
          </a:p>
          <a:p>
            <a:pPr algn="just">
              <a:buNone/>
            </a:pPr>
            <a:r>
              <a:rPr lang="pt-BR" sz="1400" u="sng" dirty="0">
                <a:highlight>
                  <a:srgbClr val="FFFFFF"/>
                </a:highlight>
                <a:hlinkClick r:id="rId4"/>
              </a:rPr>
              <a:t>https://www.gov.br/secom/pt-br/assuntos/noticias/2025/10/brasil-volta-ao-menor-patamar-de-fome-da-historia</a:t>
            </a:r>
            <a:endParaRPr lang="pt-BR" sz="1400" dirty="0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algn="just">
              <a:buNone/>
            </a:pPr>
            <a:endParaRPr lang="pt-BR" sz="1400" dirty="0">
              <a:solidFill>
                <a:srgbClr val="FF0000"/>
              </a:solidFill>
              <a:highlight>
                <a:srgbClr val="FFFFFF"/>
              </a:highlight>
            </a:endParaRPr>
          </a:p>
          <a:p>
            <a:pPr algn="just">
              <a:buNone/>
            </a:pPr>
            <a:r>
              <a:rPr lang="pt-BR" sz="1400" u="sng" dirty="0">
                <a:highlight>
                  <a:srgbClr val="FFFFFF"/>
                </a:highlight>
                <a:hlinkClick r:id="rId5"/>
              </a:rPr>
              <a:t>https://www.indexmundi.com/facts/brazil/indicator/SN.ITK.DEFC.ZS?utm_source=chatgpt.com</a:t>
            </a:r>
            <a:endParaRPr lang="pt-BR" sz="1400" dirty="0">
              <a:highlight>
                <a:srgbClr val="FFFFFF"/>
              </a:highlight>
            </a:endParaRPr>
          </a:p>
          <a:p>
            <a:pPr algn="just">
              <a:buNone/>
            </a:pPr>
            <a:r>
              <a:rPr lang="pt-BR" sz="1400" u="sng" dirty="0">
                <a:highlight>
                  <a:srgbClr val="FFFFFF"/>
                </a:highlight>
                <a:latin typeface="Roboto"/>
                <a:ea typeface="Roboto"/>
                <a:cs typeface="Roboto"/>
                <a:hlinkClick r:id="rId6"/>
              </a:rPr>
              <a:t>https://grabois.org.br/2025/08/13/mapa-da-fome-como-brasil-saiu-segunda-vez/</a:t>
            </a:r>
            <a:endParaRPr lang="pt-BR" sz="1400">
              <a:solidFill>
                <a:srgbClr val="0A0A0A"/>
              </a:solidFill>
              <a:highlight>
                <a:srgbClr val="FFFFFF"/>
              </a:highlight>
              <a:latin typeface="Roboto"/>
              <a:ea typeface="Roboto"/>
              <a:cs typeface="Roboto"/>
            </a:endParaRPr>
          </a:p>
          <a:p>
            <a:pPr algn="just">
              <a:buNone/>
            </a:pPr>
            <a:r>
              <a:rPr lang="pt-BR" sz="1400" dirty="0">
                <a:highlight>
                  <a:srgbClr val="FFFFFF"/>
                </a:highlight>
              </a:rPr>
              <a:t>Chat GPT</a:t>
            </a:r>
          </a:p>
          <a:p>
            <a:pPr algn="just">
              <a:buNone/>
            </a:pPr>
            <a:r>
              <a:rPr lang="pt-BR" sz="1400" dirty="0">
                <a:highlight>
                  <a:srgbClr val="FFFFFF"/>
                </a:highlight>
              </a:rPr>
              <a:t>Google AI</a:t>
            </a:r>
          </a:p>
          <a:p>
            <a:pPr algn="just">
              <a:buNone/>
            </a:pPr>
            <a:r>
              <a:rPr lang="pt-BR" sz="1400" dirty="0">
                <a:highlight>
                  <a:srgbClr val="FFFFFF"/>
                </a:highlight>
              </a:rPr>
              <a:t>Gemini</a:t>
            </a:r>
          </a:p>
          <a:p>
            <a:pPr algn="just">
              <a:buNone/>
            </a:pPr>
            <a:endParaRPr lang="pt-BR" sz="1200" dirty="0">
              <a:highlight>
                <a:srgbClr val="FFFFFF"/>
              </a:highlight>
            </a:endParaRPr>
          </a:p>
          <a:p>
            <a:pPr marL="0" indent="0"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1180421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14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14</vt:i4>
      </vt:variant>
    </vt:vector>
  </HeadingPairs>
  <TitlesOfParts>
    <vt:vector size="15" baseType="lpstr">
      <vt:lpstr>Tema do Office</vt:lpstr>
      <vt:lpstr>Apresentação do PowerPoint</vt:lpstr>
      <vt:lpstr>Apresentação do PowerPoint</vt:lpstr>
      <vt:lpstr>Insegurança alimentar (2000/2025)</vt:lpstr>
      <vt:lpstr>Introdução  Definição e Conceitualização da Fome</vt:lpstr>
      <vt:lpstr>Panorama da Fome no Brasil (2000–2025) com Dados da FAO/ONU</vt:lpstr>
      <vt:lpstr>A Trajetória em Três Fases</vt:lpstr>
      <vt:lpstr>Apresentação do PowerPoint</vt:lpstr>
      <vt:lpstr>2. Retorno e Agravamento da Fome (2015 a 2022)</vt:lpstr>
      <vt:lpstr>Apresentação do PowerPoint</vt:lpstr>
      <vt:lpstr>3. Nova Redução e Saída do Mapa (2023 a 2025)</vt:lpstr>
      <vt:lpstr>Apresentação do PowerPoint</vt:lpstr>
      <vt:lpstr>Desafios Atuais</vt:lpstr>
      <vt:lpstr>Síntese conclusiva</vt:lpstr>
      <vt:lpstr>Referencias: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201</cp:revision>
  <dcterms:created xsi:type="dcterms:W3CDTF">2025-12-16T06:21:04Z</dcterms:created>
  <dcterms:modified xsi:type="dcterms:W3CDTF">2025-12-16T07:51:10Z</dcterms:modified>
</cp:coreProperties>
</file>