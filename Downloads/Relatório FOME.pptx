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5D30A4-B72E-4FC0-BE29-D7E3BF33A412}" v="290" dt="2025-12-16T07:50:09.990"/>
    <p1510:client id="{60B339DC-8D1D-4D2D-9F56-1C3E11A17D2E}" v="56" dt="2025-12-17T06:01:13.959"/>
    <p1510:client id="{A5A2BA68-DEE6-46AF-825C-9782E9CDFACD}" v="69" dt="2025-12-17T05:39:58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exmundi.com/facts/brazil/indicator/SN.ITK.DEFC.ZS?utm_source=chatgpt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rabois.org.br/2025/08/13/mapa-da-fome-como-brasil-saiu-segunda-vez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o.org/brasil/noticias/detail-events/fr/c/1741586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br/mds/pt-br/acoes-e-programas/brasil-sem-fome/balanco/2024/relatorio_balanco_pt.pdf?utm_source=chatgpt.com" TargetMode="External"/><Relationship Id="rId2" Type="http://schemas.openxmlformats.org/officeDocument/2006/relationships/hyperlink" Target="https://www.gov.br/mds/pt-br/acoes-e-programas/brasil-sem-fome/balanco/balanco_atualizado_mapa_da_fome.pdf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rabois.org.br/2025/08/13/mapa-da-fome-como-brasil-saiu-segunda-vez/" TargetMode="External"/><Relationship Id="rId5" Type="http://schemas.openxmlformats.org/officeDocument/2006/relationships/hyperlink" Target="https://www.indexmundi.com/facts/brazil/indicator/SN.ITK.DEFC.ZS?utm_source=chatgpt.com" TargetMode="External"/><Relationship Id="rId4" Type="http://schemas.openxmlformats.org/officeDocument/2006/relationships/hyperlink" Target="https://www.gov.br/secom/pt-br/assuntos/noticias/2025/10/brasil-volta-ao-menor-patamar-de-fome-da-historia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B39AA74-A6B6-EB8B-F53D-6711ECE30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68" y="1715998"/>
            <a:ext cx="11060907" cy="227957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0D7B65E-9E85-AC36-3571-BE2F749FD1F1}"/>
              </a:ext>
            </a:extLst>
          </p:cNvPr>
          <p:cNvSpPr txBox="1"/>
          <p:nvPr/>
        </p:nvSpPr>
        <p:spPr>
          <a:xfrm>
            <a:off x="716620" y="4132529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3200" b="1" dirty="0"/>
              <a:t>DIAC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52827F-FAAE-2F54-3034-97B5023B8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sz="2400" b="1" dirty="0">
                <a:highlight>
                  <a:srgbClr val="FFFFFF"/>
                </a:highlight>
              </a:rPr>
              <a:t>Curso: Licenciatura em Física.</a:t>
            </a:r>
          </a:p>
          <a:p>
            <a:pPr marL="0" indent="0">
              <a:buNone/>
            </a:pPr>
            <a:r>
              <a:rPr lang="pt-BR" sz="2400" b="1" dirty="0">
                <a:highlight>
                  <a:srgbClr val="FFFFFF"/>
                </a:highlight>
              </a:rPr>
              <a:t>Turno: Tarde.</a:t>
            </a:r>
          </a:p>
          <a:p>
            <a:pPr marL="0" indent="0">
              <a:buNone/>
            </a:pPr>
            <a:r>
              <a:rPr lang="pt-BR" sz="2400" b="1" dirty="0">
                <a:highlight>
                  <a:srgbClr val="FFFFFF"/>
                </a:highlight>
              </a:rPr>
              <a:t>Disciplina: Língua portuguesa.</a:t>
            </a:r>
          </a:p>
          <a:p>
            <a:pPr marL="0" indent="0">
              <a:buNone/>
            </a:pPr>
            <a:r>
              <a:rPr lang="pt-BR" sz="2400" b="1" dirty="0">
                <a:highlight>
                  <a:srgbClr val="FFFFFF"/>
                </a:highlight>
              </a:rPr>
              <a:t>Professor: </a:t>
            </a:r>
            <a:r>
              <a:rPr lang="pt-BR" sz="2400" b="1" err="1">
                <a:highlight>
                  <a:srgbClr val="FFFFFF"/>
                </a:highlight>
              </a:rPr>
              <a:t>Aldalina</a:t>
            </a:r>
            <a:r>
              <a:rPr lang="pt-BR" sz="2400" b="1" dirty="0">
                <a:highlight>
                  <a:srgbClr val="FFFFFF"/>
                </a:highlight>
              </a:rPr>
              <a:t> Ribeiro Freitas.</a:t>
            </a:r>
          </a:p>
          <a:p>
            <a:pPr marL="0" indent="0">
              <a:buNone/>
            </a:pPr>
            <a:r>
              <a:rPr lang="pt-BR" sz="2400" b="1" dirty="0">
                <a:highlight>
                  <a:srgbClr val="FFFFFF"/>
                </a:highlight>
              </a:rPr>
              <a:t>Aluno: Rafael Bruno da Silva.</a:t>
            </a:r>
          </a:p>
          <a:p>
            <a:pPr marL="0" indent="0">
              <a:buNone/>
            </a:pPr>
            <a:r>
              <a:rPr lang="pt-BR" sz="2400" b="1" dirty="0">
                <a:highlight>
                  <a:srgbClr val="FFFFFF"/>
                </a:highlight>
              </a:rPr>
              <a:t>Tema: Relatório técnico de pesquisa sobre a insegurança alimentar.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2797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B2A2C2-EC02-724C-B773-EA23C8383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5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highlight>
                  <a:srgbClr val="FFFFFF"/>
                </a:highlight>
                <a:latin typeface="Aptos"/>
              </a:rPr>
              <a:t>Insegurança alimentar (2000/2025)</a:t>
            </a:r>
            <a:endParaRPr lang="pt-BR" sz="32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E074B4-AD45-627F-ACC6-EB784C18F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2302"/>
            <a:ext cx="10515600" cy="32195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pt-BR" sz="2000" b="1">
                <a:solidFill>
                  <a:srgbClr val="0F4761"/>
                </a:solidFill>
                <a:highlight>
                  <a:srgbClr val="FFFFFF"/>
                </a:highlight>
              </a:rPr>
              <a:t>Elaborado por:</a:t>
            </a:r>
            <a:endParaRPr lang="pt-BR" sz="2000" b="1" dirty="0">
              <a:solidFill>
                <a:srgbClr val="0F4761"/>
              </a:solidFill>
              <a:highlight>
                <a:srgbClr val="FFFFFF"/>
              </a:highlight>
            </a:endParaRPr>
          </a:p>
          <a:p>
            <a:pPr algn="just">
              <a:buNone/>
            </a:pPr>
            <a:r>
              <a:rPr lang="pt-BR" sz="2000" b="1" dirty="0">
                <a:highlight>
                  <a:srgbClr val="FFFFFF"/>
                </a:highlight>
              </a:rPr>
              <a:t>Rafael Bruno da Silva</a:t>
            </a:r>
          </a:p>
          <a:p>
            <a:pPr algn="just">
              <a:buNone/>
            </a:pPr>
            <a:r>
              <a:rPr lang="pt-BR" sz="2000" b="1" dirty="0">
                <a:solidFill>
                  <a:srgbClr val="0F4761"/>
                </a:solidFill>
                <a:highlight>
                  <a:srgbClr val="FFFFFF"/>
                </a:highlight>
              </a:rPr>
              <a:t>Para:</a:t>
            </a:r>
          </a:p>
          <a:p>
            <a:pPr algn="just">
              <a:buNone/>
            </a:pPr>
            <a:r>
              <a:rPr lang="pt-BR" sz="2000" b="1" dirty="0">
                <a:highlight>
                  <a:srgbClr val="FFFFFF"/>
                </a:highlight>
              </a:rPr>
              <a:t>Instituto Federal do Rio Grande do Norte</a:t>
            </a:r>
          </a:p>
          <a:p>
            <a:pPr algn="just">
              <a:buNone/>
            </a:pPr>
            <a:r>
              <a:rPr lang="pt-BR" sz="2000" b="1" dirty="0">
                <a:solidFill>
                  <a:srgbClr val="0F4761"/>
                </a:solidFill>
                <a:highlight>
                  <a:srgbClr val="FFFFFF"/>
                </a:highlight>
              </a:rPr>
              <a:t>Data de Emissão:</a:t>
            </a:r>
          </a:p>
          <a:p>
            <a:pPr algn="just">
              <a:buNone/>
            </a:pPr>
            <a:r>
              <a:rPr lang="pt-BR" sz="2000" b="1" dirty="0">
                <a:highlight>
                  <a:srgbClr val="FFFFFF"/>
                </a:highlight>
              </a:rPr>
              <a:t>Dezembro, 2025.</a:t>
            </a:r>
          </a:p>
          <a:p>
            <a:pPr algn="just">
              <a:buNone/>
            </a:pPr>
            <a:r>
              <a:rPr lang="pt-BR" sz="2000" b="1" dirty="0">
                <a:solidFill>
                  <a:srgbClr val="0F4761"/>
                </a:solidFill>
                <a:highlight>
                  <a:srgbClr val="FFFFFF"/>
                </a:highlight>
              </a:rPr>
              <a:t>Versão:</a:t>
            </a:r>
          </a:p>
          <a:p>
            <a:pPr algn="just">
              <a:buNone/>
            </a:pPr>
            <a:r>
              <a:rPr lang="pt-BR" sz="2000" b="1">
                <a:highlight>
                  <a:srgbClr val="FFFFFF"/>
                </a:highlight>
              </a:rPr>
              <a:t>1.0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872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19257-3652-3CBE-1A93-7C204813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575" y="269876"/>
            <a:ext cx="2216944" cy="1194595"/>
          </a:xfrm>
        </p:spPr>
        <p:txBody>
          <a:bodyPr/>
          <a:lstStyle/>
          <a:p>
            <a:r>
              <a:rPr lang="pt-BR" dirty="0"/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F78BD5-865A-35AB-F4CB-4DC2AAF8F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8" y="1730375"/>
            <a:ext cx="10634662" cy="4446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pt-BR">
                <a:ea typeface="+mn-lt"/>
                <a:cs typeface="+mn-lt"/>
              </a:rPr>
              <a:t>Introdução </a:t>
            </a:r>
            <a:endParaRPr lang="pt-BR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Mapa da Fome (Anos 2000 a 2014) 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Mapa da Fome (2015 a 2022) 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Mapa da Fome (2023 a 2025) </a:t>
            </a:r>
            <a:endParaRPr lang="pt-BR" dirty="0"/>
          </a:p>
          <a:p>
            <a:pPr>
              <a:buNone/>
            </a:pPr>
            <a:r>
              <a:rPr lang="pt-BR" dirty="0">
                <a:ea typeface="+mn-lt"/>
                <a:cs typeface="+mn-lt"/>
              </a:rPr>
              <a:t>Síntese </a:t>
            </a:r>
            <a:endParaRPr lang="pt-BR" dirty="0"/>
          </a:p>
          <a:p>
            <a:pPr marL="0" indent="0">
              <a:buNone/>
            </a:pPr>
            <a:r>
              <a:rPr lang="pt-BR" dirty="0">
                <a:ea typeface="+mn-lt"/>
                <a:cs typeface="+mn-lt"/>
              </a:rPr>
              <a:t>Referências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5669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980A8-31F6-C3A6-DFA2-64A3A886C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41" y="-4669"/>
            <a:ext cx="10515600" cy="1325563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rgbClr val="0F4761"/>
                </a:solidFill>
                <a:highlight>
                  <a:srgbClr val="FFFFFF"/>
                </a:highlight>
                <a:latin typeface="Aptos"/>
              </a:rPr>
              <a:t>Introdução</a:t>
            </a:r>
            <a:br>
              <a:rPr lang="pt-BR" sz="2400" b="1" dirty="0">
                <a:solidFill>
                  <a:srgbClr val="0F4761"/>
                </a:solidFill>
                <a:highlight>
                  <a:srgbClr val="FFFFFF"/>
                </a:highlight>
                <a:latin typeface="Aptos"/>
              </a:rPr>
            </a:br>
            <a:br>
              <a:rPr lang="pt-BR" sz="3200" b="1" dirty="0">
                <a:highlight>
                  <a:srgbClr val="FFFFFF"/>
                </a:highlight>
                <a:latin typeface="Aptos"/>
              </a:rPr>
            </a:br>
            <a:r>
              <a:rPr lang="pt-BR" sz="2400" b="1" dirty="0">
                <a:solidFill>
                  <a:srgbClr val="0F4761"/>
                </a:solidFill>
                <a:highlight>
                  <a:srgbClr val="FFFFFF"/>
                </a:highlight>
                <a:latin typeface="Aptos"/>
              </a:rPr>
              <a:t>Definição e Conceitualização da Fome</a:t>
            </a:r>
            <a:endParaRPr lang="pt-BR" sz="2400" dirty="0">
              <a:solidFill>
                <a:srgbClr val="0F4761"/>
              </a:solidFill>
              <a:highlight>
                <a:srgbClr val="FFFFFF"/>
              </a:highlight>
              <a:latin typeface="Aptos"/>
            </a:endParaRP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4869F956-BC4D-AAEA-E5D4-1385D61AD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41" y="1579096"/>
            <a:ext cx="10515600" cy="4653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pt-BR" sz="1800" dirty="0">
                <a:highlight>
                  <a:srgbClr val="FFFFFF"/>
                </a:highlight>
              </a:rPr>
              <a:t>  A fome, em sua acepção mais estrita e conforme monitorada por organismos internacionais como a FAO, é definida como a condição de </a:t>
            </a:r>
            <a:r>
              <a:rPr lang="pt-BR" sz="1800" b="1" dirty="0">
                <a:highlight>
                  <a:srgbClr val="FFFFFF"/>
                </a:highlight>
              </a:rPr>
              <a:t>subalimentação crônica</a:t>
            </a:r>
            <a:r>
              <a:rPr lang="pt-BR" sz="1800" dirty="0">
                <a:highlight>
                  <a:srgbClr val="FFFFFF"/>
                </a:highlight>
              </a:rPr>
              <a:t> – ou seja, a ingestão alimentar que é insuficiente para fornecer a quantidade de energia alimentar (calorias) necessária para manter um peso corporal normal para uma vida ativa e saudável.</a:t>
            </a:r>
          </a:p>
          <a:p>
            <a:pPr algn="just">
              <a:buNone/>
            </a:pPr>
            <a:r>
              <a:rPr lang="pt-BR" sz="1800" dirty="0">
                <a:highlight>
                  <a:srgbClr val="FFFFFF"/>
                </a:highlight>
              </a:rPr>
              <a:t>  É crucial, no entanto, distinguir a fome da </a:t>
            </a:r>
            <a:r>
              <a:rPr lang="pt-BR" sz="1800" b="1" dirty="0">
                <a:highlight>
                  <a:srgbClr val="FFFFFF"/>
                </a:highlight>
              </a:rPr>
              <a:t>Insegurança Alimentar</a:t>
            </a:r>
            <a:r>
              <a:rPr lang="pt-BR" sz="1800" dirty="0">
                <a:highlight>
                  <a:srgbClr val="FFFFFF"/>
                </a:highlight>
              </a:rPr>
              <a:t>, um conceito mais amplo.</a:t>
            </a:r>
          </a:p>
          <a:p>
            <a:pPr algn="just">
              <a:buFont typeface="Arial"/>
              <a:buChar char="•"/>
            </a:pPr>
            <a:r>
              <a:rPr lang="pt-BR" sz="1800" b="1" dirty="0">
                <a:highlight>
                  <a:srgbClr val="FFFFFF"/>
                </a:highlight>
              </a:rPr>
              <a:t>Subalimentação (Fome):</a:t>
            </a:r>
            <a:r>
              <a:rPr lang="pt-BR" sz="1800" dirty="0">
                <a:highlight>
                  <a:srgbClr val="FFFFFF"/>
                </a:highlight>
              </a:rPr>
              <a:t> Foco na </a:t>
            </a:r>
            <a:r>
              <a:rPr lang="pt-BR" sz="1800" b="1" dirty="0">
                <a:highlight>
                  <a:srgbClr val="FFFFFF"/>
                </a:highlight>
              </a:rPr>
              <a:t>falta crônica de calorias suficientes</a:t>
            </a:r>
            <a:r>
              <a:rPr lang="pt-BR" sz="1800" dirty="0">
                <a:highlight>
                  <a:srgbClr val="FFFFFF"/>
                </a:highlight>
              </a:rPr>
              <a:t>. É o indicador que determina a presença ou ausência de um país no chamado "Mapa da Fome" da ONU.</a:t>
            </a:r>
          </a:p>
          <a:p>
            <a:pPr algn="just">
              <a:buFont typeface="Arial"/>
              <a:buChar char="•"/>
            </a:pPr>
            <a:r>
              <a:rPr lang="pt-BR" sz="1800" b="1" dirty="0">
                <a:highlight>
                  <a:srgbClr val="FFFFFF"/>
                </a:highlight>
              </a:rPr>
              <a:t>Insegurança Alimentar:</a:t>
            </a:r>
            <a:r>
              <a:rPr lang="pt-BR" sz="1800" dirty="0">
                <a:highlight>
                  <a:srgbClr val="FFFFFF"/>
                </a:highlight>
              </a:rPr>
              <a:t> A condição de </a:t>
            </a:r>
            <a:r>
              <a:rPr lang="pt-BR" sz="1800" b="1" dirty="0">
                <a:highlight>
                  <a:srgbClr val="FFFFFF"/>
                </a:highlight>
              </a:rPr>
              <a:t>acesso limitado ou incerto</a:t>
            </a:r>
            <a:r>
              <a:rPr lang="pt-BR" sz="1800" dirty="0">
                <a:highlight>
                  <a:srgbClr val="FFFFFF"/>
                </a:highlight>
              </a:rPr>
              <a:t> a alimentos nutricionalmente adequados e seguros, ou a capacidade limitada de adquirir alimentos de forma socialmente aceitável. A insegurança alimentar é medida em diferentes níveis (leve, moderada e grave) e engloba não apenas a falta de calorias, mas também a </a:t>
            </a:r>
            <a:r>
              <a:rPr lang="pt-BR" sz="1800" b="1" dirty="0">
                <a:highlight>
                  <a:srgbClr val="FFFFFF"/>
                </a:highlight>
              </a:rPr>
              <a:t>qualidade da dieta</a:t>
            </a:r>
            <a:r>
              <a:rPr lang="pt-BR" sz="1800" dirty="0">
                <a:highlight>
                  <a:srgbClr val="FFFFFF"/>
                </a:highlight>
              </a:rPr>
              <a:t> e a </a:t>
            </a:r>
            <a:r>
              <a:rPr lang="pt-BR" sz="1800" b="1" dirty="0">
                <a:highlight>
                  <a:srgbClr val="FFFFFF"/>
                </a:highlight>
              </a:rPr>
              <a:t>regularidade do acesso</a:t>
            </a:r>
            <a:r>
              <a:rPr lang="pt-BR" sz="1800" dirty="0">
                <a:highlight>
                  <a:srgbClr val="FFFFFF"/>
                </a:highlight>
              </a:rPr>
              <a:t>.</a:t>
            </a:r>
          </a:p>
          <a:p>
            <a:pPr indent="0" algn="just">
              <a:buNone/>
            </a:pPr>
            <a:r>
              <a:rPr lang="pt-BR" sz="1800" dirty="0">
                <a:highlight>
                  <a:srgbClr val="FFFFFF"/>
                </a:highlight>
              </a:rPr>
              <a:t> A análise deste relatório se baseará primariamente no indicador da </a:t>
            </a:r>
            <a:r>
              <a:rPr lang="pt-BR" sz="1800" b="1" dirty="0">
                <a:highlight>
                  <a:srgbClr val="FFFFFF"/>
                </a:highlight>
              </a:rPr>
              <a:t>Prevalência de Subalimentação da FAO</a:t>
            </a:r>
            <a:r>
              <a:rPr lang="pt-BR" sz="1800" dirty="0">
                <a:highlight>
                  <a:srgbClr val="FFFFFF"/>
                </a:highlight>
              </a:rPr>
              <a:t>, que mede a fome crônica, mas contextualizará as oscilações com o cenário mais amplo da Insegurança Alimentar no Brasil.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61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84BB5-4942-B466-CD01-1B3DD048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801"/>
            <a:ext cx="10515600" cy="1325563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rgbClr val="156082"/>
                </a:solidFill>
                <a:highlight>
                  <a:srgbClr val="FFFFFF"/>
                </a:highlight>
                <a:latin typeface="Aptos"/>
              </a:rPr>
              <a:t>Panorama da Fome no Brasil (2000–2025) com Dados da FAO/ONU</a:t>
            </a:r>
            <a:endParaRPr lang="pt-BR" sz="2400" dirty="0">
              <a:solidFill>
                <a:srgbClr val="156082"/>
              </a:solidFill>
              <a:highlight>
                <a:srgbClr val="FFFFFF"/>
              </a:highlight>
              <a:latin typeface="Apto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D70482-60B1-835F-9AED-3F82FBA41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06" y="14558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sz="3200" dirty="0">
                <a:solidFill>
                  <a:srgbClr val="0A0A0A"/>
                </a:solidFill>
                <a:latin typeface="Roboto"/>
                <a:ea typeface="Roboto"/>
                <a:cs typeface="Roboto"/>
              </a:rPr>
              <a:t> O relatório principal utilizado para essas avaliações é o "Estado da Segurança Alimentar e Nutricional no Mundo" (SOFI), produzido conjuntamente por agências da ONU, incluindo a FAO (Organização das Nações Unidas para Alimentação e Agricultura). A classificação no "Mapa da Fome" da ONU depende do índice de subalimentação (pessoas sem acesso contínuo a uma alimentação minimamente necessária) ser inferior a 2,5% da população. 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5529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74468-311B-1675-515F-B7573E8CC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9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latin typeface="Roboto"/>
                <a:ea typeface="Roboto"/>
                <a:cs typeface="Roboto"/>
              </a:rPr>
              <a:t>A Trajetória em Três Fases</a:t>
            </a:r>
            <a:endParaRPr lang="pt-BR" sz="3200" dirty="0">
              <a:latin typeface="Roboto"/>
              <a:ea typeface="Roboto"/>
              <a:cs typeface="Roboto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4AE45A-B861-8E54-BF11-15FB15F94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5532"/>
            <a:ext cx="10515600" cy="18986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 b="1" dirty="0">
                <a:solidFill>
                  <a:srgbClr val="0A0A0A"/>
                </a:solidFill>
                <a:latin typeface="Roboto"/>
                <a:ea typeface="Roboto"/>
                <a:cs typeface="Roboto"/>
              </a:rPr>
              <a:t>1. Avanços e Saída do Mapa da Fome (Anos 2000 a 2014)</a:t>
            </a:r>
            <a:br>
              <a:rPr lang="pt-BR" sz="2000" b="1" dirty="0">
                <a:latin typeface="Roboto"/>
                <a:ea typeface="Roboto"/>
                <a:cs typeface="Roboto"/>
              </a:rPr>
            </a:br>
            <a:r>
              <a:rPr lang="pt-BR" sz="2000" b="1" dirty="0">
                <a:solidFill>
                  <a:srgbClr val="0A0A0A"/>
                </a:solidFill>
                <a:latin typeface="Roboto"/>
                <a:ea typeface="Roboto"/>
                <a:cs typeface="Roboto"/>
              </a:rPr>
              <a:t> </a:t>
            </a:r>
            <a:r>
              <a:rPr lang="pt-BR" sz="2000">
                <a:solidFill>
                  <a:srgbClr val="0A0A0A"/>
                </a:solidFill>
                <a:latin typeface="Roboto"/>
                <a:ea typeface="Roboto"/>
                <a:cs typeface="Roboto"/>
              </a:rPr>
              <a:t> </a:t>
            </a:r>
            <a:r>
              <a:rPr lang="pt-BR" sz="2000" dirty="0">
                <a:solidFill>
                  <a:srgbClr val="0A0A0A"/>
                </a:solidFill>
                <a:latin typeface="Roboto"/>
                <a:ea typeface="Roboto"/>
                <a:cs typeface="Roboto"/>
              </a:rPr>
              <a:t>Neste período, o Brasil implementou uma série de políticas públicas de combate à fome e à pobreza, como o programa Fome Zero e o Bolsa Família. Esses esforços foram bem-sucedidos, e o país alcançou a marca de menos de 2,5% de sua população subalimentada, saindo do Mapa da Fome em 2014. O crescimento da renda e a expansão de programas sociais foram fatores-chave. </a:t>
            </a:r>
          </a:p>
        </p:txBody>
      </p:sp>
      <p:pic>
        <p:nvPicPr>
          <p:cNvPr id="4" name="Imagem 3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351F6874-7FBF-E8B1-DCA5-E74C29F3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788" y="2979629"/>
            <a:ext cx="5148263" cy="37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28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19559AF9-2F57-BCE5-DFDC-F9EF33B02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40" y="237157"/>
            <a:ext cx="4958651" cy="293531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D658E4B-F63B-663F-D7DA-C3B8299EA421}"/>
              </a:ext>
            </a:extLst>
          </p:cNvPr>
          <p:cNvSpPr txBox="1"/>
          <p:nvPr/>
        </p:nvSpPr>
        <p:spPr>
          <a:xfrm>
            <a:off x="6835004" y="716334"/>
            <a:ext cx="49387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1200" u="sng" dirty="0">
                <a:highlight>
                  <a:srgbClr val="FFFFFF"/>
                </a:highlight>
                <a:hlinkClick r:id="rId3"/>
              </a:rPr>
              <a:t>https://www.indexmundi.com/facts/brazil/indicator/SN.ITK.DEFC.ZS?utm_source=chatgpt.com</a:t>
            </a:r>
            <a:endParaRPr lang="pt-BR" sz="1200">
              <a:highlight>
                <a:srgbClr val="FFFFFF"/>
              </a:highlight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ADB3AB1-90A1-9C3B-0AB3-CB833CE01EF3}"/>
              </a:ext>
            </a:extLst>
          </p:cNvPr>
          <p:cNvSpPr txBox="1"/>
          <p:nvPr/>
        </p:nvSpPr>
        <p:spPr>
          <a:xfrm>
            <a:off x="264240" y="3426938"/>
            <a:ext cx="1151094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  O gráfico exibido mostra a </a:t>
            </a:r>
            <a:r>
              <a:rPr lang="pt-BR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queda contínua da prevalência de subnutrição no Brasil</a:t>
            </a: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, medida em </a:t>
            </a:r>
            <a:r>
              <a:rPr lang="pt-BR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percentual da população</a:t>
            </a: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, conforme metodologia da </a:t>
            </a:r>
            <a:r>
              <a:rPr lang="pt-BR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FAO/ONU</a:t>
            </a: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.</a:t>
            </a:r>
          </a:p>
          <a:p>
            <a:pPr algn="just"/>
            <a:r>
              <a:rPr lang="pt-BR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O que ele demonstra claramente:</a:t>
            </a:r>
            <a:endParaRPr lang="pt-BR" dirty="0">
              <a:highlight>
                <a:srgbClr val="FFFFFF"/>
              </a:highlight>
              <a:latin typeface="Roboto"/>
              <a:ea typeface="Roboto"/>
              <a:cs typeface="Roboto"/>
            </a:endParaRPr>
          </a:p>
          <a:p>
            <a:pPr marL="285750" indent="-285750" algn="just">
              <a:buFont typeface="Symbol"/>
              <a:buChar char="•"/>
            </a:pP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Em </a:t>
            </a:r>
            <a:r>
              <a:rPr lang="pt-BR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2001</a:t>
            </a: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, cerca de </a:t>
            </a:r>
            <a:r>
              <a:rPr lang="pt-BR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10,7%</a:t>
            </a: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 da população brasileira estava subnutrida.</a:t>
            </a:r>
          </a:p>
          <a:p>
            <a:pPr marL="285750" indent="-285750" algn="just">
              <a:buFont typeface="Symbol"/>
              <a:buChar char="•"/>
            </a:pP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Ao longo dos anos 2000, observa-se </a:t>
            </a:r>
            <a:r>
              <a:rPr lang="pt-BR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redução constante</a:t>
            </a: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, sem grandes interrupções.</a:t>
            </a:r>
          </a:p>
          <a:p>
            <a:pPr marL="285750" indent="-285750" algn="just">
              <a:buFont typeface="Symbol"/>
              <a:buChar char="•"/>
            </a:pP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Em </a:t>
            </a:r>
            <a:r>
              <a:rPr lang="pt-BR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2014</a:t>
            </a: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, o índice cai para aproximadamente </a:t>
            </a:r>
            <a:r>
              <a:rPr lang="pt-BR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2,6%</a:t>
            </a: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, valor próximo ao limite de </a:t>
            </a:r>
            <a:r>
              <a:rPr lang="pt-BR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2,5%</a:t>
            </a: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 utilizado pela FAO para definir a saída do Mapa da Fome.</a:t>
            </a:r>
          </a:p>
          <a:p>
            <a:pPr marL="285750" indent="-285750" algn="just">
              <a:buFont typeface="Symbol"/>
              <a:buChar char="•"/>
            </a:pP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Essa trajetória sustenta empiricamente a afirmação de que o Brasil </a:t>
            </a:r>
            <a:r>
              <a:rPr lang="pt-BR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avançou no combate à fome</a:t>
            </a:r>
            <a:r>
              <a:rPr lang="pt-BR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 nesse período.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358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D5E6B-B5DD-5D82-901A-C3A1403BD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69"/>
            <a:ext cx="10515600" cy="1325563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rgbClr val="0A0A0A"/>
                </a:solidFill>
                <a:latin typeface="Roboto"/>
                <a:ea typeface="Roboto"/>
                <a:cs typeface="Roboto"/>
              </a:rPr>
              <a:t>2. Retorno e Agravamento da Fome (2015 a 2022)</a:t>
            </a:r>
            <a:endParaRPr lang="pt-BR" sz="24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0127F2-926E-8251-35F8-860B83D9A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52" y="1074831"/>
            <a:ext cx="10515600" cy="18300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rgbClr val="0A0A0A"/>
                </a:solidFill>
                <a:latin typeface="Roboto"/>
                <a:ea typeface="Roboto"/>
                <a:cs typeface="Roboto"/>
              </a:rPr>
              <a:t> Nos anos seguintes, a desestruturação de políticas públicas e crises econômicas levaram a um aumento progressivo da insegurança alimentar. O Brasil retornou ao Mapa da Fome na análise referente ao triênio 2018-2020, com a situação se agravando significativamente durante a pandemia de COVID-19. Dados do período 2021-2022 apontaram que 33,1 milhões de brasileiros estavam em situação de fome, um aumento de 60% em relação a 2018. </a:t>
            </a:r>
            <a:endParaRPr lang="pt-BR"/>
          </a:p>
        </p:txBody>
      </p:sp>
      <p:pic>
        <p:nvPicPr>
          <p:cNvPr id="4" name="Imagem 3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6006034F-6551-73D0-D38F-6655F281F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359" y="2906246"/>
            <a:ext cx="5788959" cy="344356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5CE8B6A-7265-5BCA-0DA8-64176BBA59D6}"/>
              </a:ext>
            </a:extLst>
          </p:cNvPr>
          <p:cNvSpPr txBox="1"/>
          <p:nvPr/>
        </p:nvSpPr>
        <p:spPr>
          <a:xfrm>
            <a:off x="7722940" y="5276177"/>
            <a:ext cx="41887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Roboto"/>
                <a:ea typeface="Roboto"/>
                <a:cs typeface="Roboto"/>
              </a:rPr>
              <a:t>FAO/ONU – </a:t>
            </a:r>
            <a:r>
              <a:rPr lang="en-US" sz="1200" i="1" dirty="0">
                <a:latin typeface="Roboto"/>
                <a:ea typeface="Roboto"/>
                <a:cs typeface="Roboto"/>
              </a:rPr>
              <a:t>The State of Food Security and Nutrition in the World (SOFI)</a:t>
            </a:r>
            <a:br>
              <a:rPr lang="en-US" sz="1200" i="1" dirty="0">
                <a:latin typeface="Roboto"/>
                <a:ea typeface="Roboto"/>
                <a:cs typeface="Roboto"/>
              </a:rPr>
            </a:br>
            <a:r>
              <a:rPr lang="en-US" sz="1200" i="1" dirty="0">
                <a:latin typeface="Roboto"/>
                <a:ea typeface="Roboto"/>
                <a:cs typeface="Roboto"/>
              </a:rPr>
              <a:t>Rede Brasileira de Pesquisa </a:t>
            </a:r>
            <a:r>
              <a:rPr lang="en-US" sz="1200" i="1" dirty="0" err="1">
                <a:latin typeface="Roboto"/>
                <a:ea typeface="Roboto"/>
                <a:cs typeface="Roboto"/>
              </a:rPr>
              <a:t>em</a:t>
            </a:r>
            <a:r>
              <a:rPr lang="en-US" sz="1200" i="1" dirty="0">
                <a:latin typeface="Roboto"/>
                <a:ea typeface="Roboto"/>
                <a:cs typeface="Roboto"/>
              </a:rPr>
              <a:t> </a:t>
            </a:r>
            <a:r>
              <a:rPr lang="en-US" sz="1200" i="1" dirty="0" err="1">
                <a:latin typeface="Roboto"/>
                <a:ea typeface="Roboto"/>
                <a:cs typeface="Roboto"/>
              </a:rPr>
              <a:t>Soberania</a:t>
            </a:r>
            <a:r>
              <a:rPr lang="en-US" sz="1200" i="1" dirty="0">
                <a:latin typeface="Roboto"/>
                <a:ea typeface="Roboto"/>
                <a:cs typeface="Roboto"/>
              </a:rPr>
              <a:t> e </a:t>
            </a:r>
            <a:r>
              <a:rPr lang="en-US" sz="1200" i="1" dirty="0" err="1">
                <a:latin typeface="Roboto"/>
                <a:ea typeface="Roboto"/>
                <a:cs typeface="Roboto"/>
              </a:rPr>
              <a:t>Segurança</a:t>
            </a:r>
            <a:r>
              <a:rPr lang="en-US" sz="1200" i="1" dirty="0">
                <a:latin typeface="Roboto"/>
                <a:ea typeface="Roboto"/>
                <a:cs typeface="Roboto"/>
              </a:rPr>
              <a:t> </a:t>
            </a:r>
            <a:r>
              <a:rPr lang="en-US" sz="1200" i="1" dirty="0" err="1">
                <a:latin typeface="Roboto"/>
                <a:ea typeface="Roboto"/>
                <a:cs typeface="Roboto"/>
              </a:rPr>
              <a:t>Alimentar</a:t>
            </a:r>
            <a:r>
              <a:rPr lang="en-US" sz="1200" i="1" dirty="0">
                <a:latin typeface="Roboto"/>
                <a:ea typeface="Roboto"/>
                <a:cs typeface="Roboto"/>
              </a:rPr>
              <a:t> (PENSSAN)</a:t>
            </a:r>
            <a:endParaRPr lang="pt-BR" sz="1200" dirty="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03129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A3613C-FF15-5D0F-14FB-67E813F84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1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sz="3200" dirty="0">
                <a:latin typeface="Roboto"/>
                <a:ea typeface="Roboto"/>
                <a:cs typeface="Roboto"/>
              </a:rPr>
              <a:t> O gráfico evidencia o retorno do Brasil ao Mapa da Fome a partir do triênio 2018–2020, quando a prevalência de subnutrição ultrapassa o limite de 2,5% estabelecido pela FAO. Observa-se também o crescimento acelerado da insegurança alimentar severa e do número absoluto de pessoas em situação de fome, que atinge 33,1 milhões em 2021–2022, agravado pela pandemia de COVID-19 e pela fragilização das políticas públicas de segurança alimentar.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322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F9735-4613-4B72-0CE3-25EF5699E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8105"/>
            <a:ext cx="10515600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A0A0A"/>
                </a:solidFill>
                <a:latin typeface="Roboto"/>
                <a:ea typeface="Roboto"/>
                <a:cs typeface="Roboto"/>
              </a:rPr>
              <a:t>3. Nova Redução e Saída do Mapa (2023 a 2025)</a:t>
            </a:r>
            <a:endParaRPr lang="pt-BR" sz="32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3AFDBC-5F26-5437-2CD3-CEEF1AE84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13" y="74377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pt-BR" sz="1800" dirty="0">
                <a:solidFill>
                  <a:srgbClr val="0A0A0A"/>
                </a:solidFill>
                <a:latin typeface="Roboto"/>
                <a:ea typeface="Roboto"/>
                <a:cs typeface="Roboto"/>
              </a:rPr>
              <a:t> Relatórios mais recentes, como o SOFI 2025 (que analisa o triênio 2022-2024), indicam uma nova e rápida reversão dessa tendência. Graças à retomada de políticas sociais e programas de transferência de renda, o Brasil conseguiu reduzir o índice de subalimentação para abaixo de 2,5% novamente, saindo do Mapa da Fome pela segunda vez. Cerca de 24 milhões de pessoas saíram da situação de insegurança alimentar grave até o final de 2023. </a:t>
            </a:r>
            <a:endParaRPr lang="pt-BR" sz="1800" dirty="0"/>
          </a:p>
        </p:txBody>
      </p:sp>
      <p:pic>
        <p:nvPicPr>
          <p:cNvPr id="4" name="Imagem 3" descr="Gráfico, Gráfico de cascata&#10;&#10;O conteúdo gerado por IA pode estar incorreto.">
            <a:extLst>
              <a:ext uri="{FF2B5EF4-FFF2-40B4-BE49-F238E27FC236}">
                <a16:creationId xmlns:a16="http://schemas.microsoft.com/office/drawing/2014/main" id="{7A82D74C-217C-502C-EBC3-F87FC3483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316" y="2174283"/>
            <a:ext cx="7110654" cy="398177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519B7E2-E339-DBBB-0FE7-159E1424B564}"/>
              </a:ext>
            </a:extLst>
          </p:cNvPr>
          <p:cNvSpPr txBox="1"/>
          <p:nvPr/>
        </p:nvSpPr>
        <p:spPr>
          <a:xfrm>
            <a:off x="2865605" y="6170023"/>
            <a:ext cx="647570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1000" u="sng" dirty="0">
                <a:latin typeface="Roboto"/>
                <a:ea typeface="Roboto"/>
                <a:cs typeface="Roboto"/>
                <a:hlinkClick r:id="rId3"/>
              </a:rPr>
              <a:t>https://grabois.org.br/2025/08/13/mapa-da-fome-como-brasil-saiu-segunda-vez/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3391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5C0E1A-4998-866D-8A7D-C1A2F673B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272"/>
            <a:ext cx="10515600" cy="555036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pt-BR" sz="2400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  O período entre 2023 e 2025 marca uma inflexão significativa no quadro da fome no Brasil. Após anos de agravamento, a retomada de políticas públicas de segurança alimentar, aliada à ampliação de programas de transferência de renda e valorização do salário-mínimo, resultou em uma rápida redução da subnutrição e da insegurança alimentar severa. Dados do SOFI indicam que o país voltou a apresentar índices de subalimentação inferiores a 2,5%, permitindo sua segunda saída do Mapa da Fome. </a:t>
            </a:r>
          </a:p>
          <a:p>
            <a:pPr algn="just">
              <a:buNone/>
            </a:pPr>
            <a:r>
              <a:rPr lang="pt-BR" sz="2400" b="1" dirty="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  A retirada de cerca de 24 milhões de pessoas da situação de fome grave até o final de 2023 evidencia o papel decisivo das políticas estatais na garantia do direito humano à alimentação adequada. No entanto, a experiência recente demonstra que tais avanços não são irreversíveis, reforçando a necessidade de políticas contínuas e estruturantes para evitar novos retrocessos.</a:t>
            </a:r>
          </a:p>
          <a:p>
            <a:pPr marL="0" indent="0">
              <a:buNone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272761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8B59B-4225-6A01-AF50-9878C3B3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69"/>
            <a:ext cx="10515600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latin typeface="Roboto"/>
                <a:ea typeface="Roboto"/>
                <a:cs typeface="Roboto"/>
              </a:rPr>
              <a:t>Desafios Atuais</a:t>
            </a:r>
            <a:endParaRPr lang="pt-BR" sz="3200" dirty="0">
              <a:latin typeface="Roboto"/>
              <a:ea typeface="Roboto"/>
              <a:cs typeface="Roboto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E81B98-DCF2-42DE-28CF-A1EB331FC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88" y="132136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pt-BR" dirty="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  Apesar da saída do mapa, que é um marco estatístico, a insegurança alimentar moderada ou grave ainda afeta milhões de brasileiros (cerca de 28 milhões, segundo dados de 2025). Além disso, o custo de uma dieta saudável permanece elevado para grande parte da população, e o sobrepeso e a obesidade são preocupações crescentes, afetando cerca de 60% dos adultos. </a:t>
            </a:r>
          </a:p>
          <a:p>
            <a:pPr algn="just">
              <a:buNone/>
            </a:pPr>
            <a:r>
              <a:rPr lang="pt-BR" dirty="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  Mais informações podem ser encontradas nos relatórios oficiais no site da </a:t>
            </a:r>
            <a:r>
              <a:rPr lang="pt-BR" u="sng" dirty="0">
                <a:highlight>
                  <a:srgbClr val="FFFFFF"/>
                </a:highlight>
                <a:latin typeface="Roboto"/>
                <a:ea typeface="Roboto"/>
                <a:cs typeface="Roboto"/>
                <a:hlinkClick r:id="rId2"/>
              </a:rPr>
              <a:t>Organização das Nações Unidas para Alimentação e Agricultura (FAO)</a:t>
            </a:r>
            <a:r>
              <a:rPr lang="pt-BR" dirty="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1549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C4764-9F27-C1B0-43C8-B38334A4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69"/>
            <a:ext cx="10515600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F4761"/>
                </a:solidFill>
                <a:highlight>
                  <a:srgbClr val="FFFFFF"/>
                </a:highlight>
                <a:latin typeface="Aptos"/>
              </a:rPr>
              <a:t>Síntese conclusiva</a:t>
            </a:r>
            <a:endParaRPr lang="pt-BR" sz="3200" dirty="0">
              <a:solidFill>
                <a:srgbClr val="0F4761"/>
              </a:solidFill>
              <a:highlight>
                <a:srgbClr val="FFFFFF"/>
              </a:highlight>
              <a:latin typeface="Apto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16F905-0FFE-D041-825C-2737D73D3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5" y="1119654"/>
            <a:ext cx="10515600" cy="502369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pt-BR" sz="1800" dirty="0">
                <a:highlight>
                  <a:srgbClr val="FFFFFF"/>
                </a:highlight>
              </a:rPr>
              <a:t>  O estudo da Prevalência de Subalimentação no Brasil, utilizando dados da FAO/ONU no período de </a:t>
            </a:r>
            <a:r>
              <a:rPr lang="pt-BR" sz="1800" b="1" dirty="0">
                <a:highlight>
                  <a:srgbClr val="FFFFFF"/>
                </a:highlight>
              </a:rPr>
              <a:t>2000 a 2025</a:t>
            </a:r>
            <a:r>
              <a:rPr lang="pt-BR" sz="1800" dirty="0">
                <a:highlight>
                  <a:srgbClr val="FFFFFF"/>
                </a:highlight>
              </a:rPr>
              <a:t>, revela que a trajetória do país no combate à fome é um reflexo direto da </a:t>
            </a:r>
            <a:r>
              <a:rPr lang="pt-BR" sz="1800" b="1" dirty="0">
                <a:highlight>
                  <a:srgbClr val="FFFFFF"/>
                </a:highlight>
              </a:rPr>
              <a:t>continuidade e do investimento em políticas sociais estruturais</a:t>
            </a:r>
            <a:r>
              <a:rPr lang="pt-BR" sz="1800" dirty="0">
                <a:highlight>
                  <a:srgbClr val="FFFFFF"/>
                </a:highlight>
              </a:rPr>
              <a:t>.</a:t>
            </a:r>
          </a:p>
          <a:p>
            <a:pPr algn="just">
              <a:buFont typeface="Arial"/>
              <a:buChar char="•"/>
            </a:pPr>
            <a:r>
              <a:rPr lang="pt-BR" sz="1800" b="1" dirty="0">
                <a:highlight>
                  <a:srgbClr val="FFFFFF"/>
                </a:highlight>
              </a:rPr>
              <a:t>Fase de Sucesso (2000-2014):</a:t>
            </a:r>
            <a:r>
              <a:rPr lang="pt-BR" sz="1800" dirty="0">
                <a:highlight>
                  <a:srgbClr val="FFFFFF"/>
                </a:highlight>
              </a:rPr>
              <a:t> A saída do Brasil do Mapa da Fome em 2014 foi um feito histórico, impulsionado pela eficácia de programas como o </a:t>
            </a:r>
            <a:r>
              <a:rPr lang="pt-BR" sz="1800" i="1" dirty="0">
                <a:highlight>
                  <a:srgbClr val="FFFFFF"/>
                </a:highlight>
              </a:rPr>
              <a:t>Fome Zero</a:t>
            </a:r>
            <a:r>
              <a:rPr lang="pt-BR" sz="1800" dirty="0">
                <a:highlight>
                  <a:srgbClr val="FFFFFF"/>
                </a:highlight>
              </a:rPr>
              <a:t> e o </a:t>
            </a:r>
            <a:r>
              <a:rPr lang="pt-BR" sz="1800" i="1" dirty="0">
                <a:highlight>
                  <a:srgbClr val="FFFFFF"/>
                </a:highlight>
              </a:rPr>
              <a:t>Bolsa Família</a:t>
            </a:r>
            <a:r>
              <a:rPr lang="pt-BR" sz="1800" dirty="0">
                <a:highlight>
                  <a:srgbClr val="FFFFFF"/>
                </a:highlight>
              </a:rPr>
              <a:t>, demonstrando que a redução da pobreza e o aumento da renda são fatores determinantes para a segurança alimentar.</a:t>
            </a:r>
          </a:p>
          <a:p>
            <a:pPr algn="just">
              <a:buFont typeface="Arial"/>
              <a:buChar char="•"/>
            </a:pPr>
            <a:r>
              <a:rPr lang="pt-BR" sz="1800" b="1" dirty="0">
                <a:highlight>
                  <a:srgbClr val="FFFFFF"/>
                </a:highlight>
              </a:rPr>
              <a:t>Fase de Retrocesso (2015-2021):</a:t>
            </a:r>
            <a:r>
              <a:rPr lang="pt-BR" sz="1800" dirty="0">
                <a:highlight>
                  <a:srgbClr val="FFFFFF"/>
                </a:highlight>
              </a:rPr>
              <a:t> O subsequente retorno ao Mapa da Fome evidenciou a </a:t>
            </a:r>
            <a:r>
              <a:rPr lang="pt-BR" sz="1800" b="1" dirty="0">
                <a:highlight>
                  <a:srgbClr val="FFFFFF"/>
                </a:highlight>
              </a:rPr>
              <a:t>fragilidade das conquistas sociais</a:t>
            </a:r>
            <a:r>
              <a:rPr lang="pt-BR" sz="1800" dirty="0">
                <a:highlight>
                  <a:srgbClr val="FFFFFF"/>
                </a:highlight>
              </a:rPr>
              <a:t> diante de crises econômicas e desarticulação das políticas de proteção, provando que a fome é um problema que ressurge rapidamente na ausência de vigilância e investimento contínuos.</a:t>
            </a:r>
          </a:p>
          <a:p>
            <a:pPr algn="just">
              <a:buFont typeface="Arial"/>
              <a:buChar char="•"/>
            </a:pPr>
            <a:r>
              <a:rPr lang="pt-BR" sz="1800" b="1" dirty="0">
                <a:highlight>
                  <a:srgbClr val="FFFFFF"/>
                </a:highlight>
              </a:rPr>
              <a:t>Aprendizado e Recuperação (Pós-2022):</a:t>
            </a:r>
            <a:r>
              <a:rPr lang="pt-BR" sz="1800" dirty="0">
                <a:highlight>
                  <a:srgbClr val="FFFFFF"/>
                </a:highlight>
              </a:rPr>
              <a:t> A recente reversão da tendência, com projeções de nova saída do Mapa, reitera a necessidade de um </a:t>
            </a:r>
            <a:r>
              <a:rPr lang="pt-BR" sz="1800" b="1" dirty="0">
                <a:highlight>
                  <a:srgbClr val="FFFFFF"/>
                </a:highlight>
              </a:rPr>
              <a:t>compromisso político ininterrupto</a:t>
            </a:r>
            <a:r>
              <a:rPr lang="pt-BR" sz="1800" dirty="0">
                <a:highlight>
                  <a:srgbClr val="FFFFFF"/>
                </a:highlight>
              </a:rPr>
              <a:t> com a proteção social e o fortalecimento da agricultura familiar.</a:t>
            </a:r>
          </a:p>
          <a:p>
            <a:pPr indent="0" algn="just">
              <a:buNone/>
            </a:pPr>
            <a:r>
              <a:rPr lang="pt-BR" sz="1800" b="1" dirty="0">
                <a:highlight>
                  <a:srgbClr val="FFFFFF"/>
                </a:highlight>
              </a:rPr>
              <a:t>A lição central é:</a:t>
            </a:r>
            <a:r>
              <a:rPr lang="pt-BR" sz="1800" dirty="0">
                <a:highlight>
                  <a:srgbClr val="FFFFFF"/>
                </a:highlight>
              </a:rPr>
              <a:t> O Brasil sabe como erradicar a fome, mas manter a segurança alimentar exige estabilidade no financiamento, combate contínuo à desigualdade estrutural e o foco em garantir não apenas calorias, mas o acesso a uma dieta nutricionalmente adequada para toda a população.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3363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F52B4-F4B4-959C-7ED9-BF07C9F4A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969"/>
            <a:ext cx="10515600" cy="1325563"/>
          </a:xfrm>
        </p:spPr>
        <p:txBody>
          <a:bodyPr>
            <a:normAutofit/>
          </a:bodyPr>
          <a:lstStyle/>
          <a:p>
            <a:r>
              <a:rPr lang="pt-BR" sz="2000" dirty="0">
                <a:highlight>
                  <a:srgbClr val="FFFFFF"/>
                </a:highlight>
                <a:latin typeface="Aptos"/>
              </a:rPr>
              <a:t>Referencias:</a:t>
            </a:r>
            <a:endParaRPr lang="pt-BR" sz="2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400374-DC4D-21E8-B9E4-394D0DCF7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12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pt-BR" sz="1400" b="1" dirty="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(Anos 2000 a 2014)</a:t>
            </a:r>
            <a:endParaRPr lang="pt-BR" sz="1400" dirty="0">
              <a:solidFill>
                <a:srgbClr val="0A0A0A"/>
              </a:solidFill>
              <a:highlight>
                <a:srgbClr val="FFFFFF"/>
              </a:highlight>
              <a:latin typeface="Roboto"/>
              <a:ea typeface="Roboto"/>
              <a:cs typeface="Roboto"/>
            </a:endParaRPr>
          </a:p>
          <a:p>
            <a:pPr algn="just">
              <a:buNone/>
            </a:pPr>
            <a:r>
              <a:rPr lang="pt-BR" sz="1400" u="sng" dirty="0">
                <a:highlight>
                  <a:srgbClr val="FFFFFF"/>
                </a:highlight>
                <a:hlinkClick r:id="rId2"/>
              </a:rPr>
              <a:t>https://www.gov.br/mds/pt-br/acoes-e-programas/brasil-sem-fome/balanco/balanco_atualizado_mapa_da_fome.pdf?utm_source=chatgpt.com</a:t>
            </a:r>
            <a:endParaRPr lang="pt-BR" sz="1400" dirty="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algn="just">
              <a:buNone/>
            </a:pPr>
            <a:r>
              <a:rPr lang="pt-BR" sz="1400" b="1" dirty="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(2015 a 2022)</a:t>
            </a:r>
            <a:endParaRPr lang="pt-BR" sz="1400">
              <a:solidFill>
                <a:srgbClr val="0A0A0A"/>
              </a:solidFill>
              <a:highlight>
                <a:srgbClr val="FFFFFF"/>
              </a:highlight>
              <a:latin typeface="Roboto"/>
              <a:ea typeface="Roboto"/>
              <a:cs typeface="Roboto"/>
            </a:endParaRPr>
          </a:p>
          <a:p>
            <a:pPr algn="just">
              <a:buNone/>
            </a:pPr>
            <a:r>
              <a:rPr lang="pt-BR" sz="1400" u="sng" dirty="0">
                <a:highlight>
                  <a:srgbClr val="FFFFFF"/>
                </a:highlight>
                <a:hlinkClick r:id="rId3"/>
              </a:rPr>
              <a:t>https://www.gov.br/mds/pt-br/acoes-e-programas/brasil-sem-fome/balanco/2024/relatorio_balanco_pt.pdf?utm_source=chatgpt.com</a:t>
            </a:r>
            <a:endParaRPr lang="pt-BR" sz="1400" dirty="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algn="just">
              <a:buNone/>
            </a:pPr>
            <a:r>
              <a:rPr lang="pt-BR" sz="1400" b="1" dirty="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</a:rPr>
              <a:t>(2023 a 2025)</a:t>
            </a:r>
            <a:endParaRPr lang="pt-BR" sz="1400">
              <a:solidFill>
                <a:srgbClr val="0A0A0A"/>
              </a:solidFill>
              <a:highlight>
                <a:srgbClr val="FFFFFF"/>
              </a:highlight>
              <a:latin typeface="Roboto"/>
              <a:ea typeface="Roboto"/>
              <a:cs typeface="Roboto"/>
            </a:endParaRPr>
          </a:p>
          <a:p>
            <a:pPr algn="just">
              <a:buNone/>
            </a:pPr>
            <a:r>
              <a:rPr lang="pt-BR" sz="1400" u="sng" dirty="0">
                <a:highlight>
                  <a:srgbClr val="FFFFFF"/>
                </a:highlight>
                <a:hlinkClick r:id="rId4"/>
              </a:rPr>
              <a:t>https://www.gov.br/secom/pt-br/assuntos/noticias/2025/10/brasil-volta-ao-menor-patamar-de-fome-da-historia</a:t>
            </a:r>
            <a:endParaRPr lang="pt-BR" sz="1400" dirty="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algn="just">
              <a:buNone/>
            </a:pPr>
            <a:endParaRPr lang="pt-BR" sz="1400" dirty="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algn="just">
              <a:buNone/>
            </a:pPr>
            <a:r>
              <a:rPr lang="pt-BR" sz="1400" u="sng" dirty="0">
                <a:highlight>
                  <a:srgbClr val="FFFFFF"/>
                </a:highlight>
                <a:hlinkClick r:id="rId5"/>
              </a:rPr>
              <a:t>https://www.indexmundi.com/facts/brazil/indicator/SN.ITK.DEFC.ZS?utm_source=chatgpt.com</a:t>
            </a:r>
            <a:endParaRPr lang="pt-BR" sz="1400" dirty="0">
              <a:highlight>
                <a:srgbClr val="FFFFFF"/>
              </a:highlight>
            </a:endParaRPr>
          </a:p>
          <a:p>
            <a:pPr algn="just">
              <a:buNone/>
            </a:pPr>
            <a:r>
              <a:rPr lang="pt-BR" sz="1400" u="sng" dirty="0">
                <a:highlight>
                  <a:srgbClr val="FFFFFF"/>
                </a:highlight>
                <a:latin typeface="Roboto"/>
                <a:ea typeface="Roboto"/>
                <a:cs typeface="Roboto"/>
                <a:hlinkClick r:id="rId6"/>
              </a:rPr>
              <a:t>https://grabois.org.br/2025/08/13/mapa-da-fome-como-brasil-saiu-segunda-vez/</a:t>
            </a:r>
            <a:endParaRPr lang="pt-BR" sz="1400">
              <a:solidFill>
                <a:srgbClr val="0A0A0A"/>
              </a:solidFill>
              <a:highlight>
                <a:srgbClr val="FFFFFF"/>
              </a:highlight>
              <a:latin typeface="Roboto"/>
              <a:ea typeface="Roboto"/>
              <a:cs typeface="Roboto"/>
            </a:endParaRPr>
          </a:p>
          <a:p>
            <a:pPr algn="just">
              <a:buNone/>
            </a:pPr>
            <a:r>
              <a:rPr lang="pt-BR" sz="1400" dirty="0">
                <a:highlight>
                  <a:srgbClr val="FFFFFF"/>
                </a:highlight>
              </a:rPr>
              <a:t>Chat GPT</a:t>
            </a:r>
          </a:p>
          <a:p>
            <a:pPr algn="just">
              <a:buNone/>
            </a:pPr>
            <a:r>
              <a:rPr lang="pt-BR" sz="1400" dirty="0">
                <a:highlight>
                  <a:srgbClr val="FFFFFF"/>
                </a:highlight>
              </a:rPr>
              <a:t>Google AI</a:t>
            </a:r>
          </a:p>
          <a:p>
            <a:pPr algn="just">
              <a:buNone/>
            </a:pPr>
            <a:r>
              <a:rPr lang="pt-BR" sz="1400" dirty="0">
                <a:highlight>
                  <a:srgbClr val="FFFFFF"/>
                </a:highlight>
              </a:rPr>
              <a:t>Gemini</a:t>
            </a:r>
          </a:p>
          <a:p>
            <a:pPr algn="just">
              <a:buNone/>
            </a:pPr>
            <a:endParaRPr lang="pt-BR" sz="1200" dirty="0"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1804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494873D7-6163-4CA3-1C0C-8F46B6F1D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350" y="1367925"/>
            <a:ext cx="4163175" cy="410714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4657ACC-4476-AF62-CBDE-D7B6343093C8}"/>
              </a:ext>
            </a:extLst>
          </p:cNvPr>
          <p:cNvSpPr txBox="1"/>
          <p:nvPr/>
        </p:nvSpPr>
        <p:spPr>
          <a:xfrm>
            <a:off x="3766100" y="578974"/>
            <a:ext cx="419844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/>
              <a:t>Página interativa do relatório</a:t>
            </a:r>
          </a:p>
        </p:txBody>
      </p:sp>
    </p:spTree>
    <p:extLst>
      <p:ext uri="{BB962C8B-B14F-4D97-AF65-F5344CB8AC3E}">
        <p14:creationId xmlns:p14="http://schemas.microsoft.com/office/powerpoint/2010/main" val="2112088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Tema do Office</vt:lpstr>
      <vt:lpstr>Apresentação do PowerPoint</vt:lpstr>
      <vt:lpstr>Apresentação do PowerPoint</vt:lpstr>
      <vt:lpstr>Insegurança alimentar (2000/2025)</vt:lpstr>
      <vt:lpstr>Sumário</vt:lpstr>
      <vt:lpstr>Introdução  Definição e Conceitualização da Fome</vt:lpstr>
      <vt:lpstr>Panorama da Fome no Brasil (2000–2025) com Dados da FAO/ONU</vt:lpstr>
      <vt:lpstr>A Trajetória em Três Fases</vt:lpstr>
      <vt:lpstr>Apresentação do PowerPoint</vt:lpstr>
      <vt:lpstr>2. Retorno e Agravamento da Fome (2015 a 2022)</vt:lpstr>
      <vt:lpstr>Apresentação do PowerPoint</vt:lpstr>
      <vt:lpstr>3. Nova Redução e Saída do Mapa (2023 a 2025)</vt:lpstr>
      <vt:lpstr>Apresentação do PowerPoint</vt:lpstr>
      <vt:lpstr>Desafios Atuais</vt:lpstr>
      <vt:lpstr>Síntese conclusiva</vt:lpstr>
      <vt:lpstr>Referencias: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250</cp:revision>
  <dcterms:created xsi:type="dcterms:W3CDTF">2025-12-16T06:21:04Z</dcterms:created>
  <dcterms:modified xsi:type="dcterms:W3CDTF">2025-12-17T06:09:20Z</dcterms:modified>
</cp:coreProperties>
</file>