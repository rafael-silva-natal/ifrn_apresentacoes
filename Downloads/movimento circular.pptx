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E32529-2421-479C-A863-1AB3B90DAA54}" v="121" dt="2026-07-04T01:16:18.967"/>
    <p1510:client id="{449555A4-7738-708D-E304-C255CAC6CB6E}" v="241" dt="2026-07-04T19:56:01.378"/>
    <p1510:client id="{7CBF116B-B7F2-428D-A735-B16F5C8021ED}" v="102" dt="2026-07-04T15:59:00.935"/>
    <p1510:client id="{F4F308FE-8DD4-FB0E-BB31-80ECA471B954}" v="5" dt="2026-07-04T17:52: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04.07.2026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04.07.2026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3F32A9F-D580-C60A-43BE-B43599C1E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857" y="153970"/>
            <a:ext cx="6393544" cy="130314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7E5D614-462D-C3EB-E984-E79A06786CD8}"/>
              </a:ext>
            </a:extLst>
          </p:cNvPr>
          <p:cNvSpPr txBox="1"/>
          <p:nvPr/>
        </p:nvSpPr>
        <p:spPr>
          <a:xfrm>
            <a:off x="4004799" y="1462698"/>
            <a:ext cx="4143828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000">
                <a:highlight>
                  <a:srgbClr val="FFFFFF"/>
                </a:highlight>
                <a:latin typeface="Aptos"/>
                <a:cs typeface="Times New Roman"/>
              </a:rPr>
              <a:t>DIAC</a:t>
            </a:r>
            <a:endParaRPr lang="pt-BR" sz="2000">
              <a:highlight>
                <a:srgbClr val="C6C6C6"/>
              </a:highlight>
              <a:latin typeface="Aptos"/>
              <a:cs typeface="Times New Roman"/>
            </a:endParaRPr>
          </a:p>
          <a:p>
            <a:pPr algn="ctr"/>
            <a:r>
              <a:rPr lang="pt-BR" sz="1600" b="1">
                <a:highlight>
                  <a:srgbClr val="FFFFFF"/>
                </a:highlight>
                <a:latin typeface="Times New Roman"/>
                <a:cs typeface="Times New Roman"/>
              </a:rPr>
              <a:t>Curso:  Licenciatura em Física</a:t>
            </a:r>
            <a:endParaRPr lang="pt-BR" sz="1600" b="1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algn="ctr"/>
            <a:r>
              <a:rPr lang="pt-BR" sz="1600" b="1">
                <a:highlight>
                  <a:srgbClr val="FFFFFF"/>
                </a:highlight>
                <a:latin typeface="Times New Roman"/>
                <a:cs typeface="Times New Roman"/>
              </a:rPr>
              <a:t>Disciplina:  Mecânica 1</a:t>
            </a:r>
            <a:endParaRPr lang="pt-BR" sz="16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algn="ctr"/>
            <a:r>
              <a:rPr lang="pt-BR" sz="1600" b="1" dirty="0">
                <a:highlight>
                  <a:srgbClr val="FFFFFF"/>
                </a:highlight>
                <a:latin typeface="Times New Roman"/>
                <a:cs typeface="Times New Roman"/>
              </a:rPr>
              <a:t>Professor: Caio </a:t>
            </a:r>
            <a:r>
              <a:rPr lang="pt-BR" sz="1600" b="1" dirty="0" err="1">
                <a:highlight>
                  <a:srgbClr val="FFFFFF"/>
                </a:highlight>
                <a:latin typeface="Times New Roman"/>
                <a:cs typeface="Times New Roman"/>
              </a:rPr>
              <a:t>Grago</a:t>
            </a:r>
            <a:endParaRPr lang="pt-BR" sz="1600" b="1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algn="ctr"/>
            <a:r>
              <a:rPr lang="pt-BR" sz="1600" b="1">
                <a:highlight>
                  <a:srgbClr val="FFFFFF"/>
                </a:highlight>
                <a:latin typeface="Times New Roman"/>
                <a:cs typeface="Times New Roman"/>
              </a:rPr>
              <a:t>Semestre letivo: 2026.2</a:t>
            </a:r>
            <a:endParaRPr lang="pt-BR" sz="1600" b="1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algn="ctr"/>
            <a:r>
              <a:rPr lang="pt-BR" sz="1600" b="1">
                <a:highlight>
                  <a:srgbClr val="FFFFFF"/>
                </a:highlight>
                <a:latin typeface="Times New Roman"/>
                <a:cs typeface="Times New Roman"/>
              </a:rPr>
              <a:t>Aluno: Rafael Bruno da Silva</a:t>
            </a:r>
            <a:endParaRPr lang="pt-BR" sz="1600" b="1">
              <a:highlight>
                <a:srgbClr val="C6C6C6"/>
              </a:highlight>
              <a:latin typeface="Times New Roman"/>
              <a:cs typeface="Times New Roman"/>
            </a:endParaRPr>
          </a:p>
          <a:p>
            <a:pPr algn="l"/>
            <a:endParaRPr lang="pt-BR" dirty="0"/>
          </a:p>
        </p:txBody>
      </p:sp>
      <p:pic>
        <p:nvPicPr>
          <p:cNvPr id="7" name="Imagem 6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A1D109C7-B691-B0C8-01B5-4752B19B5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3430587"/>
            <a:ext cx="1090612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E71EDB-982E-57BB-ED0A-66F94E53E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000" y="285296"/>
            <a:ext cx="2794001" cy="781278"/>
          </a:xfrm>
        </p:spPr>
        <p:txBody>
          <a:bodyPr/>
          <a:lstStyle/>
          <a:p>
            <a:r>
              <a:rPr lang="pt-BR"/>
              <a:t>Introdução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D0F73B60-272C-4B0F-7403-950207FF3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8484" y="1067822"/>
            <a:ext cx="8875031" cy="2419803"/>
          </a:xfrm>
          <a:prstGeom prst="rect">
            <a:avLst/>
          </a:prstGeom>
        </p:spPr>
      </p:pic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D13FEBDA-9097-0A75-766E-9043D3686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785" y="3890736"/>
            <a:ext cx="3305175" cy="2400300"/>
          </a:xfrm>
          <a:prstGeom prst="rect">
            <a:avLst/>
          </a:prstGeom>
        </p:spPr>
      </p:pic>
      <p:pic>
        <p:nvPicPr>
          <p:cNvPr id="6" name="Imagem 5" descr="Uma imagem contendo peças de metal, equipamento, moto, velho&#10;&#10;O conteúdo gerado por IA pode estar incorreto.">
            <a:extLst>
              <a:ext uri="{FF2B5EF4-FFF2-40B4-BE49-F238E27FC236}">
                <a16:creationId xmlns:a16="http://schemas.microsoft.com/office/drawing/2014/main" id="{805FF01F-2A5D-4837-FB11-39C70D6E4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5743" y="3787775"/>
            <a:ext cx="1923144" cy="260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35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6BC5C97-E6DF-C281-276F-CD41CB861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7" y="-2721"/>
            <a:ext cx="5357585" cy="1101271"/>
          </a:xfrm>
          <a:prstGeom prst="rect">
            <a:avLst/>
          </a:prstGeom>
        </p:spPr>
      </p:pic>
      <p:pic>
        <p:nvPicPr>
          <p:cNvPr id="2" name="Imagem 1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E579363F-994D-7FFF-ABDA-0D47B0C13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01" y="974952"/>
            <a:ext cx="5722709" cy="3050268"/>
          </a:xfrm>
          <a:prstGeom prst="rect">
            <a:avLst/>
          </a:prstGeom>
        </p:spPr>
      </p:pic>
      <p:pic>
        <p:nvPicPr>
          <p:cNvPr id="3" name="Imagem 2" descr="Texto, Carta&#10;&#10;O conteúdo gerado por IA pode estar incorreto.">
            <a:extLst>
              <a:ext uri="{FF2B5EF4-FFF2-40B4-BE49-F238E27FC236}">
                <a16:creationId xmlns:a16="http://schemas.microsoft.com/office/drawing/2014/main" id="{6EFF348D-DC2B-6EEB-6612-1A033D8DB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79" y="4031117"/>
            <a:ext cx="5111296" cy="2395310"/>
          </a:xfrm>
          <a:prstGeom prst="rect">
            <a:avLst/>
          </a:prstGeom>
        </p:spPr>
      </p:pic>
      <p:pic>
        <p:nvPicPr>
          <p:cNvPr id="5" name="Imagem 4" descr="Texto, Carta&#10;&#10;O conteúdo gerado por IA pode estar incorreto.">
            <a:extLst>
              <a:ext uri="{FF2B5EF4-FFF2-40B4-BE49-F238E27FC236}">
                <a16:creationId xmlns:a16="http://schemas.microsoft.com/office/drawing/2014/main" id="{734A454E-EBA4-AA75-F7FF-24C4E5B1CC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995" y="356054"/>
            <a:ext cx="5876925" cy="2952750"/>
          </a:xfrm>
          <a:prstGeom prst="rect">
            <a:avLst/>
          </a:prstGeom>
        </p:spPr>
      </p:pic>
      <p:pic>
        <p:nvPicPr>
          <p:cNvPr id="6" name="Imagem 5" descr="Gráfico, Gráfico de pizza&#10;&#10;O conteúdo gerado por IA pode estar incorreto.">
            <a:extLst>
              <a:ext uri="{FF2B5EF4-FFF2-40B4-BE49-F238E27FC236}">
                <a16:creationId xmlns:a16="http://schemas.microsoft.com/office/drawing/2014/main" id="{4CB738D5-D330-ADF2-299A-5FCC485F24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545" y="3658734"/>
            <a:ext cx="469582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27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4BBAE6D-A14B-6847-C326-95AAA1571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68" y="3629"/>
            <a:ext cx="5193392" cy="732971"/>
          </a:xfrm>
          <a:prstGeom prst="rect">
            <a:avLst/>
          </a:prstGeom>
        </p:spPr>
      </p:pic>
      <p:pic>
        <p:nvPicPr>
          <p:cNvPr id="2" name="Imagem 1" descr="Tela de celular com publicação numa rede social&#10;&#10;O conteúdo gerado por IA pode estar incorreto.">
            <a:extLst>
              <a:ext uri="{FF2B5EF4-FFF2-40B4-BE49-F238E27FC236}">
                <a16:creationId xmlns:a16="http://schemas.microsoft.com/office/drawing/2014/main" id="{7F865157-12CC-0AC7-1CF1-83011FFD8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09" y="775608"/>
            <a:ext cx="5474153" cy="2345871"/>
          </a:xfrm>
          <a:prstGeom prst="rect">
            <a:avLst/>
          </a:prstGeom>
        </p:spPr>
      </p:pic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5BC438D0-B01D-D865-12B7-810577AFF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83" y="3153682"/>
            <a:ext cx="5467350" cy="2306864"/>
          </a:xfrm>
          <a:prstGeom prst="rect">
            <a:avLst/>
          </a:prstGeom>
        </p:spPr>
      </p:pic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5C953F0F-1C70-4943-9691-B1552E1C3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597" y="5477555"/>
            <a:ext cx="5042807" cy="1215118"/>
          </a:xfrm>
          <a:prstGeom prst="rect">
            <a:avLst/>
          </a:prstGeom>
        </p:spPr>
      </p:pic>
      <p:pic>
        <p:nvPicPr>
          <p:cNvPr id="6" name="Imagem 5" descr="Gráfico, Gráfico de radar&#10;&#10;O conteúdo gerado por IA pode estar incorreto.">
            <a:extLst>
              <a:ext uri="{FF2B5EF4-FFF2-40B4-BE49-F238E27FC236}">
                <a16:creationId xmlns:a16="http://schemas.microsoft.com/office/drawing/2014/main" id="{130EBCE2-C267-274F-3E90-288521D79F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640" y="593725"/>
            <a:ext cx="592455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80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CB82571-0C05-D73D-A78C-3942C4DFE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07"/>
            <a:ext cx="6066971" cy="850900"/>
          </a:xfrm>
          <a:prstGeom prst="rect">
            <a:avLst/>
          </a:prstGeom>
        </p:spPr>
      </p:pic>
      <p:pic>
        <p:nvPicPr>
          <p:cNvPr id="2" name="Imagem 1" descr="Gráfico&#10;&#10;O conteúdo gerado por IA pode estar incorreto.">
            <a:extLst>
              <a:ext uri="{FF2B5EF4-FFF2-40B4-BE49-F238E27FC236}">
                <a16:creationId xmlns:a16="http://schemas.microsoft.com/office/drawing/2014/main" id="{E1881819-0A1D-AED5-A0E3-BBF81F65B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8" y="847499"/>
            <a:ext cx="5953125" cy="5743575"/>
          </a:xfrm>
          <a:prstGeom prst="rect">
            <a:avLst/>
          </a:prstGeom>
        </p:spPr>
      </p:pic>
      <p:pic>
        <p:nvPicPr>
          <p:cNvPr id="3" name="Imagem 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F530F785-F10D-EF53-0DC7-73847DD80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732" y="846592"/>
            <a:ext cx="5810250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272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exto&#10;&#10;O conteúdo gerado por IA pode estar incorreto.">
            <a:extLst>
              <a:ext uri="{FF2B5EF4-FFF2-40B4-BE49-F238E27FC236}">
                <a16:creationId xmlns:a16="http://schemas.microsoft.com/office/drawing/2014/main" id="{D27E4893-74ED-EF65-E5BA-E8E6C2A57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23" y="552223"/>
            <a:ext cx="5953125" cy="5114925"/>
          </a:xfrm>
          <a:prstGeom prst="rect">
            <a:avLst/>
          </a:prstGeom>
        </p:spPr>
      </p:pic>
      <p:pic>
        <p:nvPicPr>
          <p:cNvPr id="3" name="Imagem 2" descr="Texto, Aplicativo&#10;&#10;O conteúdo gerado por IA pode estar incorreto.">
            <a:extLst>
              <a:ext uri="{FF2B5EF4-FFF2-40B4-BE49-F238E27FC236}">
                <a16:creationId xmlns:a16="http://schemas.microsoft.com/office/drawing/2014/main" id="{CEB1E7A2-A3B5-45C2-B79A-03EB05C9B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726" y="1330098"/>
            <a:ext cx="589597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23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4F5D9604-7297-DF24-6CB3-361531843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42" y="764722"/>
            <a:ext cx="7707085" cy="4994728"/>
          </a:xfrm>
          <a:prstGeom prst="rect">
            <a:avLst/>
          </a:prstGeom>
        </p:spPr>
      </p:pic>
      <p:pic>
        <p:nvPicPr>
          <p:cNvPr id="5" name="Imagem 4" descr="Pessoas em quadra de tênis&#10;&#10;O conteúdo gerado por IA pode estar incorreto.">
            <a:extLst>
              <a:ext uri="{FF2B5EF4-FFF2-40B4-BE49-F238E27FC236}">
                <a16:creationId xmlns:a16="http://schemas.microsoft.com/office/drawing/2014/main" id="{BBAD9DDA-3E08-ECD1-7FD2-2B81A4BD5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669" y="766536"/>
            <a:ext cx="3689803" cy="2712358"/>
          </a:xfrm>
          <a:prstGeom prst="rect">
            <a:avLst/>
          </a:prstGeom>
        </p:spPr>
      </p:pic>
      <p:pic>
        <p:nvPicPr>
          <p:cNvPr id="6" name="Imagem 5" descr="Diagrama, Esquemático&#10;&#10;O conteúdo gerado por IA pode estar incorreto.">
            <a:extLst>
              <a:ext uri="{FF2B5EF4-FFF2-40B4-BE49-F238E27FC236}">
                <a16:creationId xmlns:a16="http://schemas.microsoft.com/office/drawing/2014/main" id="{2E182094-F1DB-1E33-C0BC-A10A9B447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7161" y="3722688"/>
            <a:ext cx="3350079" cy="203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025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5B8C864-DD47-D872-07BD-0EDD82BC0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46" y="1361"/>
            <a:ext cx="4148364" cy="1216478"/>
          </a:xfrm>
          <a:prstGeom prst="rect">
            <a:avLst/>
          </a:prstGeom>
        </p:spPr>
      </p:pic>
      <p:pic>
        <p:nvPicPr>
          <p:cNvPr id="2" name="Imagem 1" descr="Texto&#10;&#10;O conteúdo gerado por IA pode estar incorreto.">
            <a:extLst>
              <a:ext uri="{FF2B5EF4-FFF2-40B4-BE49-F238E27FC236}">
                <a16:creationId xmlns:a16="http://schemas.microsoft.com/office/drawing/2014/main" id="{B0BEA088-BD4E-F236-4A1E-A6F7202FE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32" y="1400630"/>
            <a:ext cx="11234963" cy="378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269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60D8A-78A7-97CE-AA5C-0AC7D43DF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95AC2B-14C1-6B86-9747-37A1F6EF1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1706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Diagrama&#10;&#10;O conteúdo gerado por IA pode estar incorreto.">
            <a:extLst>
              <a:ext uri="{FF2B5EF4-FFF2-40B4-BE49-F238E27FC236}">
                <a16:creationId xmlns:a16="http://schemas.microsoft.com/office/drawing/2014/main" id="{F64E7B9F-D0CA-1C36-6C81-5B0F26755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89" y="546328"/>
            <a:ext cx="10864849" cy="576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3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1D3C9348-E21F-94C6-25EB-404BB9400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" y="4083"/>
            <a:ext cx="5989410" cy="6857090"/>
          </a:xfrm>
          <a:prstGeom prst="rect">
            <a:avLst/>
          </a:prstGeom>
        </p:spPr>
      </p:pic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2ADF4015-DC5A-69A9-6153-02972ADBD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670" y="3856"/>
            <a:ext cx="6215288" cy="686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00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A85382C-0477-57E1-813D-5103A4CB8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97" y="246743"/>
            <a:ext cx="4008664" cy="863600"/>
          </a:xfrm>
          <a:prstGeom prst="rect">
            <a:avLst/>
          </a:prstGeom>
        </p:spPr>
      </p:pic>
      <p:pic>
        <p:nvPicPr>
          <p:cNvPr id="2" name="Imagem 1" descr="Text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CA6C9B63-E22B-2E0C-CD86-AF833CC58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52" y="1716995"/>
            <a:ext cx="10673895" cy="306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51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90E653-91B1-3F6C-DFBD-10F1A3056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0F8EA5-85A7-343B-B4AC-9400A3BEF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9426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Diagrama, Esquemático&#10;&#10;O conteúdo gerado por IA pode estar incorreto.">
            <a:extLst>
              <a:ext uri="{FF2B5EF4-FFF2-40B4-BE49-F238E27FC236}">
                <a16:creationId xmlns:a16="http://schemas.microsoft.com/office/drawing/2014/main" id="{57CD25DF-B701-88FC-C5BD-A54767895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54" y="279853"/>
            <a:ext cx="10082891" cy="629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04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, Carta&#10;&#10;O conteúdo gerado por IA pode estar incorreto.">
            <a:extLst>
              <a:ext uri="{FF2B5EF4-FFF2-40B4-BE49-F238E27FC236}">
                <a16:creationId xmlns:a16="http://schemas.microsoft.com/office/drawing/2014/main" id="{63B251E2-2B14-7B0B-B529-402581584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" y="-2721"/>
            <a:ext cx="6082393" cy="6870699"/>
          </a:xfrm>
          <a:prstGeom prst="rect">
            <a:avLst/>
          </a:prstGeom>
        </p:spPr>
      </p:pic>
      <p:pic>
        <p:nvPicPr>
          <p:cNvPr id="5" name="Imagem 4" descr="Texto, Linha do tempo&#10;&#10;O conteúdo gerado por IA pode estar incorreto.">
            <a:extLst>
              <a:ext uri="{FF2B5EF4-FFF2-40B4-BE49-F238E27FC236}">
                <a16:creationId xmlns:a16="http://schemas.microsoft.com/office/drawing/2014/main" id="{1DCE621C-278B-EAEA-BA65-76A26521C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290" y="-6350"/>
            <a:ext cx="6096906" cy="687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761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Diagrama, Esquemático&#10;&#10;O conteúdo gerado por IA pode estar incorreto.">
            <a:extLst>
              <a:ext uri="{FF2B5EF4-FFF2-40B4-BE49-F238E27FC236}">
                <a16:creationId xmlns:a16="http://schemas.microsoft.com/office/drawing/2014/main" id="{9590E9D5-0875-C123-287E-69DD84043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011" y="504599"/>
            <a:ext cx="10431235" cy="584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507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BA749B-3EB6-E3DE-5622-4049D0151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7C3F83-CBDC-D748-5AD8-D0F7E7A9F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6780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64EBF34-0F58-C628-B3B9-6D819ECEE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428" y="179778"/>
            <a:ext cx="5065485" cy="165793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0F5CEF0-E034-027B-0D35-72D4239803D1}"/>
              </a:ext>
            </a:extLst>
          </p:cNvPr>
          <p:cNvSpPr txBox="1"/>
          <p:nvPr/>
        </p:nvSpPr>
        <p:spPr>
          <a:xfrm>
            <a:off x="1398154" y="710710"/>
            <a:ext cx="179977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3200" b="1"/>
              <a:t>Extra:</a:t>
            </a:r>
          </a:p>
        </p:txBody>
      </p:sp>
      <p:pic>
        <p:nvPicPr>
          <p:cNvPr id="7" name="Imagem 6" descr="Texto, Carta&#10;&#10;O conteúdo gerado por IA pode estar incorreto.">
            <a:extLst>
              <a:ext uri="{FF2B5EF4-FFF2-40B4-BE49-F238E27FC236}">
                <a16:creationId xmlns:a16="http://schemas.microsoft.com/office/drawing/2014/main" id="{6A1CB2F3-9AB2-181E-C00B-A788A6B85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3" y="2176215"/>
            <a:ext cx="12148454" cy="468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209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Texto, Carta&#10;&#10;O conteúdo gerado por IA pode estar incorreto.">
            <a:extLst>
              <a:ext uri="{FF2B5EF4-FFF2-40B4-BE49-F238E27FC236}">
                <a16:creationId xmlns:a16="http://schemas.microsoft.com/office/drawing/2014/main" id="{8ADFAF0C-7AAD-A87D-D8C7-268EBA34C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198" y="-50800"/>
            <a:ext cx="12222627" cy="690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379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0" baseType="lpstr">
      <vt:lpstr>Tema do Office</vt:lpstr>
      <vt:lpstr>Apresentação do PowerPoint</vt:lpstr>
      <vt:lpstr>Introdução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289</cp:revision>
  <dcterms:created xsi:type="dcterms:W3CDTF">2026-07-04T00:56:58Z</dcterms:created>
  <dcterms:modified xsi:type="dcterms:W3CDTF">2026-07-04T20:16:03Z</dcterms:modified>
</cp:coreProperties>
</file>