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74" r:id="rId15"/>
    <p:sldId id="275" r:id="rId16"/>
    <p:sldId id="276" r:id="rId17"/>
    <p:sldId id="277" r:id="rId18"/>
    <p:sldId id="269" r:id="rId19"/>
    <p:sldId id="270" r:id="rId20"/>
    <p:sldId id="278" r:id="rId21"/>
    <p:sldId id="271" r:id="rId22"/>
    <p:sldId id="279" r:id="rId23"/>
    <p:sldId id="272" r:id="rId24"/>
    <p:sldId id="273" r:id="rId25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E2347CC-3A19-4E5C-B610-004F2E4A0D56}" v="126" dt="2025-11-26T09:21:21.397"/>
    <p1510:client id="{CF99255D-5809-4BC2-9D89-5BE2FC3D6CA6}" v="38" dt="2025-11-28T05:09:15.579"/>
    <p1510:client id="{D6662D95-27E0-49F2-BDDD-C19C0C9D094A}" v="41" dt="2025-11-28T05:03:49.37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959" autoAdjust="0"/>
    <p:restoredTop sz="94660"/>
  </p:normalViewPr>
  <p:slideViewPr>
    <p:cSldViewPr snapToGrid="0">
      <p:cViewPr varScale="1">
        <p:scale>
          <a:sx n="61" d="100"/>
          <a:sy n="61" d="100"/>
        </p:scale>
        <p:origin x="84" y="3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Relationship Id="rId30" Type="http://schemas.microsoft.com/office/2015/10/relationships/revisionInfo" Target="revisionInfo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27.11.2025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776838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27.11.2025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40052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27.11.2025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813757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27.11.2025</a:t>
            </a:fld>
            <a:endParaRPr lang="de-DE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246138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27.11.2025</a:t>
            </a:fld>
            <a:endParaRPr lang="de-DE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944210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27.11.2025</a:t>
            </a:fld>
            <a:endParaRPr lang="de-DE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085334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27.11.2025</a:t>
            </a:fld>
            <a:endParaRPr lang="de-DE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782815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27.11.2025</a:t>
            </a:fld>
            <a:endParaRPr lang="de-DE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178365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27.11.2025</a:t>
            </a:fld>
            <a:endParaRPr lang="de-DE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455663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27.11.2025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465880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27.11.2025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063975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0E51C7C-CEA3-4CAA-BE4B-344879E7C377}" type="datetimeFigureOut">
              <a:rPr lang="de-DE" smtClean="0"/>
              <a:t>27.11.2025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757469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8218C892-B768-7D8C-FA04-5162015D2A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729" y="2267475"/>
            <a:ext cx="11791628" cy="23230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08665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ADF1EA9-BDF9-F078-677D-E058FBB180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2183" y="-384970"/>
            <a:ext cx="9431379" cy="1956841"/>
          </a:xfrm>
        </p:spPr>
        <p:txBody>
          <a:bodyPr anchor="b">
            <a:normAutofit/>
          </a:bodyPr>
          <a:lstStyle/>
          <a:p>
            <a:r>
              <a:rPr lang="pt-BR" sz="4200" b="1" u="sng" dirty="0"/>
              <a:t>Disciplina: Matemática fundamental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1897B4C-861D-AF23-7E93-950A461B3C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7997" y="3092459"/>
            <a:ext cx="6742500" cy="1809584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pt-BR" sz="3200" b="1" dirty="0"/>
              <a:t>Professor: José Vilani</a:t>
            </a:r>
          </a:p>
          <a:p>
            <a:pPr marL="0" indent="0">
              <a:buNone/>
            </a:pPr>
            <a:endParaRPr lang="pt-BR" sz="3200" b="1" dirty="0"/>
          </a:p>
          <a:p>
            <a:pPr marL="0" indent="0">
              <a:buNone/>
            </a:pPr>
            <a:r>
              <a:rPr lang="pt-BR" sz="3200" b="1" dirty="0"/>
              <a:t>Aluno: Rafael Bruno da Silva</a:t>
            </a:r>
          </a:p>
          <a:p>
            <a:endParaRPr lang="pt-BR" sz="2200"/>
          </a:p>
        </p:txBody>
      </p:sp>
      <p:pic>
        <p:nvPicPr>
          <p:cNvPr id="5" name="Picture 4" descr="Fórmulas matemáticas complexas em um quadro negro">
            <a:extLst>
              <a:ext uri="{FF2B5EF4-FFF2-40B4-BE49-F238E27FC236}">
                <a16:creationId xmlns:a16="http://schemas.microsoft.com/office/drawing/2014/main" id="{EFD96352-6977-58B2-87B7-9B51670F933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303" r="19569" b="-9"/>
          <a:stretch>
            <a:fillRect/>
          </a:stretch>
        </p:blipFill>
        <p:spPr>
          <a:xfrm>
            <a:off x="8553431" y="10"/>
            <a:ext cx="4993148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1878219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8A95209C-5275-4E15-8EA7-7F42980ABF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Fórmulas escritas em um quadro-negro">
            <a:extLst>
              <a:ext uri="{FF2B5EF4-FFF2-40B4-BE49-F238E27FC236}">
                <a16:creationId xmlns:a16="http://schemas.microsoft.com/office/drawing/2014/main" id="{F0511FFB-007C-193F-6BC1-D9BDBAE1DF09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</a:blip>
          <a:srcRect t="15709" r="-1" b="-1"/>
          <a:stretch>
            <a:fillRect/>
          </a:stretch>
        </p:blipFill>
        <p:spPr>
          <a:xfrm>
            <a:off x="20" y="11916"/>
            <a:ext cx="12188931" cy="685799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696CE901-A0F2-B5AA-0B17-B755A63174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0798" y="1357546"/>
            <a:ext cx="9144000" cy="306324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5100" b="1" dirty="0" err="1">
                <a:solidFill>
                  <a:schemeClr val="bg1"/>
                </a:solidFill>
              </a:rPr>
              <a:t>Problema</a:t>
            </a:r>
            <a:r>
              <a:rPr lang="en-US" sz="5100" b="1" dirty="0">
                <a:solidFill>
                  <a:schemeClr val="bg1"/>
                </a:solidFill>
              </a:rPr>
              <a:t> de </a:t>
            </a:r>
            <a:r>
              <a:rPr lang="en-US" sz="5100" b="1" dirty="0" err="1">
                <a:solidFill>
                  <a:schemeClr val="bg1"/>
                </a:solidFill>
              </a:rPr>
              <a:t>Matemática</a:t>
            </a:r>
            <a:r>
              <a:rPr lang="en-US" sz="5100" b="1" dirty="0">
                <a:solidFill>
                  <a:schemeClr val="bg1"/>
                </a:solidFill>
              </a:rPr>
              <a:t> </a:t>
            </a:r>
            <a:br>
              <a:rPr lang="en-US" sz="5100" b="1" dirty="0"/>
            </a:br>
            <a:r>
              <a:rPr lang="en-US" sz="5100" b="1" dirty="0" err="1">
                <a:solidFill>
                  <a:schemeClr val="bg1"/>
                </a:solidFill>
              </a:rPr>
              <a:t>contextualizado</a:t>
            </a:r>
            <a:r>
              <a:rPr lang="en-US" sz="5100" b="1" dirty="0">
                <a:solidFill>
                  <a:schemeClr val="bg1"/>
                </a:solidFill>
              </a:rPr>
              <a:t> </a:t>
            </a:r>
            <a:r>
              <a:rPr lang="en-US" sz="5100" b="1" dirty="0" err="1">
                <a:solidFill>
                  <a:schemeClr val="bg1"/>
                </a:solidFill>
              </a:rPr>
              <a:t>na</a:t>
            </a:r>
            <a:r>
              <a:rPr lang="en-US" sz="5100" b="1" dirty="0">
                <a:solidFill>
                  <a:schemeClr val="bg1"/>
                </a:solidFill>
              </a:rPr>
              <a:t>  </a:t>
            </a:r>
            <a:r>
              <a:rPr lang="en-US" sz="5100" b="1" dirty="0" err="1">
                <a:solidFill>
                  <a:schemeClr val="bg1"/>
                </a:solidFill>
              </a:rPr>
              <a:t>Física</a:t>
            </a:r>
            <a:br>
              <a:rPr lang="en-US" sz="5100" b="1" dirty="0"/>
            </a:br>
            <a:r>
              <a:rPr lang="en-US" sz="5100" b="1" dirty="0">
                <a:solidFill>
                  <a:schemeClr val="bg1"/>
                </a:solidFill>
              </a:rPr>
              <a:t>(</a:t>
            </a:r>
            <a:r>
              <a:rPr lang="en-US" sz="5100" b="1" dirty="0" err="1">
                <a:solidFill>
                  <a:schemeClr val="bg1"/>
                </a:solidFill>
              </a:rPr>
              <a:t>Equações</a:t>
            </a:r>
            <a:r>
              <a:rPr lang="en-US" sz="5100" b="1" dirty="0">
                <a:solidFill>
                  <a:schemeClr val="bg1"/>
                </a:solidFill>
              </a:rPr>
              <a:t> de 1° e 2° </a:t>
            </a:r>
            <a:r>
              <a:rPr lang="en-US" sz="5100" b="1" dirty="0" err="1">
                <a:solidFill>
                  <a:schemeClr val="bg1"/>
                </a:solidFill>
              </a:rPr>
              <a:t>grau</a:t>
            </a:r>
            <a:r>
              <a:rPr lang="en-US" sz="5100" b="1" dirty="0">
                <a:solidFill>
                  <a:schemeClr val="bg1"/>
                </a:solidFill>
              </a:rPr>
              <a:t>)</a:t>
            </a:r>
          </a:p>
        </p:txBody>
      </p:sp>
      <p:sp>
        <p:nvSpPr>
          <p:cNvPr id="27" name="sketchy box">
            <a:extLst>
              <a:ext uri="{FF2B5EF4-FFF2-40B4-BE49-F238E27FC236}">
                <a16:creationId xmlns:a16="http://schemas.microsoft.com/office/drawing/2014/main" id="{4F2ED431-E304-4FF0-9F4E-032783C9D6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838200" y="720953"/>
            <a:ext cx="10515600" cy="5416094"/>
          </a:xfrm>
          <a:custGeom>
            <a:avLst/>
            <a:gdLst>
              <a:gd name="csX0" fmla="*/ 0 w 10515600"/>
              <a:gd name="csY0" fmla="*/ 0 h 5416094"/>
              <a:gd name="csX1" fmla="*/ 552069 w 10515600"/>
              <a:gd name="csY1" fmla="*/ 0 h 5416094"/>
              <a:gd name="csX2" fmla="*/ 893826 w 10515600"/>
              <a:gd name="csY2" fmla="*/ 0 h 5416094"/>
              <a:gd name="csX3" fmla="*/ 1761363 w 10515600"/>
              <a:gd name="csY3" fmla="*/ 0 h 5416094"/>
              <a:gd name="csX4" fmla="*/ 2313432 w 10515600"/>
              <a:gd name="csY4" fmla="*/ 0 h 5416094"/>
              <a:gd name="csX5" fmla="*/ 2865501 w 10515600"/>
              <a:gd name="csY5" fmla="*/ 0 h 5416094"/>
              <a:gd name="csX6" fmla="*/ 3733038 w 10515600"/>
              <a:gd name="csY6" fmla="*/ 0 h 5416094"/>
              <a:gd name="csX7" fmla="*/ 4179951 w 10515600"/>
              <a:gd name="csY7" fmla="*/ 0 h 5416094"/>
              <a:gd name="csX8" fmla="*/ 5047488 w 10515600"/>
              <a:gd name="csY8" fmla="*/ 0 h 5416094"/>
              <a:gd name="csX9" fmla="*/ 5915025 w 10515600"/>
              <a:gd name="csY9" fmla="*/ 0 h 5416094"/>
              <a:gd name="csX10" fmla="*/ 6572250 w 10515600"/>
              <a:gd name="csY10" fmla="*/ 0 h 5416094"/>
              <a:gd name="csX11" fmla="*/ 7439787 w 10515600"/>
              <a:gd name="csY11" fmla="*/ 0 h 5416094"/>
              <a:gd name="csX12" fmla="*/ 7991856 w 10515600"/>
              <a:gd name="csY12" fmla="*/ 0 h 5416094"/>
              <a:gd name="csX13" fmla="*/ 8543925 w 10515600"/>
              <a:gd name="csY13" fmla="*/ 0 h 5416094"/>
              <a:gd name="csX14" fmla="*/ 9306306 w 10515600"/>
              <a:gd name="csY14" fmla="*/ 0 h 5416094"/>
              <a:gd name="csX15" fmla="*/ 9858375 w 10515600"/>
              <a:gd name="csY15" fmla="*/ 0 h 5416094"/>
              <a:gd name="csX16" fmla="*/ 10515600 w 10515600"/>
              <a:gd name="csY16" fmla="*/ 0 h 5416094"/>
              <a:gd name="csX17" fmla="*/ 10515600 w 10515600"/>
              <a:gd name="csY17" fmla="*/ 785334 h 5416094"/>
              <a:gd name="csX18" fmla="*/ 10515600 w 10515600"/>
              <a:gd name="csY18" fmla="*/ 1516506 h 5416094"/>
              <a:gd name="csX19" fmla="*/ 10515600 w 10515600"/>
              <a:gd name="csY19" fmla="*/ 2247679 h 5416094"/>
              <a:gd name="csX20" fmla="*/ 10515600 w 10515600"/>
              <a:gd name="csY20" fmla="*/ 2762208 h 5416094"/>
              <a:gd name="csX21" fmla="*/ 10515600 w 10515600"/>
              <a:gd name="csY21" fmla="*/ 3330898 h 5416094"/>
              <a:gd name="csX22" fmla="*/ 10515600 w 10515600"/>
              <a:gd name="csY22" fmla="*/ 4062071 h 5416094"/>
              <a:gd name="csX23" fmla="*/ 10515600 w 10515600"/>
              <a:gd name="csY23" fmla="*/ 4684921 h 5416094"/>
              <a:gd name="csX24" fmla="*/ 10515600 w 10515600"/>
              <a:gd name="csY24" fmla="*/ 5416094 h 5416094"/>
              <a:gd name="csX25" fmla="*/ 9753219 w 10515600"/>
              <a:gd name="csY25" fmla="*/ 5416094 h 5416094"/>
              <a:gd name="csX26" fmla="*/ 9411462 w 10515600"/>
              <a:gd name="csY26" fmla="*/ 5416094 h 5416094"/>
              <a:gd name="csX27" fmla="*/ 8754237 w 10515600"/>
              <a:gd name="csY27" fmla="*/ 5416094 h 5416094"/>
              <a:gd name="csX28" fmla="*/ 8307324 w 10515600"/>
              <a:gd name="csY28" fmla="*/ 5416094 h 5416094"/>
              <a:gd name="csX29" fmla="*/ 7544943 w 10515600"/>
              <a:gd name="csY29" fmla="*/ 5416094 h 5416094"/>
              <a:gd name="csX30" fmla="*/ 7098030 w 10515600"/>
              <a:gd name="csY30" fmla="*/ 5416094 h 5416094"/>
              <a:gd name="csX31" fmla="*/ 6335649 w 10515600"/>
              <a:gd name="csY31" fmla="*/ 5416094 h 5416094"/>
              <a:gd name="csX32" fmla="*/ 5993892 w 10515600"/>
              <a:gd name="csY32" fmla="*/ 5416094 h 5416094"/>
              <a:gd name="csX33" fmla="*/ 5231511 w 10515600"/>
              <a:gd name="csY33" fmla="*/ 5416094 h 5416094"/>
              <a:gd name="csX34" fmla="*/ 4784598 w 10515600"/>
              <a:gd name="csY34" fmla="*/ 5416094 h 5416094"/>
              <a:gd name="csX35" fmla="*/ 4442841 w 10515600"/>
              <a:gd name="csY35" fmla="*/ 5416094 h 5416094"/>
              <a:gd name="csX36" fmla="*/ 3995928 w 10515600"/>
              <a:gd name="csY36" fmla="*/ 5416094 h 5416094"/>
              <a:gd name="csX37" fmla="*/ 3233547 w 10515600"/>
              <a:gd name="csY37" fmla="*/ 5416094 h 5416094"/>
              <a:gd name="csX38" fmla="*/ 2786634 w 10515600"/>
              <a:gd name="csY38" fmla="*/ 5416094 h 5416094"/>
              <a:gd name="csX39" fmla="*/ 2444877 w 10515600"/>
              <a:gd name="csY39" fmla="*/ 5416094 h 5416094"/>
              <a:gd name="csX40" fmla="*/ 1997964 w 10515600"/>
              <a:gd name="csY40" fmla="*/ 5416094 h 5416094"/>
              <a:gd name="csX41" fmla="*/ 1445895 w 10515600"/>
              <a:gd name="csY41" fmla="*/ 5416094 h 5416094"/>
              <a:gd name="csX42" fmla="*/ 788670 w 10515600"/>
              <a:gd name="csY42" fmla="*/ 5416094 h 5416094"/>
              <a:gd name="csX43" fmla="*/ 0 w 10515600"/>
              <a:gd name="csY43" fmla="*/ 5416094 h 5416094"/>
              <a:gd name="csX44" fmla="*/ 0 w 10515600"/>
              <a:gd name="csY44" fmla="*/ 4630760 h 5416094"/>
              <a:gd name="csX45" fmla="*/ 0 w 10515600"/>
              <a:gd name="csY45" fmla="*/ 3953749 h 5416094"/>
              <a:gd name="csX46" fmla="*/ 0 w 10515600"/>
              <a:gd name="csY46" fmla="*/ 3276737 h 5416094"/>
              <a:gd name="csX47" fmla="*/ 0 w 10515600"/>
              <a:gd name="csY47" fmla="*/ 2599725 h 5416094"/>
              <a:gd name="csX48" fmla="*/ 0 w 10515600"/>
              <a:gd name="csY48" fmla="*/ 1922713 h 5416094"/>
              <a:gd name="csX49" fmla="*/ 0 w 10515600"/>
              <a:gd name="csY49" fmla="*/ 1299863 h 5416094"/>
              <a:gd name="csX50" fmla="*/ 0 w 10515600"/>
              <a:gd name="csY50" fmla="*/ 0 h 541609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</a:cxnLst>
            <a:rect l="l" t="t" r="r" b="b"/>
            <a:pathLst>
              <a:path w="10515600" h="5416094" extrusionOk="0">
                <a:moveTo>
                  <a:pt x="0" y="0"/>
                </a:moveTo>
                <a:cubicBezTo>
                  <a:pt x="230793" y="14353"/>
                  <a:pt x="332416" y="21392"/>
                  <a:pt x="552069" y="0"/>
                </a:cubicBezTo>
                <a:cubicBezTo>
                  <a:pt x="771722" y="-21392"/>
                  <a:pt x="761737" y="-14337"/>
                  <a:pt x="893826" y="0"/>
                </a:cubicBezTo>
                <a:cubicBezTo>
                  <a:pt x="1025915" y="14337"/>
                  <a:pt x="1441584" y="-15498"/>
                  <a:pt x="1761363" y="0"/>
                </a:cubicBezTo>
                <a:cubicBezTo>
                  <a:pt x="2081142" y="15498"/>
                  <a:pt x="2111503" y="7278"/>
                  <a:pt x="2313432" y="0"/>
                </a:cubicBezTo>
                <a:cubicBezTo>
                  <a:pt x="2515361" y="-7278"/>
                  <a:pt x="2743584" y="-17845"/>
                  <a:pt x="2865501" y="0"/>
                </a:cubicBezTo>
                <a:cubicBezTo>
                  <a:pt x="2987418" y="17845"/>
                  <a:pt x="3345183" y="8208"/>
                  <a:pt x="3733038" y="0"/>
                </a:cubicBezTo>
                <a:cubicBezTo>
                  <a:pt x="4120893" y="-8208"/>
                  <a:pt x="4009066" y="-3159"/>
                  <a:pt x="4179951" y="0"/>
                </a:cubicBezTo>
                <a:cubicBezTo>
                  <a:pt x="4350836" y="3159"/>
                  <a:pt x="4735020" y="17517"/>
                  <a:pt x="5047488" y="0"/>
                </a:cubicBezTo>
                <a:cubicBezTo>
                  <a:pt x="5359956" y="-17517"/>
                  <a:pt x="5662148" y="-17777"/>
                  <a:pt x="5915025" y="0"/>
                </a:cubicBezTo>
                <a:cubicBezTo>
                  <a:pt x="6167902" y="17777"/>
                  <a:pt x="6308797" y="30350"/>
                  <a:pt x="6572250" y="0"/>
                </a:cubicBezTo>
                <a:cubicBezTo>
                  <a:pt x="6835703" y="-30350"/>
                  <a:pt x="7107419" y="-9627"/>
                  <a:pt x="7439787" y="0"/>
                </a:cubicBezTo>
                <a:cubicBezTo>
                  <a:pt x="7772155" y="9627"/>
                  <a:pt x="7844034" y="-9098"/>
                  <a:pt x="7991856" y="0"/>
                </a:cubicBezTo>
                <a:cubicBezTo>
                  <a:pt x="8139678" y="9098"/>
                  <a:pt x="8289889" y="-20239"/>
                  <a:pt x="8543925" y="0"/>
                </a:cubicBezTo>
                <a:cubicBezTo>
                  <a:pt x="8797961" y="20239"/>
                  <a:pt x="8994198" y="29575"/>
                  <a:pt x="9306306" y="0"/>
                </a:cubicBezTo>
                <a:cubicBezTo>
                  <a:pt x="9618414" y="-29575"/>
                  <a:pt x="9739118" y="-23835"/>
                  <a:pt x="9858375" y="0"/>
                </a:cubicBezTo>
                <a:cubicBezTo>
                  <a:pt x="9977632" y="23835"/>
                  <a:pt x="10370488" y="-4069"/>
                  <a:pt x="10515600" y="0"/>
                </a:cubicBezTo>
                <a:cubicBezTo>
                  <a:pt x="10524919" y="196329"/>
                  <a:pt x="10549062" y="488432"/>
                  <a:pt x="10515600" y="785334"/>
                </a:cubicBezTo>
                <a:cubicBezTo>
                  <a:pt x="10482138" y="1082236"/>
                  <a:pt x="10536385" y="1323726"/>
                  <a:pt x="10515600" y="1516506"/>
                </a:cubicBezTo>
                <a:cubicBezTo>
                  <a:pt x="10494815" y="1709286"/>
                  <a:pt x="10546328" y="2097632"/>
                  <a:pt x="10515600" y="2247679"/>
                </a:cubicBezTo>
                <a:cubicBezTo>
                  <a:pt x="10484872" y="2397726"/>
                  <a:pt x="10491771" y="2577292"/>
                  <a:pt x="10515600" y="2762208"/>
                </a:cubicBezTo>
                <a:cubicBezTo>
                  <a:pt x="10539429" y="2947124"/>
                  <a:pt x="10511007" y="3105736"/>
                  <a:pt x="10515600" y="3330898"/>
                </a:cubicBezTo>
                <a:cubicBezTo>
                  <a:pt x="10520194" y="3556060"/>
                  <a:pt x="10497393" y="3882611"/>
                  <a:pt x="10515600" y="4062071"/>
                </a:cubicBezTo>
                <a:cubicBezTo>
                  <a:pt x="10533807" y="4241531"/>
                  <a:pt x="10544791" y="4505155"/>
                  <a:pt x="10515600" y="4684921"/>
                </a:cubicBezTo>
                <a:cubicBezTo>
                  <a:pt x="10486410" y="4864687"/>
                  <a:pt x="10497356" y="5246484"/>
                  <a:pt x="10515600" y="5416094"/>
                </a:cubicBezTo>
                <a:cubicBezTo>
                  <a:pt x="10245623" y="5445692"/>
                  <a:pt x="10029676" y="5415505"/>
                  <a:pt x="9753219" y="5416094"/>
                </a:cubicBezTo>
                <a:cubicBezTo>
                  <a:pt x="9476762" y="5416683"/>
                  <a:pt x="9553148" y="5422760"/>
                  <a:pt x="9411462" y="5416094"/>
                </a:cubicBezTo>
                <a:cubicBezTo>
                  <a:pt x="9269776" y="5409428"/>
                  <a:pt x="8927709" y="5385012"/>
                  <a:pt x="8754237" y="5416094"/>
                </a:cubicBezTo>
                <a:cubicBezTo>
                  <a:pt x="8580766" y="5447176"/>
                  <a:pt x="8413264" y="5410024"/>
                  <a:pt x="8307324" y="5416094"/>
                </a:cubicBezTo>
                <a:cubicBezTo>
                  <a:pt x="8201384" y="5422164"/>
                  <a:pt x="7912690" y="5421686"/>
                  <a:pt x="7544943" y="5416094"/>
                </a:cubicBezTo>
                <a:cubicBezTo>
                  <a:pt x="7177196" y="5410502"/>
                  <a:pt x="7304235" y="5418502"/>
                  <a:pt x="7098030" y="5416094"/>
                </a:cubicBezTo>
                <a:cubicBezTo>
                  <a:pt x="6891825" y="5413686"/>
                  <a:pt x="6541479" y="5434609"/>
                  <a:pt x="6335649" y="5416094"/>
                </a:cubicBezTo>
                <a:cubicBezTo>
                  <a:pt x="6129819" y="5397579"/>
                  <a:pt x="6106541" y="5402791"/>
                  <a:pt x="5993892" y="5416094"/>
                </a:cubicBezTo>
                <a:cubicBezTo>
                  <a:pt x="5881243" y="5429397"/>
                  <a:pt x="5545248" y="5437743"/>
                  <a:pt x="5231511" y="5416094"/>
                </a:cubicBezTo>
                <a:cubicBezTo>
                  <a:pt x="4917774" y="5394445"/>
                  <a:pt x="4963237" y="5426599"/>
                  <a:pt x="4784598" y="5416094"/>
                </a:cubicBezTo>
                <a:cubicBezTo>
                  <a:pt x="4605959" y="5405589"/>
                  <a:pt x="4605904" y="5406658"/>
                  <a:pt x="4442841" y="5416094"/>
                </a:cubicBezTo>
                <a:cubicBezTo>
                  <a:pt x="4279778" y="5425530"/>
                  <a:pt x="4177180" y="5426138"/>
                  <a:pt x="3995928" y="5416094"/>
                </a:cubicBezTo>
                <a:cubicBezTo>
                  <a:pt x="3814676" y="5406050"/>
                  <a:pt x="3516440" y="5429234"/>
                  <a:pt x="3233547" y="5416094"/>
                </a:cubicBezTo>
                <a:cubicBezTo>
                  <a:pt x="2950654" y="5402954"/>
                  <a:pt x="2884354" y="5436103"/>
                  <a:pt x="2786634" y="5416094"/>
                </a:cubicBezTo>
                <a:cubicBezTo>
                  <a:pt x="2688914" y="5396085"/>
                  <a:pt x="2522958" y="5423232"/>
                  <a:pt x="2444877" y="5416094"/>
                </a:cubicBezTo>
                <a:cubicBezTo>
                  <a:pt x="2366796" y="5408956"/>
                  <a:pt x="2104768" y="5395479"/>
                  <a:pt x="1997964" y="5416094"/>
                </a:cubicBezTo>
                <a:cubicBezTo>
                  <a:pt x="1891160" y="5436709"/>
                  <a:pt x="1573016" y="5412376"/>
                  <a:pt x="1445895" y="5416094"/>
                </a:cubicBezTo>
                <a:cubicBezTo>
                  <a:pt x="1318774" y="5419812"/>
                  <a:pt x="986443" y="5400529"/>
                  <a:pt x="788670" y="5416094"/>
                </a:cubicBezTo>
                <a:cubicBezTo>
                  <a:pt x="590897" y="5431659"/>
                  <a:pt x="363709" y="5381266"/>
                  <a:pt x="0" y="5416094"/>
                </a:cubicBezTo>
                <a:cubicBezTo>
                  <a:pt x="-22973" y="5218643"/>
                  <a:pt x="-26699" y="5010779"/>
                  <a:pt x="0" y="4630760"/>
                </a:cubicBezTo>
                <a:cubicBezTo>
                  <a:pt x="26699" y="4250741"/>
                  <a:pt x="-15389" y="4196664"/>
                  <a:pt x="0" y="3953749"/>
                </a:cubicBezTo>
                <a:cubicBezTo>
                  <a:pt x="15389" y="3710834"/>
                  <a:pt x="468" y="3611311"/>
                  <a:pt x="0" y="3276737"/>
                </a:cubicBezTo>
                <a:cubicBezTo>
                  <a:pt x="-468" y="2942163"/>
                  <a:pt x="15360" y="2781998"/>
                  <a:pt x="0" y="2599725"/>
                </a:cubicBezTo>
                <a:cubicBezTo>
                  <a:pt x="-15360" y="2417452"/>
                  <a:pt x="14816" y="2100232"/>
                  <a:pt x="0" y="1922713"/>
                </a:cubicBezTo>
                <a:cubicBezTo>
                  <a:pt x="-14816" y="1745194"/>
                  <a:pt x="-24648" y="1604167"/>
                  <a:pt x="0" y="1299863"/>
                </a:cubicBezTo>
                <a:cubicBezTo>
                  <a:pt x="24648" y="995559"/>
                  <a:pt x="2182" y="279525"/>
                  <a:pt x="0" y="0"/>
                </a:cubicBezTo>
                <a:close/>
              </a:path>
            </a:pathLst>
          </a:custGeom>
          <a:noFill/>
          <a:ln w="47625" cap="rnd">
            <a:solidFill>
              <a:schemeClr val="bg1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sketchy line">
            <a:extLst>
              <a:ext uri="{FF2B5EF4-FFF2-40B4-BE49-F238E27FC236}">
                <a16:creationId xmlns:a16="http://schemas.microsoft.com/office/drawing/2014/main" id="{4E87FCFB-2CCE-460D-B3DD-557C8BD1B9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74206" y="4419423"/>
            <a:ext cx="4243589" cy="18288"/>
          </a:xfrm>
          <a:custGeom>
            <a:avLst/>
            <a:gdLst>
              <a:gd name="csX0" fmla="*/ 0 w 4243589"/>
              <a:gd name="csY0" fmla="*/ 0 h 18288"/>
              <a:gd name="csX1" fmla="*/ 563791 w 4243589"/>
              <a:gd name="csY1" fmla="*/ 0 h 18288"/>
              <a:gd name="csX2" fmla="*/ 1042710 w 4243589"/>
              <a:gd name="csY2" fmla="*/ 0 h 18288"/>
              <a:gd name="csX3" fmla="*/ 1564066 w 4243589"/>
              <a:gd name="csY3" fmla="*/ 0 h 18288"/>
              <a:gd name="csX4" fmla="*/ 2212729 w 4243589"/>
              <a:gd name="csY4" fmla="*/ 0 h 18288"/>
              <a:gd name="csX5" fmla="*/ 2776520 w 4243589"/>
              <a:gd name="csY5" fmla="*/ 0 h 18288"/>
              <a:gd name="csX6" fmla="*/ 3297875 w 4243589"/>
              <a:gd name="csY6" fmla="*/ 0 h 18288"/>
              <a:gd name="csX7" fmla="*/ 4243589 w 4243589"/>
              <a:gd name="csY7" fmla="*/ 0 h 18288"/>
              <a:gd name="csX8" fmla="*/ 4243589 w 4243589"/>
              <a:gd name="csY8" fmla="*/ 18288 h 18288"/>
              <a:gd name="csX9" fmla="*/ 3637362 w 4243589"/>
              <a:gd name="csY9" fmla="*/ 18288 h 18288"/>
              <a:gd name="csX10" fmla="*/ 3116007 w 4243589"/>
              <a:gd name="csY10" fmla="*/ 18288 h 18288"/>
              <a:gd name="csX11" fmla="*/ 2424908 w 4243589"/>
              <a:gd name="csY11" fmla="*/ 18288 h 18288"/>
              <a:gd name="csX12" fmla="*/ 1861117 w 4243589"/>
              <a:gd name="csY12" fmla="*/ 18288 h 18288"/>
              <a:gd name="csX13" fmla="*/ 1382198 w 4243589"/>
              <a:gd name="csY13" fmla="*/ 18288 h 18288"/>
              <a:gd name="csX14" fmla="*/ 733535 w 4243589"/>
              <a:gd name="csY14" fmla="*/ 18288 h 18288"/>
              <a:gd name="csX15" fmla="*/ 0 w 4243589"/>
              <a:gd name="csY15" fmla="*/ 18288 h 18288"/>
              <a:gd name="csX16" fmla="*/ 0 w 4243589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157351" y="-15653"/>
                  <a:pt x="378877" y="-5828"/>
                  <a:pt x="563791" y="0"/>
                </a:cubicBezTo>
                <a:cubicBezTo>
                  <a:pt x="748705" y="5828"/>
                  <a:pt x="905659" y="-5525"/>
                  <a:pt x="1042710" y="0"/>
                </a:cubicBezTo>
                <a:cubicBezTo>
                  <a:pt x="1179761" y="5525"/>
                  <a:pt x="1356845" y="-21288"/>
                  <a:pt x="1564066" y="0"/>
                </a:cubicBezTo>
                <a:cubicBezTo>
                  <a:pt x="1771287" y="21288"/>
                  <a:pt x="1912099" y="25135"/>
                  <a:pt x="2212729" y="0"/>
                </a:cubicBezTo>
                <a:cubicBezTo>
                  <a:pt x="2513359" y="-25135"/>
                  <a:pt x="2514918" y="-27119"/>
                  <a:pt x="2776520" y="0"/>
                </a:cubicBezTo>
                <a:cubicBezTo>
                  <a:pt x="3038122" y="27119"/>
                  <a:pt x="3178771" y="18116"/>
                  <a:pt x="3297875" y="0"/>
                </a:cubicBezTo>
                <a:cubicBezTo>
                  <a:pt x="3416980" y="-18116"/>
                  <a:pt x="4012240" y="-40869"/>
                  <a:pt x="4243589" y="0"/>
                </a:cubicBezTo>
                <a:cubicBezTo>
                  <a:pt x="4243987" y="7429"/>
                  <a:pt x="4243569" y="10822"/>
                  <a:pt x="4243589" y="18288"/>
                </a:cubicBezTo>
                <a:cubicBezTo>
                  <a:pt x="4112949" y="-2855"/>
                  <a:pt x="3928037" y="1831"/>
                  <a:pt x="3637362" y="18288"/>
                </a:cubicBezTo>
                <a:cubicBezTo>
                  <a:pt x="3346687" y="34745"/>
                  <a:pt x="3254446" y="26669"/>
                  <a:pt x="3116007" y="18288"/>
                </a:cubicBezTo>
                <a:cubicBezTo>
                  <a:pt x="2977569" y="9907"/>
                  <a:pt x="2620228" y="28873"/>
                  <a:pt x="2424908" y="18288"/>
                </a:cubicBezTo>
                <a:cubicBezTo>
                  <a:pt x="2229588" y="7703"/>
                  <a:pt x="2088287" y="-3854"/>
                  <a:pt x="1861117" y="18288"/>
                </a:cubicBezTo>
                <a:cubicBezTo>
                  <a:pt x="1633947" y="40430"/>
                  <a:pt x="1502447" y="-871"/>
                  <a:pt x="1382198" y="18288"/>
                </a:cubicBezTo>
                <a:cubicBezTo>
                  <a:pt x="1261949" y="37447"/>
                  <a:pt x="1045440" y="28353"/>
                  <a:pt x="733535" y="18288"/>
                </a:cubicBezTo>
                <a:cubicBezTo>
                  <a:pt x="421630" y="8223"/>
                  <a:pt x="341257" y="-18359"/>
                  <a:pt x="0" y="18288"/>
                </a:cubicBezTo>
                <a:cubicBezTo>
                  <a:pt x="-591" y="13205"/>
                  <a:pt x="-663" y="6329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28164" y="17204"/>
                  <a:pt x="312653" y="1129"/>
                  <a:pt x="563791" y="0"/>
                </a:cubicBezTo>
                <a:cubicBezTo>
                  <a:pt x="814929" y="-1129"/>
                  <a:pt x="837271" y="8503"/>
                  <a:pt x="1042710" y="0"/>
                </a:cubicBezTo>
                <a:cubicBezTo>
                  <a:pt x="1248149" y="-8503"/>
                  <a:pt x="1588432" y="-28862"/>
                  <a:pt x="1733809" y="0"/>
                </a:cubicBezTo>
                <a:cubicBezTo>
                  <a:pt x="1879186" y="28862"/>
                  <a:pt x="2052815" y="5974"/>
                  <a:pt x="2297600" y="0"/>
                </a:cubicBezTo>
                <a:cubicBezTo>
                  <a:pt x="2542385" y="-5974"/>
                  <a:pt x="2699960" y="-23550"/>
                  <a:pt x="2861391" y="0"/>
                </a:cubicBezTo>
                <a:cubicBezTo>
                  <a:pt x="3022822" y="23550"/>
                  <a:pt x="3390411" y="25272"/>
                  <a:pt x="3552490" y="0"/>
                </a:cubicBezTo>
                <a:cubicBezTo>
                  <a:pt x="3714569" y="-25272"/>
                  <a:pt x="3950585" y="-31327"/>
                  <a:pt x="4243589" y="0"/>
                </a:cubicBezTo>
                <a:cubicBezTo>
                  <a:pt x="4242703" y="5429"/>
                  <a:pt x="4244410" y="14046"/>
                  <a:pt x="4243589" y="18288"/>
                </a:cubicBezTo>
                <a:cubicBezTo>
                  <a:pt x="4130424" y="-1240"/>
                  <a:pt x="3932803" y="42249"/>
                  <a:pt x="3722234" y="18288"/>
                </a:cubicBezTo>
                <a:cubicBezTo>
                  <a:pt x="3511665" y="-5673"/>
                  <a:pt x="3269903" y="45994"/>
                  <a:pt x="3116007" y="18288"/>
                </a:cubicBezTo>
                <a:cubicBezTo>
                  <a:pt x="2962111" y="-9418"/>
                  <a:pt x="2744280" y="23224"/>
                  <a:pt x="2509780" y="18288"/>
                </a:cubicBezTo>
                <a:cubicBezTo>
                  <a:pt x="2275280" y="13352"/>
                  <a:pt x="2066059" y="43664"/>
                  <a:pt x="1945989" y="18288"/>
                </a:cubicBezTo>
                <a:cubicBezTo>
                  <a:pt x="1825919" y="-7088"/>
                  <a:pt x="1407329" y="12616"/>
                  <a:pt x="1254890" y="18288"/>
                </a:cubicBezTo>
                <a:cubicBezTo>
                  <a:pt x="1102451" y="23960"/>
                  <a:pt x="837950" y="31673"/>
                  <a:pt x="563791" y="18288"/>
                </a:cubicBezTo>
                <a:cubicBezTo>
                  <a:pt x="289632" y="4903"/>
                  <a:pt x="132768" y="7105"/>
                  <a:pt x="0" y="18288"/>
                </a:cubicBezTo>
                <a:cubicBezTo>
                  <a:pt x="668" y="13665"/>
                  <a:pt x="578" y="5675"/>
                  <a:pt x="0" y="0"/>
                </a:cubicBezTo>
                <a:close/>
              </a:path>
            </a:pathLst>
          </a:custGeom>
          <a:solidFill>
            <a:srgbClr val="FFFFFF">
              <a:alpha val="75000"/>
            </a:srgbClr>
          </a:solidFill>
          <a:ln w="41275" cap="rnd">
            <a:solidFill>
              <a:schemeClr val="bg1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0951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04812C46-200A-4DEB-A05E-3ED6C68C23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9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Fórmulas escritas em um quadro-negro">
            <a:extLst>
              <a:ext uri="{FF2B5EF4-FFF2-40B4-BE49-F238E27FC236}">
                <a16:creationId xmlns:a16="http://schemas.microsoft.com/office/drawing/2014/main" id="{CE5A455C-DDB9-8DE1-2E46-6DBB5D3E82F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5882" b="-1"/>
          <a:stretch>
            <a:fillRect/>
          </a:stretch>
        </p:blipFill>
        <p:spPr>
          <a:xfrm>
            <a:off x="9401522" y="10"/>
            <a:ext cx="7489476" cy="6857990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D1EA859B-E555-4109-94F3-6700E046E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7390263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FA15823-6704-708A-B142-6034E51BFE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17" y="1143034"/>
            <a:ext cx="9812355" cy="4473012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buNone/>
            </a:pPr>
            <a:r>
              <a:rPr lang="pt-BR" sz="2000" b="1" dirty="0"/>
              <a:t>Índice:</a:t>
            </a:r>
          </a:p>
          <a:p>
            <a:pPr>
              <a:buNone/>
            </a:pPr>
            <a:endParaRPr lang="pt-BR" sz="2000" b="1" dirty="0"/>
          </a:p>
          <a:p>
            <a:pPr>
              <a:buNone/>
            </a:pPr>
            <a:endParaRPr lang="pt-BR" sz="2000" b="1" dirty="0"/>
          </a:p>
          <a:p>
            <a:pPr>
              <a:buFont typeface="Arial"/>
              <a:buChar char="•"/>
            </a:pPr>
            <a:r>
              <a:rPr lang="pt-BR" sz="2000" b="1" dirty="0"/>
              <a:t>Introdução.</a:t>
            </a:r>
          </a:p>
          <a:p>
            <a:pPr>
              <a:buFont typeface="Arial"/>
              <a:buChar char="•"/>
            </a:pPr>
            <a:r>
              <a:rPr lang="pt-BR" sz="2000" b="1" dirty="0"/>
              <a:t>Noções matemáticas (Resumo de Equações de 1° e 2° grau).</a:t>
            </a:r>
          </a:p>
          <a:p>
            <a:pPr>
              <a:buFont typeface="Arial"/>
              <a:buChar char="•"/>
            </a:pPr>
            <a:r>
              <a:rPr lang="pt-BR" sz="2000" b="1" dirty="0"/>
              <a:t>Função da velocidade, contextualizando cálculos Físicos (equação de 1° grau).</a:t>
            </a:r>
          </a:p>
          <a:p>
            <a:pPr>
              <a:buFont typeface="Arial"/>
              <a:buChar char="•"/>
            </a:pPr>
            <a:r>
              <a:rPr lang="pt-BR" sz="2000" b="1" dirty="0"/>
              <a:t>Função horária, contextualizando cálculos Físicos (Equação de 2° grau).</a:t>
            </a:r>
          </a:p>
          <a:p>
            <a:pPr>
              <a:buFont typeface="Arial"/>
              <a:buChar char="•"/>
            </a:pPr>
            <a:r>
              <a:rPr lang="pt-BR" sz="2000" b="1" dirty="0"/>
              <a:t>Problema matemático contextualizado na Física.</a:t>
            </a:r>
          </a:p>
          <a:p>
            <a:pPr>
              <a:buFont typeface="Arial"/>
              <a:buChar char="•"/>
            </a:pPr>
            <a:r>
              <a:rPr lang="pt-BR" sz="2000" b="1" dirty="0"/>
              <a:t>Conclusão.</a:t>
            </a:r>
          </a:p>
          <a:p>
            <a:pPr>
              <a:buFont typeface="Arial"/>
              <a:buChar char="•"/>
            </a:pPr>
            <a:r>
              <a:rPr lang="pt-BR" sz="2000" b="1" dirty="0"/>
              <a:t>Referências.</a:t>
            </a:r>
            <a:r>
              <a:rPr lang="pt-BR" sz="2000" dirty="0"/>
              <a:t> </a:t>
            </a:r>
          </a:p>
          <a:p>
            <a:pPr marL="0" indent="0">
              <a:buNone/>
            </a:pPr>
            <a:endParaRPr lang="pt-BR" sz="1600"/>
          </a:p>
        </p:txBody>
      </p:sp>
    </p:spTree>
    <p:extLst>
      <p:ext uri="{BB962C8B-B14F-4D97-AF65-F5344CB8AC3E}">
        <p14:creationId xmlns:p14="http://schemas.microsoft.com/office/powerpoint/2010/main" val="3646954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95B9BA8-1D69-4796-85F5-B6D0BD5235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DA4A88EF-014D-D667-CD85-F7CEC3CF0F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6619" y="784501"/>
            <a:ext cx="3527425" cy="854594"/>
          </a:xfrm>
        </p:spPr>
        <p:txBody>
          <a:bodyPr anchor="t">
            <a:normAutofit/>
          </a:bodyPr>
          <a:lstStyle/>
          <a:p>
            <a:r>
              <a:rPr lang="pt-BR" sz="4000"/>
              <a:t>Introdução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DCB718F-8E84-6930-1564-FF51227BFC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7207" y="1713190"/>
            <a:ext cx="10606880" cy="4614844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 algn="just">
              <a:buNone/>
            </a:pPr>
            <a:r>
              <a:rPr lang="pt-BR" sz="2000">
                <a:solidFill>
                  <a:schemeClr val="tx1">
                    <a:alpha val="80000"/>
                  </a:schemeClr>
                </a:solidFill>
              </a:rPr>
              <a:t> </a:t>
            </a:r>
            <a:r>
              <a:rPr lang="pt-BR">
                <a:solidFill>
                  <a:schemeClr val="tx1">
                    <a:alpha val="80000"/>
                  </a:schemeClr>
                </a:solidFill>
              </a:rPr>
              <a:t>Os problemas da “Ciência que estuda a natureza” estão em todos os lugares, e podem ser discutidos por vários ângulos e sobre perspectivas de análises diferentes. Um corpo e suas formas de energia, pode revelar cálculos complexos que podem explorar a Mecânica, Termologia, Óptica, Geometria da Luz e ondas, Eletromagnetismo, Relatividade entre infinitas fórmulas e conceitos matemáticos clássicos ou modernos. Convém destacar que a matemática e todo o seu saber sempre será o alicerce para o desenvolvimento dos cálculos físicos.</a:t>
            </a:r>
          </a:p>
          <a:p>
            <a:endParaRPr lang="pt-BR" sz="2000">
              <a:solidFill>
                <a:schemeClr val="tx1">
                  <a:alpha val="80000"/>
                </a:schemeClr>
              </a:solidFill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4728F330-19FB-4D39-BD0F-53032ABFEB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479015" y="0"/>
            <a:ext cx="712985" cy="6858000"/>
            <a:chOff x="11479015" y="0"/>
            <a:chExt cx="712985" cy="6858000"/>
          </a:xfrm>
          <a:effectLst>
            <a:outerShdw blurRad="381000" dist="152400" dir="10800000" algn="ctr" rotWithShape="0">
              <a:schemeClr val="bg1">
                <a:alpha val="10000"/>
              </a:schemeClr>
            </a:outerShdw>
          </a:effectLst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30220D63-6F38-42F9-8AAD-3B1363A4FA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479018" y="0"/>
              <a:ext cx="712982" cy="6858000"/>
            </a:xfrm>
            <a:custGeom>
              <a:avLst/>
              <a:gdLst>
                <a:gd name="connsiteX0" fmla="*/ 280560 w 712982"/>
                <a:gd name="connsiteY0" fmla="*/ 0 h 6858000"/>
                <a:gd name="connsiteX1" fmla="*/ 712982 w 712982"/>
                <a:gd name="connsiteY1" fmla="*/ 0 h 6858000"/>
                <a:gd name="connsiteX2" fmla="*/ 712982 w 712982"/>
                <a:gd name="connsiteY2" fmla="*/ 6858000 h 6858000"/>
                <a:gd name="connsiteX3" fmla="*/ 372527 w 712982"/>
                <a:gd name="connsiteY3" fmla="*/ 6858000 h 6858000"/>
                <a:gd name="connsiteX4" fmla="*/ 372901 w 712982"/>
                <a:gd name="connsiteY4" fmla="*/ 6835810 h 6858000"/>
                <a:gd name="connsiteX5" fmla="*/ 363017 w 712982"/>
                <a:gd name="connsiteY5" fmla="*/ 6518145 h 6858000"/>
                <a:gd name="connsiteX6" fmla="*/ 310498 w 712982"/>
                <a:gd name="connsiteY6" fmla="*/ 6393936 h 6858000"/>
                <a:gd name="connsiteX7" fmla="*/ 305420 w 712982"/>
                <a:gd name="connsiteY7" fmla="*/ 6355564 h 6858000"/>
                <a:gd name="connsiteX8" fmla="*/ 311030 w 712982"/>
                <a:gd name="connsiteY8" fmla="*/ 6267729 h 6858000"/>
                <a:gd name="connsiteX9" fmla="*/ 281440 w 712982"/>
                <a:gd name="connsiteY9" fmla="*/ 6090959 h 6858000"/>
                <a:gd name="connsiteX10" fmla="*/ 258928 w 712982"/>
                <a:gd name="connsiteY10" fmla="*/ 6026981 h 6858000"/>
                <a:gd name="connsiteX11" fmla="*/ 245105 w 712982"/>
                <a:gd name="connsiteY11" fmla="*/ 5991615 h 6858000"/>
                <a:gd name="connsiteX12" fmla="*/ 197441 w 712982"/>
                <a:gd name="connsiteY12" fmla="*/ 5807458 h 6858000"/>
                <a:gd name="connsiteX13" fmla="*/ 159115 w 712982"/>
                <a:gd name="connsiteY13" fmla="*/ 5727356 h 6858000"/>
                <a:gd name="connsiteX14" fmla="*/ 152306 w 712982"/>
                <a:gd name="connsiteY14" fmla="*/ 5705270 h 6858000"/>
                <a:gd name="connsiteX15" fmla="*/ 150939 w 712982"/>
                <a:gd name="connsiteY15" fmla="*/ 5580441 h 6858000"/>
                <a:gd name="connsiteX16" fmla="*/ 187956 w 712982"/>
                <a:gd name="connsiteY16" fmla="*/ 5482729 h 6858000"/>
                <a:gd name="connsiteX17" fmla="*/ 201902 w 712982"/>
                <a:gd name="connsiteY17" fmla="*/ 5463053 h 6858000"/>
                <a:gd name="connsiteX18" fmla="*/ 168174 w 712982"/>
                <a:gd name="connsiteY18" fmla="*/ 5205662 h 6858000"/>
                <a:gd name="connsiteX19" fmla="*/ 157186 w 712982"/>
                <a:gd name="connsiteY19" fmla="*/ 5166766 h 6858000"/>
                <a:gd name="connsiteX20" fmla="*/ 163999 w 712982"/>
                <a:gd name="connsiteY20" fmla="*/ 4972256 h 6858000"/>
                <a:gd name="connsiteX21" fmla="*/ 163388 w 712982"/>
                <a:gd name="connsiteY21" fmla="*/ 4915833 h 6858000"/>
                <a:gd name="connsiteX22" fmla="*/ 166361 w 712982"/>
                <a:gd name="connsiteY22" fmla="*/ 4712964 h 6858000"/>
                <a:gd name="connsiteX23" fmla="*/ 140122 w 712982"/>
                <a:gd name="connsiteY23" fmla="*/ 4687152 h 6858000"/>
                <a:gd name="connsiteX24" fmla="*/ 73058 w 712982"/>
                <a:gd name="connsiteY24" fmla="*/ 4611951 h 6858000"/>
                <a:gd name="connsiteX25" fmla="*/ 3979 w 712982"/>
                <a:gd name="connsiteY25" fmla="*/ 4456771 h 6858000"/>
                <a:gd name="connsiteX26" fmla="*/ 2091 w 712982"/>
                <a:gd name="connsiteY26" fmla="*/ 4412781 h 6858000"/>
                <a:gd name="connsiteX27" fmla="*/ 75905 w 712982"/>
                <a:gd name="connsiteY27" fmla="*/ 4292897 h 6858000"/>
                <a:gd name="connsiteX28" fmla="*/ 104434 w 712982"/>
                <a:gd name="connsiteY28" fmla="*/ 4235333 h 6858000"/>
                <a:gd name="connsiteX29" fmla="*/ 151065 w 712982"/>
                <a:gd name="connsiteY29" fmla="*/ 4075686 h 6858000"/>
                <a:gd name="connsiteX30" fmla="*/ 161243 w 712982"/>
                <a:gd name="connsiteY30" fmla="*/ 4061695 h 6858000"/>
                <a:gd name="connsiteX31" fmla="*/ 286285 w 712982"/>
                <a:gd name="connsiteY31" fmla="*/ 3933862 h 6858000"/>
                <a:gd name="connsiteX32" fmla="*/ 306926 w 712982"/>
                <a:gd name="connsiteY32" fmla="*/ 3905847 h 6858000"/>
                <a:gd name="connsiteX33" fmla="*/ 340015 w 712982"/>
                <a:gd name="connsiteY33" fmla="*/ 3871199 h 6858000"/>
                <a:gd name="connsiteX34" fmla="*/ 400111 w 712982"/>
                <a:gd name="connsiteY34" fmla="*/ 3767743 h 6858000"/>
                <a:gd name="connsiteX35" fmla="*/ 409694 w 712982"/>
                <a:gd name="connsiteY35" fmla="*/ 3646690 h 6858000"/>
                <a:gd name="connsiteX36" fmla="*/ 428447 w 712982"/>
                <a:gd name="connsiteY36" fmla="*/ 3499752 h 6858000"/>
                <a:gd name="connsiteX37" fmla="*/ 445033 w 712982"/>
                <a:gd name="connsiteY37" fmla="*/ 3437349 h 6858000"/>
                <a:gd name="connsiteX38" fmla="*/ 471431 w 712982"/>
                <a:gd name="connsiteY38" fmla="*/ 3272018 h 6858000"/>
                <a:gd name="connsiteX39" fmla="*/ 495919 w 712982"/>
                <a:gd name="connsiteY39" fmla="*/ 3153432 h 6858000"/>
                <a:gd name="connsiteX40" fmla="*/ 499541 w 712982"/>
                <a:gd name="connsiteY40" fmla="*/ 2985907 h 6858000"/>
                <a:gd name="connsiteX41" fmla="*/ 491640 w 712982"/>
                <a:gd name="connsiteY41" fmla="*/ 2905697 h 6858000"/>
                <a:gd name="connsiteX42" fmla="*/ 586592 w 712982"/>
                <a:gd name="connsiteY42" fmla="*/ 2746325 h 6858000"/>
                <a:gd name="connsiteX43" fmla="*/ 647211 w 712982"/>
                <a:gd name="connsiteY43" fmla="*/ 2620857 h 6858000"/>
                <a:gd name="connsiteX44" fmla="*/ 598120 w 712982"/>
                <a:gd name="connsiteY44" fmla="*/ 2501248 h 6858000"/>
                <a:gd name="connsiteX45" fmla="*/ 560897 w 712982"/>
                <a:gd name="connsiteY45" fmla="*/ 2471368 h 6858000"/>
                <a:gd name="connsiteX46" fmla="*/ 506928 w 712982"/>
                <a:gd name="connsiteY46" fmla="*/ 2272389 h 6858000"/>
                <a:gd name="connsiteX47" fmla="*/ 474122 w 712982"/>
                <a:gd name="connsiteY47" fmla="*/ 1983284 h 6858000"/>
                <a:gd name="connsiteX48" fmla="*/ 349180 w 712982"/>
                <a:gd name="connsiteY48" fmla="*/ 1510207 h 6858000"/>
                <a:gd name="connsiteX49" fmla="*/ 306451 w 712982"/>
                <a:gd name="connsiteY49" fmla="*/ 1430003 h 6858000"/>
                <a:gd name="connsiteX50" fmla="*/ 287747 w 712982"/>
                <a:gd name="connsiteY50" fmla="*/ 1336633 h 6858000"/>
                <a:gd name="connsiteX51" fmla="*/ 304326 w 712982"/>
                <a:gd name="connsiteY51" fmla="*/ 1298229 h 6858000"/>
                <a:gd name="connsiteX52" fmla="*/ 317671 w 712982"/>
                <a:gd name="connsiteY52" fmla="*/ 1136667 h 6858000"/>
                <a:gd name="connsiteX53" fmla="*/ 314959 w 712982"/>
                <a:gd name="connsiteY53" fmla="*/ 1106522 h 6858000"/>
                <a:gd name="connsiteX54" fmla="*/ 290675 w 712982"/>
                <a:gd name="connsiteY54" fmla="*/ 1004980 h 6858000"/>
                <a:gd name="connsiteX55" fmla="*/ 272712 w 712982"/>
                <a:gd name="connsiteY55" fmla="*/ 910357 h 6858000"/>
                <a:gd name="connsiteX56" fmla="*/ 270963 w 712982"/>
                <a:gd name="connsiteY56" fmla="*/ 667028 h 6858000"/>
                <a:gd name="connsiteX57" fmla="*/ 244986 w 712982"/>
                <a:gd name="connsiteY57" fmla="*/ 483131 h 6858000"/>
                <a:gd name="connsiteX58" fmla="*/ 241465 w 712982"/>
                <a:gd name="connsiteY58" fmla="*/ 397465 h 6858000"/>
                <a:gd name="connsiteX59" fmla="*/ 244890 w 712982"/>
                <a:gd name="connsiteY59" fmla="*/ 348507 h 6858000"/>
                <a:gd name="connsiteX60" fmla="*/ 293439 w 712982"/>
                <a:gd name="connsiteY60" fmla="*/ 233141 h 6858000"/>
                <a:gd name="connsiteX61" fmla="*/ 300513 w 712982"/>
                <a:gd name="connsiteY61" fmla="*/ 172069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712982" h="6858000">
                  <a:moveTo>
                    <a:pt x="280560" y="0"/>
                  </a:moveTo>
                  <a:lnTo>
                    <a:pt x="712982" y="0"/>
                  </a:lnTo>
                  <a:lnTo>
                    <a:pt x="712982" y="6858000"/>
                  </a:lnTo>
                  <a:lnTo>
                    <a:pt x="372527" y="6858000"/>
                  </a:lnTo>
                  <a:lnTo>
                    <a:pt x="372901" y="6835810"/>
                  </a:lnTo>
                  <a:cubicBezTo>
                    <a:pt x="343741" y="6729822"/>
                    <a:pt x="373381" y="6623551"/>
                    <a:pt x="363017" y="6518145"/>
                  </a:cubicBezTo>
                  <a:cubicBezTo>
                    <a:pt x="358372" y="6470360"/>
                    <a:pt x="362468" y="6422202"/>
                    <a:pt x="310498" y="6393936"/>
                  </a:cubicBezTo>
                  <a:cubicBezTo>
                    <a:pt x="303659" y="6390296"/>
                    <a:pt x="304819" y="6368800"/>
                    <a:pt x="305420" y="6355564"/>
                  </a:cubicBezTo>
                  <a:cubicBezTo>
                    <a:pt x="306594" y="6326166"/>
                    <a:pt x="314451" y="6296329"/>
                    <a:pt x="311030" y="6267729"/>
                  </a:cubicBezTo>
                  <a:cubicBezTo>
                    <a:pt x="304253" y="6208466"/>
                    <a:pt x="293104" y="6149393"/>
                    <a:pt x="281440" y="6090959"/>
                  </a:cubicBezTo>
                  <a:cubicBezTo>
                    <a:pt x="276978" y="6068911"/>
                    <a:pt x="266829" y="6048361"/>
                    <a:pt x="258928" y="6026981"/>
                  </a:cubicBezTo>
                  <a:cubicBezTo>
                    <a:pt x="254416" y="6015184"/>
                    <a:pt x="244605" y="6003083"/>
                    <a:pt x="245105" y="5991615"/>
                  </a:cubicBezTo>
                  <a:cubicBezTo>
                    <a:pt x="248075" y="5925141"/>
                    <a:pt x="216651" y="5867990"/>
                    <a:pt x="197441" y="5807458"/>
                  </a:cubicBezTo>
                  <a:cubicBezTo>
                    <a:pt x="188523" y="5779456"/>
                    <a:pt x="171697" y="5754078"/>
                    <a:pt x="159115" y="5727356"/>
                  </a:cubicBezTo>
                  <a:cubicBezTo>
                    <a:pt x="155717" y="5720411"/>
                    <a:pt x="152517" y="5712566"/>
                    <a:pt x="152306" y="5705270"/>
                  </a:cubicBezTo>
                  <a:cubicBezTo>
                    <a:pt x="151252" y="5663532"/>
                    <a:pt x="151674" y="5621922"/>
                    <a:pt x="150939" y="5580441"/>
                  </a:cubicBezTo>
                  <a:cubicBezTo>
                    <a:pt x="150326" y="5542748"/>
                    <a:pt x="147369" y="5505023"/>
                    <a:pt x="187956" y="5482729"/>
                  </a:cubicBezTo>
                  <a:cubicBezTo>
                    <a:pt x="194324" y="5479395"/>
                    <a:pt x="198291" y="5470181"/>
                    <a:pt x="201902" y="5463053"/>
                  </a:cubicBezTo>
                  <a:cubicBezTo>
                    <a:pt x="257480" y="5353065"/>
                    <a:pt x="249730" y="5298303"/>
                    <a:pt x="168174" y="5205662"/>
                  </a:cubicBezTo>
                  <a:cubicBezTo>
                    <a:pt x="159805" y="5196040"/>
                    <a:pt x="152161" y="5174340"/>
                    <a:pt x="157186" y="5166766"/>
                  </a:cubicBezTo>
                  <a:cubicBezTo>
                    <a:pt x="198743" y="5102508"/>
                    <a:pt x="186477" y="5038579"/>
                    <a:pt x="163999" y="4972256"/>
                  </a:cubicBezTo>
                  <a:cubicBezTo>
                    <a:pt x="158020" y="4955056"/>
                    <a:pt x="155299" y="4930181"/>
                    <a:pt x="163388" y="4915833"/>
                  </a:cubicBezTo>
                  <a:cubicBezTo>
                    <a:pt x="200708" y="4847649"/>
                    <a:pt x="186907" y="4780374"/>
                    <a:pt x="166361" y="4712964"/>
                  </a:cubicBezTo>
                  <a:cubicBezTo>
                    <a:pt x="163165" y="4702485"/>
                    <a:pt x="150748" y="4690669"/>
                    <a:pt x="140122" y="4687152"/>
                  </a:cubicBezTo>
                  <a:cubicBezTo>
                    <a:pt x="102452" y="4674589"/>
                    <a:pt x="86917" y="4644970"/>
                    <a:pt x="73058" y="4611951"/>
                  </a:cubicBezTo>
                  <a:cubicBezTo>
                    <a:pt x="50686" y="4559957"/>
                    <a:pt x="25516" y="4509149"/>
                    <a:pt x="3979" y="4456771"/>
                  </a:cubicBezTo>
                  <a:cubicBezTo>
                    <a:pt x="-1236" y="4443877"/>
                    <a:pt x="-726" y="4427139"/>
                    <a:pt x="2091" y="4412781"/>
                  </a:cubicBezTo>
                  <a:cubicBezTo>
                    <a:pt x="11653" y="4363733"/>
                    <a:pt x="45382" y="4329603"/>
                    <a:pt x="75905" y="4292897"/>
                  </a:cubicBezTo>
                  <a:cubicBezTo>
                    <a:pt x="89361" y="4276787"/>
                    <a:pt x="97880" y="4255660"/>
                    <a:pt x="104434" y="4235333"/>
                  </a:cubicBezTo>
                  <a:cubicBezTo>
                    <a:pt x="121200" y="4182569"/>
                    <a:pt x="135523" y="4128901"/>
                    <a:pt x="151065" y="4075686"/>
                  </a:cubicBezTo>
                  <a:cubicBezTo>
                    <a:pt x="152552" y="4070549"/>
                    <a:pt x="157315" y="4065932"/>
                    <a:pt x="161243" y="4061695"/>
                  </a:cubicBezTo>
                  <a:cubicBezTo>
                    <a:pt x="202828" y="4019095"/>
                    <a:pt x="244731" y="3976753"/>
                    <a:pt x="286285" y="3933862"/>
                  </a:cubicBezTo>
                  <a:cubicBezTo>
                    <a:pt x="294168" y="3925683"/>
                    <a:pt x="299393" y="3914571"/>
                    <a:pt x="306926" y="3905847"/>
                  </a:cubicBezTo>
                  <a:cubicBezTo>
                    <a:pt x="317292" y="3893589"/>
                    <a:pt x="326766" y="3878502"/>
                    <a:pt x="340015" y="3871199"/>
                  </a:cubicBezTo>
                  <a:cubicBezTo>
                    <a:pt x="381725" y="3848490"/>
                    <a:pt x="396760" y="3812013"/>
                    <a:pt x="400111" y="3767743"/>
                  </a:cubicBezTo>
                  <a:cubicBezTo>
                    <a:pt x="403294" y="3727294"/>
                    <a:pt x="405323" y="3686973"/>
                    <a:pt x="409694" y="3646690"/>
                  </a:cubicBezTo>
                  <a:cubicBezTo>
                    <a:pt x="414852" y="3597538"/>
                    <a:pt x="420910" y="3548579"/>
                    <a:pt x="428447" y="3499752"/>
                  </a:cubicBezTo>
                  <a:cubicBezTo>
                    <a:pt x="431696" y="3478619"/>
                    <a:pt x="435683" y="3456228"/>
                    <a:pt x="445033" y="3437349"/>
                  </a:cubicBezTo>
                  <a:cubicBezTo>
                    <a:pt x="470858" y="3384475"/>
                    <a:pt x="486179" y="3329236"/>
                    <a:pt x="471431" y="3272018"/>
                  </a:cubicBezTo>
                  <a:cubicBezTo>
                    <a:pt x="459682" y="3226180"/>
                    <a:pt x="472474" y="3185267"/>
                    <a:pt x="495919" y="3153432"/>
                  </a:cubicBezTo>
                  <a:cubicBezTo>
                    <a:pt x="538461" y="3095505"/>
                    <a:pt x="521296" y="3040311"/>
                    <a:pt x="499541" y="2985907"/>
                  </a:cubicBezTo>
                  <a:cubicBezTo>
                    <a:pt x="488276" y="2957871"/>
                    <a:pt x="486838" y="2934028"/>
                    <a:pt x="491640" y="2905697"/>
                  </a:cubicBezTo>
                  <a:cubicBezTo>
                    <a:pt x="502898" y="2840071"/>
                    <a:pt x="547705" y="2792141"/>
                    <a:pt x="586592" y="2746325"/>
                  </a:cubicBezTo>
                  <a:cubicBezTo>
                    <a:pt x="619786" y="2707275"/>
                    <a:pt x="636305" y="2665661"/>
                    <a:pt x="647211" y="2620857"/>
                  </a:cubicBezTo>
                  <a:cubicBezTo>
                    <a:pt x="661216" y="2564298"/>
                    <a:pt x="648982" y="2522027"/>
                    <a:pt x="598120" y="2501248"/>
                  </a:cubicBezTo>
                  <a:cubicBezTo>
                    <a:pt x="583733" y="2495506"/>
                    <a:pt x="566431" y="2484521"/>
                    <a:pt x="560897" y="2471368"/>
                  </a:cubicBezTo>
                  <a:cubicBezTo>
                    <a:pt x="533469" y="2407931"/>
                    <a:pt x="496686" y="2344634"/>
                    <a:pt x="506928" y="2272389"/>
                  </a:cubicBezTo>
                  <a:cubicBezTo>
                    <a:pt x="520879" y="2172517"/>
                    <a:pt x="509052" y="2077807"/>
                    <a:pt x="474122" y="1983284"/>
                  </a:cubicBezTo>
                  <a:cubicBezTo>
                    <a:pt x="417537" y="1829959"/>
                    <a:pt x="358639" y="1676886"/>
                    <a:pt x="349180" y="1510207"/>
                  </a:cubicBezTo>
                  <a:cubicBezTo>
                    <a:pt x="347619" y="1482573"/>
                    <a:pt x="326399" y="1451821"/>
                    <a:pt x="306451" y="1430003"/>
                  </a:cubicBezTo>
                  <a:cubicBezTo>
                    <a:pt x="268511" y="1388202"/>
                    <a:pt x="266127" y="1390512"/>
                    <a:pt x="287747" y="1336633"/>
                  </a:cubicBezTo>
                  <a:cubicBezTo>
                    <a:pt x="293070" y="1323756"/>
                    <a:pt x="295470" y="1308272"/>
                    <a:pt x="304326" y="1298229"/>
                  </a:cubicBezTo>
                  <a:cubicBezTo>
                    <a:pt x="349361" y="1247057"/>
                    <a:pt x="331041" y="1191986"/>
                    <a:pt x="317671" y="1136667"/>
                  </a:cubicBezTo>
                  <a:cubicBezTo>
                    <a:pt x="315148" y="1126990"/>
                    <a:pt x="311827" y="1115354"/>
                    <a:pt x="314959" y="1106522"/>
                  </a:cubicBezTo>
                  <a:cubicBezTo>
                    <a:pt x="329032" y="1066641"/>
                    <a:pt x="319157" y="1035231"/>
                    <a:pt x="290675" y="1004980"/>
                  </a:cubicBezTo>
                  <a:cubicBezTo>
                    <a:pt x="266138" y="978690"/>
                    <a:pt x="249805" y="947108"/>
                    <a:pt x="272712" y="910357"/>
                  </a:cubicBezTo>
                  <a:cubicBezTo>
                    <a:pt x="323486" y="828702"/>
                    <a:pt x="317578" y="747981"/>
                    <a:pt x="270963" y="667028"/>
                  </a:cubicBezTo>
                  <a:cubicBezTo>
                    <a:pt x="237707" y="609204"/>
                    <a:pt x="225082" y="549995"/>
                    <a:pt x="244986" y="483131"/>
                  </a:cubicBezTo>
                  <a:cubicBezTo>
                    <a:pt x="252708" y="457408"/>
                    <a:pt x="242285" y="426353"/>
                    <a:pt x="241465" y="397465"/>
                  </a:cubicBezTo>
                  <a:cubicBezTo>
                    <a:pt x="240850" y="381142"/>
                    <a:pt x="239176" y="363176"/>
                    <a:pt x="244890" y="348507"/>
                  </a:cubicBezTo>
                  <a:cubicBezTo>
                    <a:pt x="259350" y="309454"/>
                    <a:pt x="279299" y="272445"/>
                    <a:pt x="293439" y="233141"/>
                  </a:cubicBezTo>
                  <a:cubicBezTo>
                    <a:pt x="300152" y="214256"/>
                    <a:pt x="302437" y="192349"/>
                    <a:pt x="300513" y="172069"/>
                  </a:cubicBezTo>
                  <a:close/>
                </a:path>
              </a:pathLst>
            </a:custGeom>
            <a:solidFill>
              <a:srgbClr val="FFFFFF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97B054CB-4DA3-4EDD-B196-A5DDD1E4E6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479015" y="0"/>
              <a:ext cx="712985" cy="6858000"/>
            </a:xfrm>
            <a:custGeom>
              <a:avLst/>
              <a:gdLst>
                <a:gd name="connsiteX0" fmla="*/ 280560 w 712985"/>
                <a:gd name="connsiteY0" fmla="*/ 0 h 6858000"/>
                <a:gd name="connsiteX1" fmla="*/ 712985 w 712985"/>
                <a:gd name="connsiteY1" fmla="*/ 0 h 6858000"/>
                <a:gd name="connsiteX2" fmla="*/ 712985 w 712985"/>
                <a:gd name="connsiteY2" fmla="*/ 6858000 h 6858000"/>
                <a:gd name="connsiteX3" fmla="*/ 372527 w 712985"/>
                <a:gd name="connsiteY3" fmla="*/ 6858000 h 6858000"/>
                <a:gd name="connsiteX4" fmla="*/ 372901 w 712985"/>
                <a:gd name="connsiteY4" fmla="*/ 6835810 h 6858000"/>
                <a:gd name="connsiteX5" fmla="*/ 363017 w 712985"/>
                <a:gd name="connsiteY5" fmla="*/ 6518145 h 6858000"/>
                <a:gd name="connsiteX6" fmla="*/ 310498 w 712985"/>
                <a:gd name="connsiteY6" fmla="*/ 6393936 h 6858000"/>
                <a:gd name="connsiteX7" fmla="*/ 305420 w 712985"/>
                <a:gd name="connsiteY7" fmla="*/ 6355564 h 6858000"/>
                <a:gd name="connsiteX8" fmla="*/ 311030 w 712985"/>
                <a:gd name="connsiteY8" fmla="*/ 6267729 h 6858000"/>
                <a:gd name="connsiteX9" fmla="*/ 281440 w 712985"/>
                <a:gd name="connsiteY9" fmla="*/ 6090959 h 6858000"/>
                <a:gd name="connsiteX10" fmla="*/ 258928 w 712985"/>
                <a:gd name="connsiteY10" fmla="*/ 6026981 h 6858000"/>
                <a:gd name="connsiteX11" fmla="*/ 245105 w 712985"/>
                <a:gd name="connsiteY11" fmla="*/ 5991615 h 6858000"/>
                <a:gd name="connsiteX12" fmla="*/ 197441 w 712985"/>
                <a:gd name="connsiteY12" fmla="*/ 5807458 h 6858000"/>
                <a:gd name="connsiteX13" fmla="*/ 159115 w 712985"/>
                <a:gd name="connsiteY13" fmla="*/ 5727356 h 6858000"/>
                <a:gd name="connsiteX14" fmla="*/ 152306 w 712985"/>
                <a:gd name="connsiteY14" fmla="*/ 5705270 h 6858000"/>
                <a:gd name="connsiteX15" fmla="*/ 150939 w 712985"/>
                <a:gd name="connsiteY15" fmla="*/ 5580441 h 6858000"/>
                <a:gd name="connsiteX16" fmla="*/ 187956 w 712985"/>
                <a:gd name="connsiteY16" fmla="*/ 5482729 h 6858000"/>
                <a:gd name="connsiteX17" fmla="*/ 201902 w 712985"/>
                <a:gd name="connsiteY17" fmla="*/ 5463053 h 6858000"/>
                <a:gd name="connsiteX18" fmla="*/ 168174 w 712985"/>
                <a:gd name="connsiteY18" fmla="*/ 5205662 h 6858000"/>
                <a:gd name="connsiteX19" fmla="*/ 157186 w 712985"/>
                <a:gd name="connsiteY19" fmla="*/ 5166766 h 6858000"/>
                <a:gd name="connsiteX20" fmla="*/ 163999 w 712985"/>
                <a:gd name="connsiteY20" fmla="*/ 4972256 h 6858000"/>
                <a:gd name="connsiteX21" fmla="*/ 163388 w 712985"/>
                <a:gd name="connsiteY21" fmla="*/ 4915833 h 6858000"/>
                <a:gd name="connsiteX22" fmla="*/ 166361 w 712985"/>
                <a:gd name="connsiteY22" fmla="*/ 4712964 h 6858000"/>
                <a:gd name="connsiteX23" fmla="*/ 140122 w 712985"/>
                <a:gd name="connsiteY23" fmla="*/ 4687152 h 6858000"/>
                <a:gd name="connsiteX24" fmla="*/ 73058 w 712985"/>
                <a:gd name="connsiteY24" fmla="*/ 4611951 h 6858000"/>
                <a:gd name="connsiteX25" fmla="*/ 3979 w 712985"/>
                <a:gd name="connsiteY25" fmla="*/ 4456771 h 6858000"/>
                <a:gd name="connsiteX26" fmla="*/ 2091 w 712985"/>
                <a:gd name="connsiteY26" fmla="*/ 4412781 h 6858000"/>
                <a:gd name="connsiteX27" fmla="*/ 75905 w 712985"/>
                <a:gd name="connsiteY27" fmla="*/ 4292897 h 6858000"/>
                <a:gd name="connsiteX28" fmla="*/ 104434 w 712985"/>
                <a:gd name="connsiteY28" fmla="*/ 4235333 h 6858000"/>
                <a:gd name="connsiteX29" fmla="*/ 151065 w 712985"/>
                <a:gd name="connsiteY29" fmla="*/ 4075686 h 6858000"/>
                <a:gd name="connsiteX30" fmla="*/ 161243 w 712985"/>
                <a:gd name="connsiteY30" fmla="*/ 4061695 h 6858000"/>
                <a:gd name="connsiteX31" fmla="*/ 286285 w 712985"/>
                <a:gd name="connsiteY31" fmla="*/ 3933862 h 6858000"/>
                <a:gd name="connsiteX32" fmla="*/ 306926 w 712985"/>
                <a:gd name="connsiteY32" fmla="*/ 3905847 h 6858000"/>
                <a:gd name="connsiteX33" fmla="*/ 340015 w 712985"/>
                <a:gd name="connsiteY33" fmla="*/ 3871199 h 6858000"/>
                <a:gd name="connsiteX34" fmla="*/ 400111 w 712985"/>
                <a:gd name="connsiteY34" fmla="*/ 3767743 h 6858000"/>
                <a:gd name="connsiteX35" fmla="*/ 409694 w 712985"/>
                <a:gd name="connsiteY35" fmla="*/ 3646690 h 6858000"/>
                <a:gd name="connsiteX36" fmla="*/ 428447 w 712985"/>
                <a:gd name="connsiteY36" fmla="*/ 3499752 h 6858000"/>
                <a:gd name="connsiteX37" fmla="*/ 445033 w 712985"/>
                <a:gd name="connsiteY37" fmla="*/ 3437349 h 6858000"/>
                <a:gd name="connsiteX38" fmla="*/ 471431 w 712985"/>
                <a:gd name="connsiteY38" fmla="*/ 3272018 h 6858000"/>
                <a:gd name="connsiteX39" fmla="*/ 495919 w 712985"/>
                <a:gd name="connsiteY39" fmla="*/ 3153432 h 6858000"/>
                <a:gd name="connsiteX40" fmla="*/ 499541 w 712985"/>
                <a:gd name="connsiteY40" fmla="*/ 2985907 h 6858000"/>
                <a:gd name="connsiteX41" fmla="*/ 491640 w 712985"/>
                <a:gd name="connsiteY41" fmla="*/ 2905697 h 6858000"/>
                <a:gd name="connsiteX42" fmla="*/ 586592 w 712985"/>
                <a:gd name="connsiteY42" fmla="*/ 2746325 h 6858000"/>
                <a:gd name="connsiteX43" fmla="*/ 647211 w 712985"/>
                <a:gd name="connsiteY43" fmla="*/ 2620857 h 6858000"/>
                <a:gd name="connsiteX44" fmla="*/ 598120 w 712985"/>
                <a:gd name="connsiteY44" fmla="*/ 2501248 h 6858000"/>
                <a:gd name="connsiteX45" fmla="*/ 560897 w 712985"/>
                <a:gd name="connsiteY45" fmla="*/ 2471368 h 6858000"/>
                <a:gd name="connsiteX46" fmla="*/ 506928 w 712985"/>
                <a:gd name="connsiteY46" fmla="*/ 2272389 h 6858000"/>
                <a:gd name="connsiteX47" fmla="*/ 474122 w 712985"/>
                <a:gd name="connsiteY47" fmla="*/ 1983284 h 6858000"/>
                <a:gd name="connsiteX48" fmla="*/ 349180 w 712985"/>
                <a:gd name="connsiteY48" fmla="*/ 1510207 h 6858000"/>
                <a:gd name="connsiteX49" fmla="*/ 306451 w 712985"/>
                <a:gd name="connsiteY49" fmla="*/ 1430003 h 6858000"/>
                <a:gd name="connsiteX50" fmla="*/ 287747 w 712985"/>
                <a:gd name="connsiteY50" fmla="*/ 1336633 h 6858000"/>
                <a:gd name="connsiteX51" fmla="*/ 304326 w 712985"/>
                <a:gd name="connsiteY51" fmla="*/ 1298229 h 6858000"/>
                <a:gd name="connsiteX52" fmla="*/ 317671 w 712985"/>
                <a:gd name="connsiteY52" fmla="*/ 1136667 h 6858000"/>
                <a:gd name="connsiteX53" fmla="*/ 314959 w 712985"/>
                <a:gd name="connsiteY53" fmla="*/ 1106522 h 6858000"/>
                <a:gd name="connsiteX54" fmla="*/ 290675 w 712985"/>
                <a:gd name="connsiteY54" fmla="*/ 1004980 h 6858000"/>
                <a:gd name="connsiteX55" fmla="*/ 272712 w 712985"/>
                <a:gd name="connsiteY55" fmla="*/ 910357 h 6858000"/>
                <a:gd name="connsiteX56" fmla="*/ 270963 w 712985"/>
                <a:gd name="connsiteY56" fmla="*/ 667028 h 6858000"/>
                <a:gd name="connsiteX57" fmla="*/ 244986 w 712985"/>
                <a:gd name="connsiteY57" fmla="*/ 483131 h 6858000"/>
                <a:gd name="connsiteX58" fmla="*/ 241465 w 712985"/>
                <a:gd name="connsiteY58" fmla="*/ 397465 h 6858000"/>
                <a:gd name="connsiteX59" fmla="*/ 244890 w 712985"/>
                <a:gd name="connsiteY59" fmla="*/ 348507 h 6858000"/>
                <a:gd name="connsiteX60" fmla="*/ 293439 w 712985"/>
                <a:gd name="connsiteY60" fmla="*/ 233141 h 6858000"/>
                <a:gd name="connsiteX61" fmla="*/ 300513 w 712985"/>
                <a:gd name="connsiteY61" fmla="*/ 172069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712985" h="6858000">
                  <a:moveTo>
                    <a:pt x="280560" y="0"/>
                  </a:moveTo>
                  <a:lnTo>
                    <a:pt x="712985" y="0"/>
                  </a:lnTo>
                  <a:lnTo>
                    <a:pt x="712985" y="6858000"/>
                  </a:lnTo>
                  <a:lnTo>
                    <a:pt x="372527" y="6858000"/>
                  </a:lnTo>
                  <a:lnTo>
                    <a:pt x="372901" y="6835810"/>
                  </a:lnTo>
                  <a:cubicBezTo>
                    <a:pt x="343741" y="6729822"/>
                    <a:pt x="373381" y="6623551"/>
                    <a:pt x="363017" y="6518145"/>
                  </a:cubicBezTo>
                  <a:cubicBezTo>
                    <a:pt x="358372" y="6470360"/>
                    <a:pt x="362468" y="6422202"/>
                    <a:pt x="310498" y="6393936"/>
                  </a:cubicBezTo>
                  <a:cubicBezTo>
                    <a:pt x="303659" y="6390296"/>
                    <a:pt x="304819" y="6368800"/>
                    <a:pt x="305420" y="6355564"/>
                  </a:cubicBezTo>
                  <a:cubicBezTo>
                    <a:pt x="306594" y="6326166"/>
                    <a:pt x="314451" y="6296329"/>
                    <a:pt x="311030" y="6267729"/>
                  </a:cubicBezTo>
                  <a:cubicBezTo>
                    <a:pt x="304253" y="6208466"/>
                    <a:pt x="293104" y="6149393"/>
                    <a:pt x="281440" y="6090959"/>
                  </a:cubicBezTo>
                  <a:cubicBezTo>
                    <a:pt x="276978" y="6068911"/>
                    <a:pt x="266829" y="6048361"/>
                    <a:pt x="258928" y="6026981"/>
                  </a:cubicBezTo>
                  <a:cubicBezTo>
                    <a:pt x="254416" y="6015184"/>
                    <a:pt x="244605" y="6003083"/>
                    <a:pt x="245105" y="5991615"/>
                  </a:cubicBezTo>
                  <a:cubicBezTo>
                    <a:pt x="248075" y="5925141"/>
                    <a:pt x="216651" y="5867990"/>
                    <a:pt x="197441" y="5807458"/>
                  </a:cubicBezTo>
                  <a:cubicBezTo>
                    <a:pt x="188523" y="5779456"/>
                    <a:pt x="171697" y="5754078"/>
                    <a:pt x="159115" y="5727356"/>
                  </a:cubicBezTo>
                  <a:cubicBezTo>
                    <a:pt x="155717" y="5720411"/>
                    <a:pt x="152517" y="5712566"/>
                    <a:pt x="152306" y="5705270"/>
                  </a:cubicBezTo>
                  <a:cubicBezTo>
                    <a:pt x="151252" y="5663532"/>
                    <a:pt x="151674" y="5621922"/>
                    <a:pt x="150939" y="5580441"/>
                  </a:cubicBezTo>
                  <a:cubicBezTo>
                    <a:pt x="150326" y="5542748"/>
                    <a:pt x="147369" y="5505023"/>
                    <a:pt x="187956" y="5482729"/>
                  </a:cubicBezTo>
                  <a:cubicBezTo>
                    <a:pt x="194324" y="5479395"/>
                    <a:pt x="198291" y="5470181"/>
                    <a:pt x="201902" y="5463053"/>
                  </a:cubicBezTo>
                  <a:cubicBezTo>
                    <a:pt x="257480" y="5353065"/>
                    <a:pt x="249730" y="5298303"/>
                    <a:pt x="168174" y="5205662"/>
                  </a:cubicBezTo>
                  <a:cubicBezTo>
                    <a:pt x="159805" y="5196040"/>
                    <a:pt x="152161" y="5174340"/>
                    <a:pt x="157186" y="5166766"/>
                  </a:cubicBezTo>
                  <a:cubicBezTo>
                    <a:pt x="198743" y="5102508"/>
                    <a:pt x="186477" y="5038579"/>
                    <a:pt x="163999" y="4972256"/>
                  </a:cubicBezTo>
                  <a:cubicBezTo>
                    <a:pt x="158020" y="4955056"/>
                    <a:pt x="155299" y="4930181"/>
                    <a:pt x="163388" y="4915833"/>
                  </a:cubicBezTo>
                  <a:cubicBezTo>
                    <a:pt x="200708" y="4847649"/>
                    <a:pt x="186907" y="4780374"/>
                    <a:pt x="166361" y="4712964"/>
                  </a:cubicBezTo>
                  <a:cubicBezTo>
                    <a:pt x="163165" y="4702485"/>
                    <a:pt x="150748" y="4690669"/>
                    <a:pt x="140122" y="4687152"/>
                  </a:cubicBezTo>
                  <a:cubicBezTo>
                    <a:pt x="102452" y="4674589"/>
                    <a:pt x="86917" y="4644970"/>
                    <a:pt x="73058" y="4611951"/>
                  </a:cubicBezTo>
                  <a:cubicBezTo>
                    <a:pt x="50686" y="4559957"/>
                    <a:pt x="25516" y="4509149"/>
                    <a:pt x="3979" y="4456771"/>
                  </a:cubicBezTo>
                  <a:cubicBezTo>
                    <a:pt x="-1236" y="4443877"/>
                    <a:pt x="-726" y="4427139"/>
                    <a:pt x="2091" y="4412781"/>
                  </a:cubicBezTo>
                  <a:cubicBezTo>
                    <a:pt x="11653" y="4363733"/>
                    <a:pt x="45382" y="4329603"/>
                    <a:pt x="75905" y="4292897"/>
                  </a:cubicBezTo>
                  <a:cubicBezTo>
                    <a:pt x="89361" y="4276787"/>
                    <a:pt x="97880" y="4255660"/>
                    <a:pt x="104434" y="4235333"/>
                  </a:cubicBezTo>
                  <a:cubicBezTo>
                    <a:pt x="121200" y="4182569"/>
                    <a:pt x="135523" y="4128901"/>
                    <a:pt x="151065" y="4075686"/>
                  </a:cubicBezTo>
                  <a:cubicBezTo>
                    <a:pt x="152552" y="4070549"/>
                    <a:pt x="157315" y="4065932"/>
                    <a:pt x="161243" y="4061695"/>
                  </a:cubicBezTo>
                  <a:cubicBezTo>
                    <a:pt x="202828" y="4019095"/>
                    <a:pt x="244731" y="3976753"/>
                    <a:pt x="286285" y="3933862"/>
                  </a:cubicBezTo>
                  <a:cubicBezTo>
                    <a:pt x="294168" y="3925683"/>
                    <a:pt x="299393" y="3914571"/>
                    <a:pt x="306926" y="3905847"/>
                  </a:cubicBezTo>
                  <a:cubicBezTo>
                    <a:pt x="317292" y="3893589"/>
                    <a:pt x="326766" y="3878502"/>
                    <a:pt x="340015" y="3871199"/>
                  </a:cubicBezTo>
                  <a:cubicBezTo>
                    <a:pt x="381725" y="3848490"/>
                    <a:pt x="396760" y="3812013"/>
                    <a:pt x="400111" y="3767743"/>
                  </a:cubicBezTo>
                  <a:cubicBezTo>
                    <a:pt x="403294" y="3727294"/>
                    <a:pt x="405323" y="3686973"/>
                    <a:pt x="409694" y="3646690"/>
                  </a:cubicBezTo>
                  <a:cubicBezTo>
                    <a:pt x="414852" y="3597538"/>
                    <a:pt x="420910" y="3548579"/>
                    <a:pt x="428447" y="3499752"/>
                  </a:cubicBezTo>
                  <a:cubicBezTo>
                    <a:pt x="431696" y="3478619"/>
                    <a:pt x="435683" y="3456228"/>
                    <a:pt x="445033" y="3437349"/>
                  </a:cubicBezTo>
                  <a:cubicBezTo>
                    <a:pt x="470858" y="3384475"/>
                    <a:pt x="486179" y="3329236"/>
                    <a:pt x="471431" y="3272018"/>
                  </a:cubicBezTo>
                  <a:cubicBezTo>
                    <a:pt x="459682" y="3226180"/>
                    <a:pt x="472474" y="3185267"/>
                    <a:pt x="495919" y="3153432"/>
                  </a:cubicBezTo>
                  <a:cubicBezTo>
                    <a:pt x="538461" y="3095505"/>
                    <a:pt x="521296" y="3040311"/>
                    <a:pt x="499541" y="2985907"/>
                  </a:cubicBezTo>
                  <a:cubicBezTo>
                    <a:pt x="488276" y="2957871"/>
                    <a:pt x="486838" y="2934028"/>
                    <a:pt x="491640" y="2905697"/>
                  </a:cubicBezTo>
                  <a:cubicBezTo>
                    <a:pt x="502898" y="2840071"/>
                    <a:pt x="547705" y="2792141"/>
                    <a:pt x="586592" y="2746325"/>
                  </a:cubicBezTo>
                  <a:cubicBezTo>
                    <a:pt x="619786" y="2707275"/>
                    <a:pt x="636305" y="2665661"/>
                    <a:pt x="647211" y="2620857"/>
                  </a:cubicBezTo>
                  <a:cubicBezTo>
                    <a:pt x="661216" y="2564298"/>
                    <a:pt x="648982" y="2522027"/>
                    <a:pt x="598120" y="2501248"/>
                  </a:cubicBezTo>
                  <a:cubicBezTo>
                    <a:pt x="583733" y="2495506"/>
                    <a:pt x="566431" y="2484521"/>
                    <a:pt x="560897" y="2471368"/>
                  </a:cubicBezTo>
                  <a:cubicBezTo>
                    <a:pt x="533469" y="2407931"/>
                    <a:pt x="496686" y="2344634"/>
                    <a:pt x="506928" y="2272389"/>
                  </a:cubicBezTo>
                  <a:cubicBezTo>
                    <a:pt x="520879" y="2172517"/>
                    <a:pt x="509052" y="2077807"/>
                    <a:pt x="474122" y="1983284"/>
                  </a:cubicBezTo>
                  <a:cubicBezTo>
                    <a:pt x="417537" y="1829959"/>
                    <a:pt x="358639" y="1676886"/>
                    <a:pt x="349180" y="1510207"/>
                  </a:cubicBezTo>
                  <a:cubicBezTo>
                    <a:pt x="347619" y="1482573"/>
                    <a:pt x="326399" y="1451821"/>
                    <a:pt x="306451" y="1430003"/>
                  </a:cubicBezTo>
                  <a:cubicBezTo>
                    <a:pt x="268511" y="1388202"/>
                    <a:pt x="266127" y="1390512"/>
                    <a:pt x="287747" y="1336633"/>
                  </a:cubicBezTo>
                  <a:cubicBezTo>
                    <a:pt x="293070" y="1323756"/>
                    <a:pt x="295470" y="1308272"/>
                    <a:pt x="304326" y="1298229"/>
                  </a:cubicBezTo>
                  <a:cubicBezTo>
                    <a:pt x="349361" y="1247057"/>
                    <a:pt x="331041" y="1191986"/>
                    <a:pt x="317671" y="1136667"/>
                  </a:cubicBezTo>
                  <a:cubicBezTo>
                    <a:pt x="315148" y="1126990"/>
                    <a:pt x="311827" y="1115354"/>
                    <a:pt x="314959" y="1106522"/>
                  </a:cubicBezTo>
                  <a:cubicBezTo>
                    <a:pt x="329032" y="1066641"/>
                    <a:pt x="319157" y="1035231"/>
                    <a:pt x="290675" y="1004980"/>
                  </a:cubicBezTo>
                  <a:cubicBezTo>
                    <a:pt x="266138" y="978690"/>
                    <a:pt x="249805" y="947108"/>
                    <a:pt x="272712" y="910357"/>
                  </a:cubicBezTo>
                  <a:cubicBezTo>
                    <a:pt x="323486" y="828702"/>
                    <a:pt x="317578" y="747981"/>
                    <a:pt x="270963" y="667028"/>
                  </a:cubicBezTo>
                  <a:cubicBezTo>
                    <a:pt x="237707" y="609204"/>
                    <a:pt x="225082" y="549995"/>
                    <a:pt x="244986" y="483131"/>
                  </a:cubicBezTo>
                  <a:cubicBezTo>
                    <a:pt x="252708" y="457408"/>
                    <a:pt x="242285" y="426353"/>
                    <a:pt x="241465" y="397465"/>
                  </a:cubicBezTo>
                  <a:cubicBezTo>
                    <a:pt x="240850" y="381142"/>
                    <a:pt x="239176" y="363176"/>
                    <a:pt x="244890" y="348507"/>
                  </a:cubicBezTo>
                  <a:cubicBezTo>
                    <a:pt x="259350" y="309454"/>
                    <a:pt x="279299" y="272445"/>
                    <a:pt x="293439" y="233141"/>
                  </a:cubicBezTo>
                  <a:cubicBezTo>
                    <a:pt x="300152" y="214256"/>
                    <a:pt x="302437" y="192349"/>
                    <a:pt x="300513" y="172069"/>
                  </a:cubicBezTo>
                  <a:close/>
                </a:path>
              </a:pathLst>
            </a:custGeom>
            <a:blipFill>
              <a:blip r:embed="rId2">
                <a:alphaModFix amt="57000"/>
              </a:blip>
              <a:tile tx="0" ty="0" sx="100000" sy="100000" flip="none" algn="tl"/>
            </a:blip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27164012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EC78E45-09B3-28FF-626B-46E9F1F47D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3969"/>
            <a:ext cx="10515600" cy="1004095"/>
          </a:xfrm>
        </p:spPr>
        <p:txBody>
          <a:bodyPr>
            <a:normAutofit/>
          </a:bodyPr>
          <a:lstStyle/>
          <a:p>
            <a:r>
              <a:rPr lang="pt-BR" sz="2800" b="1" dirty="0">
                <a:latin typeface="Aptos"/>
              </a:rPr>
              <a:t>Noções matemáticas (Resumo de Equações de 1° e 2° grau).</a:t>
            </a:r>
            <a:endParaRPr lang="pt-BR" sz="2800" b="1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4DF342F-F004-07D5-F7F8-21F3E28B35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7231" y="825498"/>
            <a:ext cx="10515600" cy="1112839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 algn="just">
              <a:buNone/>
            </a:pPr>
            <a:r>
              <a:rPr lang="pt-BR" sz="2000" dirty="0"/>
              <a:t> Para iniciar, precisamos lembrar dois tipos fundamentais de equações:</a:t>
            </a:r>
            <a:br>
              <a:rPr lang="pt-BR" sz="2000" dirty="0"/>
            </a:br>
            <a:r>
              <a:rPr lang="pt-BR" sz="2000" dirty="0"/>
              <a:t>as </a:t>
            </a:r>
            <a:r>
              <a:rPr lang="pt-BR" sz="2000" b="1" dirty="0"/>
              <a:t>equações do primeiro grau</a:t>
            </a:r>
            <a:r>
              <a:rPr lang="pt-BR" sz="2000" dirty="0"/>
              <a:t> e as </a:t>
            </a:r>
            <a:r>
              <a:rPr lang="pt-BR" sz="2000" b="1" dirty="0"/>
              <a:t>equações do segundo grau</a:t>
            </a:r>
            <a:r>
              <a:rPr lang="pt-BR" sz="2000" dirty="0"/>
              <a:t>.</a:t>
            </a:r>
          </a:p>
          <a:p>
            <a:pPr marL="0" indent="0" algn="just">
              <a:buNone/>
            </a:pPr>
            <a:r>
              <a:rPr lang="pt-BR" sz="2400" b="1" dirty="0">
                <a:solidFill>
                  <a:schemeClr val="accent1"/>
                </a:solidFill>
              </a:rPr>
              <a:t>Equação do Primeiro Grau</a:t>
            </a:r>
          </a:p>
          <a:p>
            <a:pPr marL="0" indent="0" algn="just">
              <a:buNone/>
            </a:pPr>
            <a:endParaRPr lang="pt-BR" sz="1200" dirty="0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D2C3AFC9-E6F9-5485-2A7E-5A9ECB454980}"/>
              </a:ext>
            </a:extLst>
          </p:cNvPr>
          <p:cNvSpPr txBox="1"/>
          <p:nvPr/>
        </p:nvSpPr>
        <p:spPr>
          <a:xfrm>
            <a:off x="122108" y="2390519"/>
            <a:ext cx="6874669" cy="44627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 algn="just">
              <a:lnSpc>
                <a:spcPct val="90000"/>
              </a:lnSpc>
              <a:spcBef>
                <a:spcPts val="1000"/>
              </a:spcBef>
              <a:buFont typeface="Arial,Sans-Serif"/>
              <a:buChar char="•"/>
            </a:pPr>
            <a:r>
              <a:rPr lang="pt-BR" sz="2000"/>
              <a:t>Tem a forma geral </a:t>
            </a:r>
            <a:r>
              <a:rPr lang="pt-BR" sz="2000" b="1" i="1"/>
              <a:t>y = </a:t>
            </a:r>
            <a:r>
              <a:rPr lang="pt-BR" sz="2000" b="1" i="1" err="1"/>
              <a:t>ax</a:t>
            </a:r>
            <a:r>
              <a:rPr lang="pt-BR" sz="2000" b="1" i="1"/>
              <a:t> + b</a:t>
            </a:r>
            <a:r>
              <a:rPr lang="pt-BR" sz="2000" i="1"/>
              <a:t>.</a:t>
            </a:r>
            <a:endParaRPr lang="pt-BR" sz="2000"/>
          </a:p>
          <a:p>
            <a:pPr marL="285750" indent="-285750" algn="just">
              <a:lnSpc>
                <a:spcPct val="90000"/>
              </a:lnSpc>
              <a:spcBef>
                <a:spcPts val="1000"/>
              </a:spcBef>
              <a:buFont typeface="Arial,Sans-Serif"/>
              <a:buChar char="•"/>
            </a:pPr>
            <a:r>
              <a:rPr lang="pt-BR" sz="2000" dirty="0"/>
              <a:t>O gráfico é sempre uma </a:t>
            </a:r>
            <a:r>
              <a:rPr lang="pt-BR" sz="2000" b="1" dirty="0"/>
              <a:t>reta</a:t>
            </a:r>
            <a:r>
              <a:rPr lang="pt-BR" sz="2000" dirty="0"/>
              <a:t>.</a:t>
            </a:r>
          </a:p>
          <a:p>
            <a:pPr marL="285750" indent="-285750" algn="just">
              <a:lnSpc>
                <a:spcPct val="90000"/>
              </a:lnSpc>
              <a:spcBef>
                <a:spcPts val="1000"/>
              </a:spcBef>
              <a:buFont typeface="Arial,Sans-Serif"/>
              <a:buChar char="•"/>
            </a:pPr>
            <a:r>
              <a:rPr lang="pt-BR" sz="2000" dirty="0"/>
              <a:t>O coeficiente </a:t>
            </a:r>
            <a:r>
              <a:rPr lang="pt-BR" sz="2000" b="1" dirty="0"/>
              <a:t>a</a:t>
            </a:r>
            <a:r>
              <a:rPr lang="pt-BR" sz="2000" dirty="0"/>
              <a:t> determina a inclinação; </a:t>
            </a:r>
            <a:r>
              <a:rPr lang="pt-BR" sz="2000" b="1" dirty="0"/>
              <a:t>b</a:t>
            </a:r>
            <a:r>
              <a:rPr lang="pt-BR" sz="2000" dirty="0"/>
              <a:t> determina o ponto onde a reta cruza o eixo vertical.</a:t>
            </a:r>
            <a:endParaRPr lang="en-US" sz="2000" dirty="0"/>
          </a:p>
          <a:p>
            <a:pPr marL="285750" indent="-285750" algn="just">
              <a:lnSpc>
                <a:spcPct val="90000"/>
              </a:lnSpc>
              <a:spcBef>
                <a:spcPts val="1000"/>
              </a:spcBef>
              <a:buFont typeface="Arial,Sans-Serif"/>
              <a:buChar char="•"/>
            </a:pPr>
            <a:r>
              <a:rPr lang="pt-BR" sz="2000" dirty="0"/>
              <a:t>A ideia central é que a relação entre as variáveis é </a:t>
            </a:r>
            <a:r>
              <a:rPr lang="pt-BR" sz="2000" b="1" dirty="0"/>
              <a:t>linear</a:t>
            </a:r>
            <a:r>
              <a:rPr lang="pt-BR" sz="2000" dirty="0"/>
              <a:t>: cada unidade que x aumenta, y aumenta (ou diminui) sempre na mesma proporção.</a:t>
            </a:r>
            <a:endParaRPr lang="en-US" sz="2000" dirty="0"/>
          </a:p>
          <a:p>
            <a:pPr marL="285750" indent="-285750" algn="just">
              <a:lnSpc>
                <a:spcPct val="90000"/>
              </a:lnSpc>
              <a:spcBef>
                <a:spcPts val="1000"/>
              </a:spcBef>
              <a:buFont typeface="Arial,Sans-Serif"/>
              <a:buChar char="•"/>
            </a:pPr>
            <a:r>
              <a:rPr lang="pt-BR" sz="2000" dirty="0"/>
              <a:t>Quando o </a:t>
            </a:r>
            <a:r>
              <a:rPr lang="pt-BR" sz="2000" b="1" dirty="0"/>
              <a:t>a</a:t>
            </a:r>
            <a:r>
              <a:rPr lang="pt-BR" sz="2000" dirty="0"/>
              <a:t> da função é maior que zero, temos uma função crescente.</a:t>
            </a:r>
            <a:endParaRPr lang="en-US" sz="2000" dirty="0"/>
          </a:p>
          <a:p>
            <a:pPr marL="285750" indent="-285750" algn="just">
              <a:lnSpc>
                <a:spcPct val="90000"/>
              </a:lnSpc>
              <a:spcBef>
                <a:spcPts val="1000"/>
              </a:spcBef>
              <a:buFont typeface="Arial,Sans-Serif"/>
              <a:buChar char="•"/>
            </a:pPr>
            <a:r>
              <a:rPr lang="pt-BR" sz="2000" dirty="0"/>
              <a:t>Quando o </a:t>
            </a:r>
            <a:r>
              <a:rPr lang="pt-BR" sz="2000" b="1" dirty="0"/>
              <a:t>a</a:t>
            </a:r>
            <a:r>
              <a:rPr lang="pt-BR" sz="2000" dirty="0"/>
              <a:t> da função é menor que zero, temos uma função decrescente</a:t>
            </a:r>
            <a:r>
              <a:rPr lang="pt-BR" sz="1200" dirty="0"/>
              <a:t>.</a:t>
            </a:r>
            <a:endParaRPr lang="en-US" sz="1200" dirty="0"/>
          </a:p>
          <a:p>
            <a:pPr algn="just">
              <a:lnSpc>
                <a:spcPct val="90000"/>
              </a:lnSpc>
              <a:spcBef>
                <a:spcPts val="1000"/>
              </a:spcBef>
            </a:pPr>
            <a:endParaRPr lang="pt-BR" sz="2000" dirty="0"/>
          </a:p>
          <a:p>
            <a:pPr algn="just"/>
            <a:endParaRPr lang="pt-BR" dirty="0"/>
          </a:p>
        </p:txBody>
      </p:sp>
      <p:pic>
        <p:nvPicPr>
          <p:cNvPr id="5" name="Imagem 4" descr="Gráfico, Gráfico de linhas&#10;&#10;O conteúdo gerado por IA pode estar incorreto.">
            <a:extLst>
              <a:ext uri="{FF2B5EF4-FFF2-40B4-BE49-F238E27FC236}">
                <a16:creationId xmlns:a16="http://schemas.microsoft.com/office/drawing/2014/main" id="{073888CA-21BB-D915-1E29-4D406D5181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88993" y="2178844"/>
            <a:ext cx="4862513" cy="4024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29855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2CDC54B-B311-A6BC-899D-7CE444F4C1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10166" y="132650"/>
            <a:ext cx="4574584" cy="577487"/>
          </a:xfrm>
        </p:spPr>
        <p:txBody>
          <a:bodyPr>
            <a:normAutofit/>
          </a:bodyPr>
          <a:lstStyle/>
          <a:p>
            <a:r>
              <a:rPr lang="pt-BR" sz="2800" b="1" dirty="0">
                <a:solidFill>
                  <a:schemeClr val="accent1"/>
                </a:solidFill>
              </a:rPr>
              <a:t>Equação do segundo grau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0A488A8-3DF7-15CE-A329-2D5CDEEC84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9972" y="1362494"/>
            <a:ext cx="6253164" cy="4528919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just">
              <a:buFont typeface="Arial"/>
              <a:buChar char="•"/>
            </a:pPr>
            <a:r>
              <a:rPr lang="pt-BR" sz="2000" dirty="0"/>
              <a:t>Tem a forma </a:t>
            </a:r>
            <a:r>
              <a:rPr lang="pt-BR" sz="2000" b="1" i="1" dirty="0"/>
              <a:t>y = ax² + </a:t>
            </a:r>
            <a:r>
              <a:rPr lang="pt-BR" sz="2000" b="1" i="1" err="1"/>
              <a:t>bx</a:t>
            </a:r>
            <a:r>
              <a:rPr lang="pt-BR" sz="2000" b="1" i="1" dirty="0"/>
              <a:t> + c</a:t>
            </a:r>
            <a:r>
              <a:rPr lang="pt-BR" sz="2000" i="1" dirty="0"/>
              <a:t>.</a:t>
            </a:r>
            <a:endParaRPr lang="pt-BR" sz="2000" dirty="0"/>
          </a:p>
          <a:p>
            <a:pPr algn="just">
              <a:buFont typeface="Arial"/>
              <a:buChar char="•"/>
            </a:pPr>
            <a:r>
              <a:rPr lang="pt-BR" sz="2000" dirty="0"/>
              <a:t>O gráfico é uma </a:t>
            </a:r>
            <a:r>
              <a:rPr lang="pt-BR" sz="2000" b="1" dirty="0"/>
              <a:t>parábola</a:t>
            </a:r>
            <a:r>
              <a:rPr lang="pt-BR" sz="2000" dirty="0"/>
              <a:t>.</a:t>
            </a:r>
          </a:p>
          <a:p>
            <a:pPr algn="just">
              <a:buFont typeface="Arial"/>
              <a:buChar char="•"/>
            </a:pPr>
            <a:r>
              <a:rPr lang="pt-BR" sz="2000" dirty="0"/>
              <a:t>A variável aparece elevada ao quadrado, o que faz o valor de y crescer (ou diminuir) de maneira, não linear.</a:t>
            </a:r>
          </a:p>
          <a:p>
            <a:pPr algn="just">
              <a:buFont typeface="Arial"/>
              <a:buChar char="•"/>
            </a:pPr>
            <a:r>
              <a:rPr lang="pt-BR" sz="2000" dirty="0"/>
              <a:t>A parábola pode abrir para cima (a &gt; 0) ou para baixo (a &lt; 0).</a:t>
            </a:r>
          </a:p>
          <a:p>
            <a:pPr algn="just">
              <a:buFont typeface="Arial"/>
              <a:buChar char="•"/>
            </a:pPr>
            <a:r>
              <a:rPr lang="pt-BR" sz="2000" dirty="0"/>
              <a:t>Se o </a:t>
            </a:r>
            <a:r>
              <a:rPr lang="pt-BR" sz="2000" b="1" dirty="0"/>
              <a:t>delta </a:t>
            </a:r>
            <a:r>
              <a:rPr lang="pt-BR" sz="2000" dirty="0"/>
              <a:t>da função for maior que zero teremos duas raízes reais.</a:t>
            </a:r>
          </a:p>
          <a:p>
            <a:pPr algn="just">
              <a:buFont typeface="Arial"/>
              <a:buChar char="•"/>
            </a:pPr>
            <a:r>
              <a:rPr lang="pt-BR" sz="2000" dirty="0"/>
              <a:t>Se o </a:t>
            </a:r>
            <a:r>
              <a:rPr lang="pt-BR" sz="2000" b="1" dirty="0"/>
              <a:t>delta </a:t>
            </a:r>
            <a:r>
              <a:rPr lang="pt-BR" sz="2000" dirty="0"/>
              <a:t>da função for igual a zero teremos somente uma raiz.</a:t>
            </a:r>
          </a:p>
          <a:p>
            <a:pPr algn="just">
              <a:buFont typeface="Arial"/>
              <a:buChar char="•"/>
            </a:pPr>
            <a:r>
              <a:rPr lang="pt-BR" sz="2000" dirty="0"/>
              <a:t>Se o </a:t>
            </a:r>
            <a:r>
              <a:rPr lang="pt-BR" sz="2000" b="1" dirty="0"/>
              <a:t>delta </a:t>
            </a:r>
            <a:r>
              <a:rPr lang="pt-BR" sz="2000" dirty="0"/>
              <a:t>da função for menor que zero não existirá raízes.</a:t>
            </a:r>
          </a:p>
          <a:p>
            <a:pPr marL="0" indent="0">
              <a:buNone/>
            </a:pPr>
            <a:endParaRPr lang="pt-BR" sz="2000" dirty="0"/>
          </a:p>
        </p:txBody>
      </p:sp>
      <p:pic>
        <p:nvPicPr>
          <p:cNvPr id="4" name="Imagem 3" descr="Gráfico, Gráfico de linhas&#10;&#10;O conteúdo gerado por IA pode estar incorreto.">
            <a:extLst>
              <a:ext uri="{FF2B5EF4-FFF2-40B4-BE49-F238E27FC236}">
                <a16:creationId xmlns:a16="http://schemas.microsoft.com/office/drawing/2014/main" id="{242088AA-BC5B-B4FF-F687-08B69154A1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7540" y="443560"/>
            <a:ext cx="5387397" cy="5450438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0546AF0F-254F-2B0C-DD37-7F3901AB9A73}"/>
              </a:ext>
            </a:extLst>
          </p:cNvPr>
          <p:cNvSpPr txBox="1"/>
          <p:nvPr/>
        </p:nvSpPr>
        <p:spPr>
          <a:xfrm>
            <a:off x="495172" y="6016118"/>
            <a:ext cx="10625135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sz="2000" dirty="0"/>
              <a:t> Esses dois tipos de equação serão essenciais para interpretarmos os movimentos na Física.</a:t>
            </a:r>
          </a:p>
        </p:txBody>
      </p:sp>
    </p:spTree>
    <p:extLst>
      <p:ext uri="{BB962C8B-B14F-4D97-AF65-F5344CB8AC3E}">
        <p14:creationId xmlns:p14="http://schemas.microsoft.com/office/powerpoint/2010/main" val="4901733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489213B-701E-1E9F-8B6A-5B3ED6FA05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1013" y="-3969"/>
            <a:ext cx="11134724" cy="813594"/>
          </a:xfrm>
        </p:spPr>
        <p:txBody>
          <a:bodyPr>
            <a:normAutofit/>
          </a:bodyPr>
          <a:lstStyle/>
          <a:p>
            <a:r>
              <a:rPr lang="pt-BR" sz="2400" b="1" dirty="0">
                <a:solidFill>
                  <a:schemeClr val="accent2">
                    <a:lumMod val="76000"/>
                  </a:schemeClr>
                </a:solidFill>
                <a:latin typeface="Aptos"/>
              </a:rPr>
              <a:t>Função da velocidade, contextualizando cálculos Físicos (equação de 1° grau).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D8E8408-799A-B7F0-7CAD-4C9033B412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36044" y="801689"/>
            <a:ext cx="6836569" cy="481806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pt-BR" sz="2000" b="1" dirty="0"/>
              <a:t>Como chegamos na fórmula da velocidade no MUV?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28F13181-A3FC-346C-2EED-D3350B57AC78}"/>
              </a:ext>
            </a:extLst>
          </p:cNvPr>
          <p:cNvSpPr txBox="1"/>
          <p:nvPr/>
        </p:nvSpPr>
        <p:spPr>
          <a:xfrm>
            <a:off x="674028" y="1288397"/>
            <a:ext cx="9255917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sz="2000" dirty="0"/>
              <a:t>Sabemos que </a:t>
            </a:r>
            <a:r>
              <a:rPr lang="pt-BR" sz="2000" b="1" dirty="0"/>
              <a:t>aceleração</a:t>
            </a:r>
            <a:r>
              <a:rPr lang="pt-BR" sz="2000" dirty="0"/>
              <a:t> é a razão entre a variação da velocidade e o tempo: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AECDE2EC-580D-96F5-6B08-97A863720728}"/>
              </a:ext>
            </a:extLst>
          </p:cNvPr>
          <p:cNvSpPr txBox="1"/>
          <p:nvPr/>
        </p:nvSpPr>
        <p:spPr>
          <a:xfrm>
            <a:off x="679586" y="2525589"/>
            <a:ext cx="9791697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sz="2000" dirty="0"/>
              <a:t>Podemos reorganizar essa relação para encontrar a velocidade final: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E43D908D-1294-CBC6-FA39-8CADD6B8ECFF}"/>
              </a:ext>
            </a:extLst>
          </p:cNvPr>
          <p:cNvSpPr txBox="1"/>
          <p:nvPr/>
        </p:nvSpPr>
        <p:spPr>
          <a:xfrm>
            <a:off x="678130" y="3600861"/>
            <a:ext cx="10744198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sz="2000" dirty="0"/>
              <a:t>Como a variação de velocidade é a diferença entre a velocidade final </a:t>
            </a:r>
            <a:r>
              <a:rPr lang="pt-BR" sz="2000" i="1" dirty="0">
                <a:latin typeface="Cambria Math"/>
                <a:ea typeface="Cambria Math"/>
              </a:rPr>
              <a:t>v </a:t>
            </a:r>
            <a:r>
              <a:rPr lang="pt-BR" sz="2000" dirty="0"/>
              <a:t>e a velocidade inicial </a:t>
            </a:r>
            <a:r>
              <a:rPr lang="pt-BR" sz="2000" i="1" dirty="0">
                <a:latin typeface="Cambria Math"/>
                <a:ea typeface="Cambria Math"/>
              </a:rPr>
              <a:t>v0</a:t>
            </a:r>
            <a:r>
              <a:rPr lang="pt-BR" sz="2000" dirty="0"/>
              <a:t>: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3F7673FA-EE68-6A88-9340-3B90AC69E34B}"/>
              </a:ext>
            </a:extLst>
          </p:cNvPr>
          <p:cNvSpPr txBox="1"/>
          <p:nvPr/>
        </p:nvSpPr>
        <p:spPr>
          <a:xfrm>
            <a:off x="679584" y="4745315"/>
            <a:ext cx="6160292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sz="2000" dirty="0"/>
              <a:t>Isolando </a:t>
            </a:r>
            <a:r>
              <a:rPr lang="pt-BR" sz="2000" i="1" dirty="0">
                <a:latin typeface="Cambria Math"/>
                <a:ea typeface="Cambria Math"/>
              </a:rPr>
              <a:t>v</a:t>
            </a:r>
            <a:r>
              <a:rPr lang="pt-BR" sz="2000" dirty="0"/>
              <a:t>: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75F1CBB6-6616-A43C-78B5-FD84905A5C9F}"/>
              </a:ext>
            </a:extLst>
          </p:cNvPr>
          <p:cNvSpPr txBox="1"/>
          <p:nvPr/>
        </p:nvSpPr>
        <p:spPr>
          <a:xfrm>
            <a:off x="684611" y="5787776"/>
            <a:ext cx="7100886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sz="2000" dirty="0"/>
              <a:t>Essa é uma </a:t>
            </a:r>
            <a:r>
              <a:rPr lang="pt-BR" sz="2000" b="1" dirty="0"/>
              <a:t>equação do primeiro grau</a:t>
            </a:r>
            <a:r>
              <a:rPr lang="pt-BR" sz="2000" dirty="0"/>
              <a:t> na variável </a:t>
            </a:r>
            <a:r>
              <a:rPr lang="pt-BR" sz="2000" i="1" dirty="0">
                <a:latin typeface="Cambria Math"/>
                <a:ea typeface="Cambria Math"/>
              </a:rPr>
              <a:t>t</a:t>
            </a:r>
            <a:r>
              <a:rPr lang="pt-BR" sz="2000" dirty="0"/>
              <a:t>.</a:t>
            </a:r>
            <a:br>
              <a:rPr lang="pt-BR" sz="1200" dirty="0"/>
            </a:br>
            <a:endParaRPr lang="pt-BR" sz="1200" dirty="0"/>
          </a:p>
        </p:txBody>
      </p:sp>
      <p:pic>
        <p:nvPicPr>
          <p:cNvPr id="9" name="Imagem 8" descr="Uma imagem contendo Texto&#10;&#10;O conteúdo gerado por IA pode estar incorreto.">
            <a:extLst>
              <a:ext uri="{FF2B5EF4-FFF2-40B4-BE49-F238E27FC236}">
                <a16:creationId xmlns:a16="http://schemas.microsoft.com/office/drawing/2014/main" id="{E580467A-0E17-56CC-E046-F1228864EA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48113" y="1709738"/>
            <a:ext cx="1152525" cy="723900"/>
          </a:xfrm>
          <a:prstGeom prst="rect">
            <a:avLst/>
          </a:prstGeom>
        </p:spPr>
      </p:pic>
      <p:pic>
        <p:nvPicPr>
          <p:cNvPr id="10" name="Imagem 9" descr="Uma imagem contendo Texto&#10;&#10;O conteúdo gerado por IA pode estar incorreto.">
            <a:extLst>
              <a:ext uri="{FF2B5EF4-FFF2-40B4-BE49-F238E27FC236}">
                <a16:creationId xmlns:a16="http://schemas.microsoft.com/office/drawing/2014/main" id="{074107FF-C538-736B-8FC3-4FF7803C70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81425" y="3098006"/>
            <a:ext cx="1485900" cy="495300"/>
          </a:xfrm>
          <a:prstGeom prst="rect">
            <a:avLst/>
          </a:prstGeom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94329785-69D6-F2F6-F7D3-B50C803E6C3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52862" y="4226719"/>
            <a:ext cx="1438275" cy="523875"/>
          </a:xfrm>
          <a:prstGeom prst="rect">
            <a:avLst/>
          </a:prstGeom>
        </p:spPr>
      </p:pic>
      <p:pic>
        <p:nvPicPr>
          <p:cNvPr id="12" name="Imagem 11">
            <a:extLst>
              <a:ext uri="{FF2B5EF4-FFF2-40B4-BE49-F238E27FC236}">
                <a16:creationId xmlns:a16="http://schemas.microsoft.com/office/drawing/2014/main" id="{9F6A67BE-D12D-3B89-D3D1-CF12FECC1FE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26669" y="5143500"/>
            <a:ext cx="1609725" cy="523875"/>
          </a:xfrm>
          <a:prstGeom prst="rect">
            <a:avLst/>
          </a:prstGeom>
        </p:spPr>
      </p:pic>
      <p:sp>
        <p:nvSpPr>
          <p:cNvPr id="13" name="CaixaDeTexto 12">
            <a:extLst>
              <a:ext uri="{FF2B5EF4-FFF2-40B4-BE49-F238E27FC236}">
                <a16:creationId xmlns:a16="http://schemas.microsoft.com/office/drawing/2014/main" id="{87F4860D-F71C-5FAB-6B37-57CCA1B31D11}"/>
              </a:ext>
            </a:extLst>
          </p:cNvPr>
          <p:cNvSpPr txBox="1"/>
          <p:nvPr/>
        </p:nvSpPr>
        <p:spPr>
          <a:xfrm>
            <a:off x="10822417" y="6369995"/>
            <a:ext cx="2743199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pt-BR" sz="2400" b="1" dirty="0">
                <a:solidFill>
                  <a:srgbClr val="FF0000"/>
                </a:solidFill>
              </a:rPr>
              <a:t>(Quadro)</a:t>
            </a:r>
          </a:p>
        </p:txBody>
      </p:sp>
    </p:spTree>
    <p:extLst>
      <p:ext uri="{BB962C8B-B14F-4D97-AF65-F5344CB8AC3E}">
        <p14:creationId xmlns:p14="http://schemas.microsoft.com/office/powerpoint/2010/main" val="2132521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EC7B87C-CA69-16A7-F31D-67D550FE38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207775"/>
            <a:ext cx="10515600" cy="1325563"/>
          </a:xfrm>
        </p:spPr>
        <p:txBody>
          <a:bodyPr>
            <a:normAutofit/>
          </a:bodyPr>
          <a:lstStyle/>
          <a:p>
            <a:r>
              <a:rPr lang="pt-BR" sz="2800" b="1" dirty="0">
                <a:latin typeface="Aptos"/>
              </a:rPr>
              <a:t>Seu gráfico será do tipo: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DF17D8C4-1A12-F7F8-63DF-CA13C9FC94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5500" y="744282"/>
            <a:ext cx="5996526" cy="2442397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9AD2E54C-E1DE-6324-BDDC-1A5EE5FE1D52}"/>
              </a:ext>
            </a:extLst>
          </p:cNvPr>
          <p:cNvSpPr txBox="1"/>
          <p:nvPr/>
        </p:nvSpPr>
        <p:spPr>
          <a:xfrm>
            <a:off x="285293" y="3191806"/>
            <a:ext cx="10945905" cy="190821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just"/>
            <a:r>
              <a:rPr lang="pt-BR" sz="2000" dirty="0"/>
              <a:t>Gráfico da velocidade – reta (1º grau)</a:t>
            </a:r>
          </a:p>
          <a:p>
            <a:pPr algn="just"/>
            <a:r>
              <a:rPr lang="pt-BR" sz="2000" dirty="0"/>
              <a:t>“Quando desenhamos o gráfico de </a:t>
            </a:r>
            <a:r>
              <a:rPr lang="pt-BR" sz="2000" i="1" dirty="0">
                <a:latin typeface="Cambria Math"/>
                <a:ea typeface="Cambria Math"/>
              </a:rPr>
              <a:t>v=v0+αt,</a:t>
            </a:r>
            <a:r>
              <a:rPr lang="pt-BR" sz="2000" dirty="0"/>
              <a:t> obtemos uma </a:t>
            </a:r>
            <a:r>
              <a:rPr lang="pt-BR" sz="2000" b="1" dirty="0"/>
              <a:t>reta</a:t>
            </a:r>
            <a:r>
              <a:rPr lang="pt-BR" sz="2000" dirty="0"/>
              <a:t>.</a:t>
            </a:r>
          </a:p>
          <a:p>
            <a:pPr marL="285750" indent="-285750" algn="just">
              <a:buFont typeface="Symbol"/>
              <a:buChar char="•"/>
            </a:pPr>
            <a:r>
              <a:rPr lang="pt-BR" sz="2000" dirty="0"/>
              <a:t>O </a:t>
            </a:r>
            <a:r>
              <a:rPr lang="pt-BR" sz="2000" b="1" dirty="0"/>
              <a:t>coeficiente angular, α</a:t>
            </a:r>
            <a:r>
              <a:rPr lang="pt-BR" sz="2000" i="1" dirty="0">
                <a:latin typeface="Cambria Math"/>
                <a:ea typeface="Cambria Math"/>
              </a:rPr>
              <a:t> é a inclinação da reta → representa a aceleração.</a:t>
            </a:r>
            <a:endParaRPr lang="pt-BR" sz="2000">
              <a:latin typeface="Cambria Math"/>
              <a:ea typeface="Cambria Math"/>
            </a:endParaRPr>
          </a:p>
          <a:p>
            <a:pPr marL="285750" indent="-285750" algn="just">
              <a:buFont typeface="Symbol"/>
              <a:buChar char="•"/>
            </a:pPr>
            <a:r>
              <a:rPr lang="pt-BR" sz="2000" dirty="0"/>
              <a:t>O </a:t>
            </a:r>
            <a:r>
              <a:rPr lang="pt-BR" sz="2000" b="1" dirty="0"/>
              <a:t>coeficiente linear</a:t>
            </a:r>
            <a:r>
              <a:rPr lang="pt-BR" sz="2000" dirty="0"/>
              <a:t> </a:t>
            </a:r>
            <a:r>
              <a:rPr lang="pt-BR" sz="2000" i="1" dirty="0">
                <a:latin typeface="Cambria Math"/>
                <a:ea typeface="Cambria Math"/>
              </a:rPr>
              <a:t>v0 </a:t>
            </a:r>
            <a:r>
              <a:rPr lang="pt-BR" sz="2000" dirty="0"/>
              <a:t>é o ponto onde a reta intercepta o eixo da velocidade → velocidade no instante inicial.</a:t>
            </a:r>
          </a:p>
          <a:p>
            <a:endParaRPr lang="pt-BR" dirty="0"/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34F7A302-3C15-34F8-64DD-20BB029A48FE}"/>
              </a:ext>
            </a:extLst>
          </p:cNvPr>
          <p:cNvSpPr txBox="1"/>
          <p:nvPr/>
        </p:nvSpPr>
        <p:spPr>
          <a:xfrm>
            <a:off x="290859" y="4793816"/>
            <a:ext cx="10363199" cy="132343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sz="2000" dirty="0">
                <a:ea typeface="+mn-lt"/>
                <a:cs typeface="+mn-lt"/>
              </a:rPr>
              <a:t> Portanto, esse gráfico mostra que: </a:t>
            </a:r>
            <a:endParaRPr lang="pt-BR" sz="2000" dirty="0"/>
          </a:p>
          <a:p>
            <a:pPr marL="342900" indent="-342900">
              <a:buFont typeface="Arial"/>
              <a:buChar char="•"/>
            </a:pPr>
            <a:r>
              <a:rPr lang="pt-BR" sz="2000" dirty="0">
                <a:ea typeface="+mn-lt"/>
                <a:cs typeface="+mn-lt"/>
              </a:rPr>
              <a:t>Quando a aceleração é positiva, a velocidade cresce linearmente. </a:t>
            </a:r>
            <a:endParaRPr lang="pt-BR" sz="2000"/>
          </a:p>
          <a:p>
            <a:pPr marL="342900" indent="-342900">
              <a:buFont typeface="Arial"/>
              <a:buChar char="•"/>
            </a:pPr>
            <a:r>
              <a:rPr lang="pt-BR" sz="2000" dirty="0">
                <a:ea typeface="+mn-lt"/>
                <a:cs typeface="+mn-lt"/>
              </a:rPr>
              <a:t>Quando a aceleração é negativa, temos uma reta descendente. </a:t>
            </a:r>
            <a:endParaRPr lang="pt-BR" sz="2000"/>
          </a:p>
          <a:p>
            <a:pPr marL="342900" indent="-342900">
              <a:buFont typeface="Arial"/>
              <a:buChar char="•"/>
            </a:pPr>
            <a:r>
              <a:rPr lang="pt-BR" sz="2000" dirty="0">
                <a:ea typeface="+mn-lt"/>
                <a:cs typeface="+mn-lt"/>
              </a:rPr>
              <a:t>Se a aceleração é zero, a reta é horizontal (movimento uniforme).</a:t>
            </a:r>
            <a:endParaRPr lang="pt-BR" sz="2000" dirty="0"/>
          </a:p>
        </p:txBody>
      </p:sp>
    </p:spTree>
    <p:extLst>
      <p:ext uri="{BB962C8B-B14F-4D97-AF65-F5344CB8AC3E}">
        <p14:creationId xmlns:p14="http://schemas.microsoft.com/office/powerpoint/2010/main" val="15229541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E915EFB-4CC1-6A30-8C6F-22BA034E73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9803"/>
            <a:ext cx="10515600" cy="1291945"/>
          </a:xfrm>
        </p:spPr>
        <p:txBody>
          <a:bodyPr>
            <a:normAutofit/>
          </a:bodyPr>
          <a:lstStyle/>
          <a:p>
            <a:pPr algn="just"/>
            <a:r>
              <a:rPr lang="pt-BR" sz="2800" b="1" dirty="0">
                <a:solidFill>
                  <a:schemeClr val="accent2">
                    <a:lumMod val="76000"/>
                  </a:schemeClr>
                </a:solidFill>
                <a:latin typeface="Aptos"/>
              </a:rPr>
              <a:t>Função horária, contextualizando cálculos Físicos </a:t>
            </a:r>
            <a:endParaRPr lang="pt-BR" sz="2800">
              <a:solidFill>
                <a:schemeClr val="accent2">
                  <a:lumMod val="76000"/>
                </a:schemeClr>
              </a:solidFill>
              <a:latin typeface="Aptos"/>
            </a:endParaRPr>
          </a:p>
          <a:p>
            <a:pPr algn="just"/>
            <a:r>
              <a:rPr lang="pt-BR" sz="2800" b="1" dirty="0">
                <a:solidFill>
                  <a:schemeClr val="accent2">
                    <a:lumMod val="76000"/>
                  </a:schemeClr>
                </a:solidFill>
                <a:latin typeface="Aptos"/>
              </a:rPr>
              <a:t>(Equação de 2° grau).</a:t>
            </a:r>
            <a:endParaRPr lang="pt-BR" sz="2800" dirty="0">
              <a:solidFill>
                <a:schemeClr val="accent2">
                  <a:lumMod val="76000"/>
                </a:schemeClr>
              </a:solidFill>
              <a:latin typeface="Aptos"/>
            </a:endParaRPr>
          </a:p>
          <a:p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C083A42-BDE8-8BD4-7C1C-C83A8D079B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985184"/>
            <a:ext cx="10515600" cy="574956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pt-BR" sz="2400" b="1" dirty="0"/>
              <a:t>Como chegamos à função horária do movimento? (equação de 2º grau)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BE156324-77AC-C878-DD5B-F36EA000B23B}"/>
              </a:ext>
            </a:extLst>
          </p:cNvPr>
          <p:cNvSpPr txBox="1"/>
          <p:nvPr/>
        </p:nvSpPr>
        <p:spPr>
          <a:xfrm>
            <a:off x="622170" y="1952405"/>
            <a:ext cx="10732292" cy="34163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just"/>
            <a:r>
              <a:rPr lang="pt-BR" sz="2000" dirty="0"/>
              <a:t> </a:t>
            </a:r>
            <a:r>
              <a:rPr lang="pt-BR" sz="2400" dirty="0"/>
              <a:t>Existem várias formas de explicar a origem da função horária, por derivação, integração, encadeamento, análise matemática, análises geométricas, entre ouros métodos, para evitar complexidades desnecessárias será abordado a forma mais simples de compreender a função horária do movimento.</a:t>
            </a:r>
          </a:p>
          <a:p>
            <a:pPr algn="just"/>
            <a:r>
              <a:rPr lang="pt-BR" sz="2400" dirty="0"/>
              <a:t> A função horária da posição no movimento uniformemente variado (MUV) pode ser deduzida </a:t>
            </a:r>
            <a:r>
              <a:rPr lang="pt-BR" sz="2400" b="1" dirty="0"/>
              <a:t>pela análise das áreas nos gráficos de velocidade × tempo</a:t>
            </a:r>
            <a:r>
              <a:rPr lang="pt-BR" sz="2400" dirty="0"/>
              <a:t>. A ideia central é que a área sob a curva </a:t>
            </a:r>
            <a:r>
              <a:rPr lang="pt-BR" sz="2400" i="1" dirty="0">
                <a:latin typeface="Cambria Math"/>
                <a:ea typeface="Cambria Math"/>
              </a:rPr>
              <a:t>v(t)</a:t>
            </a:r>
            <a:r>
              <a:rPr lang="pt-BR" sz="2400" dirty="0"/>
              <a:t> representa o deslocamento, e somando essas áreas conseguimos chegar à fórmula:</a:t>
            </a:r>
          </a:p>
          <a:p>
            <a:pPr algn="l"/>
            <a:endParaRPr lang="pt-BR" sz="2400" dirty="0"/>
          </a:p>
        </p:txBody>
      </p:sp>
      <p:pic>
        <p:nvPicPr>
          <p:cNvPr id="5" name="Imagem 4" descr="Diagrama, Gráfico de caixa estreita&#10;&#10;O conteúdo gerado por IA pode estar incorreto.">
            <a:extLst>
              <a:ext uri="{FF2B5EF4-FFF2-40B4-BE49-F238E27FC236}">
                <a16:creationId xmlns:a16="http://schemas.microsoft.com/office/drawing/2014/main" id="{86AA436B-7F6A-159E-E0EF-00E1D75961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9712" y="5364821"/>
            <a:ext cx="4262437" cy="13025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16631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Espaço Reservado para Conteúdo 6" descr="Gráfico&#10;&#10;O conteúdo gerado por IA pode estar incorreto.">
            <a:extLst>
              <a:ext uri="{FF2B5EF4-FFF2-40B4-BE49-F238E27FC236}">
                <a16:creationId xmlns:a16="http://schemas.microsoft.com/office/drawing/2014/main" id="{E0B41975-C2EB-FDF4-7A89-B57010BA112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39363" y="1297882"/>
            <a:ext cx="9312182" cy="5258263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1E58274C-5A19-D822-88D5-3B93A58195D7}"/>
              </a:ext>
            </a:extLst>
          </p:cNvPr>
          <p:cNvSpPr txBox="1"/>
          <p:nvPr/>
        </p:nvSpPr>
        <p:spPr>
          <a:xfrm>
            <a:off x="3653769" y="297393"/>
            <a:ext cx="5183980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sz="3600" b="1" dirty="0">
                <a:solidFill>
                  <a:srgbClr val="FF0000"/>
                </a:solidFill>
              </a:rPr>
              <a:t>Simplificando o cálculo</a:t>
            </a:r>
            <a:endParaRPr lang="pt-BR" sz="36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740302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CaixaDeTexto 11">
            <a:extLst>
              <a:ext uri="{FF2B5EF4-FFF2-40B4-BE49-F238E27FC236}">
                <a16:creationId xmlns:a16="http://schemas.microsoft.com/office/drawing/2014/main" id="{0DE82C35-D0AA-2376-1129-8E1BC303EEE9}"/>
              </a:ext>
            </a:extLst>
          </p:cNvPr>
          <p:cNvSpPr txBox="1"/>
          <p:nvPr/>
        </p:nvSpPr>
        <p:spPr>
          <a:xfrm>
            <a:off x="10422121" y="6222449"/>
            <a:ext cx="2743200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(Quadro)</a:t>
            </a:r>
          </a:p>
        </p:txBody>
      </p:sp>
      <p:pic>
        <p:nvPicPr>
          <p:cNvPr id="17" name="Espaço Reservado para Conteúdo 16" descr="Tela de celular com aplicativo aberto&#10;&#10;O conteúdo gerado por IA pode estar incorreto.">
            <a:extLst>
              <a:ext uri="{FF2B5EF4-FFF2-40B4-BE49-F238E27FC236}">
                <a16:creationId xmlns:a16="http://schemas.microsoft.com/office/drawing/2014/main" id="{0D46FA8C-7F0D-7465-1362-2600B125632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14034" y="671936"/>
            <a:ext cx="9763931" cy="54963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387299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Espaço Reservado para Conteúdo 8" descr="Gráfico, Histograma&#10;&#10;O conteúdo gerado por IA pode estar incorreto.">
            <a:extLst>
              <a:ext uri="{FF2B5EF4-FFF2-40B4-BE49-F238E27FC236}">
                <a16:creationId xmlns:a16="http://schemas.microsoft.com/office/drawing/2014/main" id="{D3272C6B-653D-F769-143C-A19217BEA61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21052" y="172934"/>
            <a:ext cx="8536982" cy="4931603"/>
          </a:xfrm>
          <a:prstGeom prst="rect">
            <a:avLst/>
          </a:prstGeom>
        </p:spPr>
      </p:pic>
      <p:sp>
        <p:nvSpPr>
          <p:cNvPr id="10" name="CaixaDeTexto 9">
            <a:extLst>
              <a:ext uri="{FF2B5EF4-FFF2-40B4-BE49-F238E27FC236}">
                <a16:creationId xmlns:a16="http://schemas.microsoft.com/office/drawing/2014/main" id="{46CD4587-7418-A277-4A20-A58C2BB937DC}"/>
              </a:ext>
            </a:extLst>
          </p:cNvPr>
          <p:cNvSpPr txBox="1"/>
          <p:nvPr/>
        </p:nvSpPr>
        <p:spPr>
          <a:xfrm>
            <a:off x="1017456" y="5315778"/>
            <a:ext cx="10164151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sz="2800" b="1" dirty="0">
                <a:solidFill>
                  <a:srgbClr val="FF0000"/>
                </a:solidFill>
              </a:rPr>
              <a:t>Suponha que dividimos o tempo em intervalos muito curtos:</a:t>
            </a:r>
          </a:p>
        </p:txBody>
      </p:sp>
      <p:pic>
        <p:nvPicPr>
          <p:cNvPr id="11" name="Imagem 10">
            <a:extLst>
              <a:ext uri="{FF2B5EF4-FFF2-40B4-BE49-F238E27FC236}">
                <a16:creationId xmlns:a16="http://schemas.microsoft.com/office/drawing/2014/main" id="{1AF5B863-2A14-AAF5-E6F6-0F42259958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6264" y="6022601"/>
            <a:ext cx="2959473" cy="6062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955054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 descr="Texto, Tabela&#10;&#10;O conteúdo gerado por IA pode estar incorreto.">
            <a:extLst>
              <a:ext uri="{FF2B5EF4-FFF2-40B4-BE49-F238E27FC236}">
                <a16:creationId xmlns:a16="http://schemas.microsoft.com/office/drawing/2014/main" id="{53C1A71B-2341-52E0-968A-999D06C950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6909" y="412656"/>
            <a:ext cx="10558181" cy="60438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618811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 descr="Uma imagem contendo Diagrama&#10;&#10;O conteúdo gerado por IA pode estar incorreto.">
            <a:extLst>
              <a:ext uri="{FF2B5EF4-FFF2-40B4-BE49-F238E27FC236}">
                <a16:creationId xmlns:a16="http://schemas.microsoft.com/office/drawing/2014/main" id="{DBEEF924-753E-7ED0-D35E-E4BF0D14D6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0113" y="556092"/>
            <a:ext cx="10391774" cy="57570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874637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6190FDC2-FD90-8AB1-0932-14E95A41CF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1218" y="226905"/>
            <a:ext cx="10269564" cy="64041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361156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 descr="Tela de celular com texto preto sobre fundo branco&#10;&#10;O conteúdo gerado por IA pode estar incorreto.">
            <a:extLst>
              <a:ext uri="{FF2B5EF4-FFF2-40B4-BE49-F238E27FC236}">
                <a16:creationId xmlns:a16="http://schemas.microsoft.com/office/drawing/2014/main" id="{00B8D45E-1EBD-FAD6-22BB-1299EEB2D5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4315" y="601205"/>
            <a:ext cx="11063367" cy="56555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027211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DBC1ABA-BF1D-D41B-306B-2B703A6294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43318" y="219449"/>
            <a:ext cx="9294159" cy="686829"/>
          </a:xfrm>
        </p:spPr>
        <p:txBody>
          <a:bodyPr>
            <a:normAutofit/>
          </a:bodyPr>
          <a:lstStyle/>
          <a:p>
            <a:r>
              <a:rPr lang="pt-BR" sz="3200" b="1" dirty="0">
                <a:solidFill>
                  <a:schemeClr val="accent2">
                    <a:lumMod val="76000"/>
                  </a:schemeClr>
                </a:solidFill>
                <a:latin typeface="Aptos"/>
              </a:rPr>
              <a:t>Problema matemático contextualizado na Física.</a:t>
            </a:r>
            <a:endParaRPr lang="pt-BR" sz="3200" b="1">
              <a:solidFill>
                <a:schemeClr val="accent2">
                  <a:lumMod val="76000"/>
                </a:schemeClr>
              </a:solidFill>
              <a:latin typeface="Aptos"/>
            </a:endParaRP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45148AE-CDAB-512E-5C44-2B6C60F2F4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55831"/>
            <a:ext cx="10515600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 algn="just">
              <a:buNone/>
            </a:pPr>
            <a:r>
              <a:rPr lang="pt-BR" sz="3600" b="1" dirty="0"/>
              <a:t> </a:t>
            </a:r>
            <a:r>
              <a:rPr lang="pt-BR" b="1" dirty="0"/>
              <a:t>Um móvel descreve um MUV numa trajetória retilínea e os seus espaços variam no tempo de acordo com a expressão:</a:t>
            </a:r>
            <a:r>
              <a:rPr lang="pt-BR" b="1" dirty="0">
                <a:latin typeface="Aptos"/>
              </a:rPr>
              <a:t> </a:t>
            </a:r>
            <a:r>
              <a:rPr lang="pt-BR" dirty="0">
                <a:latin typeface="Consolas"/>
              </a:rPr>
              <a:t>S = 9 + 3t − 2t² </a:t>
            </a:r>
            <a:r>
              <a:rPr lang="pt-BR" b="1" dirty="0">
                <a:latin typeface="Aptos"/>
              </a:rPr>
              <a:t>, onde o tempo é expresso em segundos e o espaço em metros.</a:t>
            </a:r>
            <a:endParaRPr lang="pt-BR"/>
          </a:p>
          <a:p>
            <a:pPr marL="0" indent="0">
              <a:buNone/>
            </a:pPr>
            <a:endParaRPr lang="pt-BR" sz="1200" b="1" dirty="0"/>
          </a:p>
          <a:p>
            <a:pPr marL="0" indent="0">
              <a:buNone/>
            </a:pPr>
            <a:endParaRPr lang="pt-BR" sz="1200" b="1" dirty="0"/>
          </a:p>
          <a:p>
            <a:pPr algn="just">
              <a:buNone/>
            </a:pPr>
            <a:r>
              <a:rPr lang="pt-BR" b="1"/>
              <a:t>Determinar:</a:t>
            </a:r>
            <a:endParaRPr lang="pt-BR" b="1" dirty="0"/>
          </a:p>
          <a:p>
            <a:pPr marL="0" indent="0" algn="just">
              <a:buNone/>
            </a:pPr>
            <a:r>
              <a:rPr lang="pt-BR" b="1" dirty="0"/>
              <a:t>a) A função da velocidade;</a:t>
            </a:r>
          </a:p>
          <a:p>
            <a:pPr marL="0" indent="0" algn="just">
              <a:buNone/>
            </a:pPr>
            <a:r>
              <a:rPr lang="pt-BR" b="1" dirty="0"/>
              <a:t>b) O instante em que o móvel passa pela origem dos espaços.</a:t>
            </a:r>
          </a:p>
          <a:p>
            <a:pPr marL="0" indent="0">
              <a:buNone/>
            </a:pPr>
            <a:endParaRPr lang="pt-BR" sz="1200" b="1" dirty="0"/>
          </a:p>
        </p:txBody>
      </p:sp>
    </p:spTree>
    <p:extLst>
      <p:ext uri="{BB962C8B-B14F-4D97-AF65-F5344CB8AC3E}">
        <p14:creationId xmlns:p14="http://schemas.microsoft.com/office/powerpoint/2010/main" val="18755435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131CF0C-FD8A-7D4B-7890-5E83018621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7231" y="329406"/>
            <a:ext cx="1907382" cy="480220"/>
          </a:xfrm>
        </p:spPr>
        <p:txBody>
          <a:bodyPr>
            <a:normAutofit/>
          </a:bodyPr>
          <a:lstStyle/>
          <a:p>
            <a:r>
              <a:rPr lang="pt-BR" sz="2800" b="1" dirty="0">
                <a:solidFill>
                  <a:srgbClr val="FF0000"/>
                </a:solidFill>
                <a:latin typeface="Aptos"/>
              </a:rPr>
              <a:t>Solução :</a:t>
            </a:r>
            <a:endParaRPr lang="pt-BR" sz="2800" dirty="0">
              <a:solidFill>
                <a:srgbClr val="FF0000"/>
              </a:solidFill>
              <a:latin typeface="Aptos"/>
            </a:endParaRP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86BEDDF-8BCE-50F9-220C-D35485A16C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59731" y="5230814"/>
            <a:ext cx="4157664" cy="469901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pt-BR" b="1" dirty="0">
                <a:solidFill>
                  <a:srgbClr val="FF0000"/>
                </a:solidFill>
                <a:latin typeface="Aptos"/>
              </a:rPr>
              <a:t>podemos concluir que:</a:t>
            </a:r>
            <a:endParaRPr lang="pt-BR" dirty="0">
              <a:solidFill>
                <a:srgbClr val="FF0000"/>
              </a:solidFill>
            </a:endParaRPr>
          </a:p>
          <a:p>
            <a:pPr marL="0" indent="0">
              <a:buNone/>
            </a:pPr>
            <a:endParaRPr lang="pt-BR" sz="2000" b="1" dirty="0">
              <a:solidFill>
                <a:srgbClr val="FF0000"/>
              </a:solidFill>
            </a:endParaRP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6608B93A-23B0-052F-52DF-F21BED52246B}"/>
              </a:ext>
            </a:extLst>
          </p:cNvPr>
          <p:cNvSpPr txBox="1"/>
          <p:nvPr/>
        </p:nvSpPr>
        <p:spPr>
          <a:xfrm>
            <a:off x="1544509" y="806982"/>
            <a:ext cx="7934323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sz="2800" b="1" dirty="0">
                <a:solidFill>
                  <a:srgbClr val="FF0000"/>
                </a:solidFill>
              </a:rPr>
              <a:t>a) Comparando a </a:t>
            </a:r>
            <a:r>
              <a:rPr lang="pt-BR" sz="2800" b="1">
                <a:solidFill>
                  <a:srgbClr val="FF0000"/>
                </a:solidFill>
              </a:rPr>
              <a:t>expressão dada</a:t>
            </a:r>
            <a:endParaRPr lang="pt-BR"/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32F32101-6BA5-5FC6-C705-DBFB18B61E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69569" y="1331118"/>
            <a:ext cx="1924050" cy="409575"/>
          </a:xfrm>
          <a:prstGeom prst="rect">
            <a:avLst/>
          </a:prstGeom>
        </p:spPr>
      </p:pic>
      <p:sp>
        <p:nvSpPr>
          <p:cNvPr id="8" name="CaixaDeTexto 7">
            <a:extLst>
              <a:ext uri="{FF2B5EF4-FFF2-40B4-BE49-F238E27FC236}">
                <a16:creationId xmlns:a16="http://schemas.microsoft.com/office/drawing/2014/main" id="{CBEB960A-9369-DB03-6F9E-CB4CA5D078C6}"/>
              </a:ext>
            </a:extLst>
          </p:cNvPr>
          <p:cNvSpPr txBox="1"/>
          <p:nvPr/>
        </p:nvSpPr>
        <p:spPr>
          <a:xfrm>
            <a:off x="1545170" y="1736468"/>
            <a:ext cx="2743199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sz="2800" b="1" dirty="0">
                <a:solidFill>
                  <a:srgbClr val="FF0000"/>
                </a:solidFill>
              </a:rPr>
              <a:t>com a função</a:t>
            </a:r>
            <a:endParaRPr lang="pt-BR" dirty="0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82199B4D-F181-9272-1BBD-599FEF7923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9556" y="2264569"/>
            <a:ext cx="2266950" cy="495300"/>
          </a:xfrm>
          <a:prstGeom prst="rect">
            <a:avLst/>
          </a:prstGeom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69A1F6BF-10F1-6992-4C13-E7D2E6727840}"/>
              </a:ext>
            </a:extLst>
          </p:cNvPr>
          <p:cNvSpPr txBox="1"/>
          <p:nvPr/>
        </p:nvSpPr>
        <p:spPr>
          <a:xfrm>
            <a:off x="1657753" y="2766493"/>
            <a:ext cx="6993729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sz="2800" b="1" dirty="0">
                <a:solidFill>
                  <a:srgbClr val="FF0000"/>
                </a:solidFill>
              </a:rPr>
              <a:t>Podemos observar no enunciado que</a:t>
            </a:r>
            <a:endParaRPr lang="pt-BR" dirty="0"/>
          </a:p>
        </p:txBody>
      </p:sp>
      <p:pic>
        <p:nvPicPr>
          <p:cNvPr id="9" name="Imagem 8" descr="Gráfico, Gráfico de caixa estreita&#10;&#10;O conteúdo gerado por IA pode estar incorreto.">
            <a:extLst>
              <a:ext uri="{FF2B5EF4-FFF2-40B4-BE49-F238E27FC236}">
                <a16:creationId xmlns:a16="http://schemas.microsoft.com/office/drawing/2014/main" id="{FA635B70-EF88-72CE-C5A4-291738C4823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43325" y="3286125"/>
            <a:ext cx="3514725" cy="666750"/>
          </a:xfrm>
          <a:prstGeom prst="rect">
            <a:avLst/>
          </a:prstGeom>
        </p:spPr>
      </p:pic>
      <p:sp>
        <p:nvSpPr>
          <p:cNvPr id="10" name="CaixaDeTexto 9">
            <a:extLst>
              <a:ext uri="{FF2B5EF4-FFF2-40B4-BE49-F238E27FC236}">
                <a16:creationId xmlns:a16="http://schemas.microsoft.com/office/drawing/2014/main" id="{AAE7C4C2-6D3F-6D29-0B0B-04C32C5E6EFE}"/>
              </a:ext>
            </a:extLst>
          </p:cNvPr>
          <p:cNvSpPr txBox="1"/>
          <p:nvPr/>
        </p:nvSpPr>
        <p:spPr>
          <a:xfrm>
            <a:off x="1669526" y="3953683"/>
            <a:ext cx="6469855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sz="2800" b="1" dirty="0">
                <a:solidFill>
                  <a:srgbClr val="FF0000"/>
                </a:solidFill>
              </a:rPr>
              <a:t>Sendo a função da velocidade </a:t>
            </a:r>
            <a:endParaRPr lang="pt-BR" dirty="0"/>
          </a:p>
        </p:txBody>
      </p:sp>
      <p:pic>
        <p:nvPicPr>
          <p:cNvPr id="11" name="Imagem 10">
            <a:extLst>
              <a:ext uri="{FF2B5EF4-FFF2-40B4-BE49-F238E27FC236}">
                <a16:creationId xmlns:a16="http://schemas.microsoft.com/office/drawing/2014/main" id="{6CE0EFFA-AC1B-CF47-894A-9D8856150B6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07631" y="4481512"/>
            <a:ext cx="2269331" cy="514349"/>
          </a:xfrm>
          <a:prstGeom prst="rect">
            <a:avLst/>
          </a:prstGeom>
        </p:spPr>
      </p:pic>
      <p:pic>
        <p:nvPicPr>
          <p:cNvPr id="12" name="Imagem 11" descr="Uma imagem contendo Texto&#10;&#10;O conteúdo gerado por IA pode estar incorreto.">
            <a:extLst>
              <a:ext uri="{FF2B5EF4-FFF2-40B4-BE49-F238E27FC236}">
                <a16:creationId xmlns:a16="http://schemas.microsoft.com/office/drawing/2014/main" id="{2620A330-D2A4-A689-7930-77ADC106170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28975" y="5705475"/>
            <a:ext cx="3638550" cy="638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933218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94E2F16-43D0-E607-009E-944AA205BB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79044" y="246063"/>
            <a:ext cx="4645819" cy="801689"/>
          </a:xfrm>
        </p:spPr>
        <p:txBody>
          <a:bodyPr>
            <a:normAutofit/>
          </a:bodyPr>
          <a:lstStyle/>
          <a:p>
            <a:r>
              <a:rPr lang="pt-BR" sz="3200" b="1" dirty="0">
                <a:solidFill>
                  <a:srgbClr val="FF0000"/>
                </a:solidFill>
              </a:rPr>
              <a:t>O gráfico da função será: </a:t>
            </a:r>
          </a:p>
        </p:txBody>
      </p:sp>
      <p:pic>
        <p:nvPicPr>
          <p:cNvPr id="4" name="Imagem 3" descr="Gráfico, Gráfico de linhas&#10;&#10;O conteúdo gerado por IA pode estar incorreto.">
            <a:extLst>
              <a:ext uri="{FF2B5EF4-FFF2-40B4-BE49-F238E27FC236}">
                <a16:creationId xmlns:a16="http://schemas.microsoft.com/office/drawing/2014/main" id="{0D11BEC1-B8AE-8560-F121-CC3A3F7C5E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6046" y="1051140"/>
            <a:ext cx="7729941" cy="53821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158380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D39F1E5-FFC9-C6D1-C9F5-86D2A6A8A1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3083" y="-4669"/>
            <a:ext cx="2335306" cy="866122"/>
          </a:xfrm>
        </p:spPr>
        <p:txBody>
          <a:bodyPr/>
          <a:lstStyle/>
          <a:p>
            <a:r>
              <a:rPr lang="pt-BR" sz="2800" b="1" dirty="0">
                <a:solidFill>
                  <a:srgbClr val="FF0000"/>
                </a:solidFill>
                <a:latin typeface="Aptos"/>
              </a:rPr>
              <a:t>Solução :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9457BC3-FFAE-7C77-1A95-E15A0899BA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9569" y="897639"/>
            <a:ext cx="11019864" cy="810981"/>
          </a:xfrm>
        </p:spPr>
        <p:txBody>
          <a:bodyPr vert="horz" lIns="91440" tIns="45720" rIns="91440" bIns="45720" rtlCol="0" anchor="t">
            <a:normAutofit fontScale="92500"/>
          </a:bodyPr>
          <a:lstStyle/>
          <a:p>
            <a:pPr marL="0" indent="0">
              <a:buNone/>
            </a:pPr>
            <a:r>
              <a:rPr lang="pt-BR" sz="2000" b="1" dirty="0">
                <a:solidFill>
                  <a:srgbClr val="FF0000"/>
                </a:solidFill>
              </a:rPr>
              <a:t> b) O móvel passa pela origem de espaços (marco zero) quando seu espaço S=0. Na equação, </a:t>
            </a:r>
            <a:r>
              <a:rPr lang="pt-BR" sz="2000" dirty="0">
                <a:solidFill>
                  <a:srgbClr val="FF0000"/>
                </a:solidFill>
                <a:latin typeface="Consolas"/>
              </a:rPr>
              <a:t>S = 9 + 3t − 2t²</a:t>
            </a:r>
            <a:r>
              <a:rPr lang="pt-BR" sz="1200" b="1" dirty="0">
                <a:solidFill>
                  <a:srgbClr val="FF0000"/>
                </a:solidFill>
                <a:latin typeface="Aptos"/>
              </a:rPr>
              <a:t>, </a:t>
            </a:r>
            <a:r>
              <a:rPr lang="pt-BR" sz="2000" b="1" dirty="0">
                <a:solidFill>
                  <a:srgbClr val="FF0000"/>
                </a:solidFill>
                <a:latin typeface="Aptos"/>
              </a:rPr>
              <a:t>sendo S=0, organizando a equação, teremos: </a:t>
            </a:r>
            <a:r>
              <a:rPr lang="pt-BR" sz="2000" dirty="0">
                <a:solidFill>
                  <a:srgbClr val="FF0000"/>
                </a:solidFill>
                <a:latin typeface="Consolas"/>
              </a:rPr>
              <a:t>2t² − 3t − 9 = 0.</a:t>
            </a:r>
            <a:endParaRPr lang="pt-BR" dirty="0"/>
          </a:p>
          <a:p>
            <a:pPr algn="just">
              <a:buNone/>
            </a:pPr>
            <a:endParaRPr lang="pt-BR" sz="2000" dirty="0">
              <a:solidFill>
                <a:srgbClr val="FF0000"/>
              </a:solidFill>
            </a:endParaRPr>
          </a:p>
          <a:p>
            <a:pPr marL="0" indent="0" algn="just">
              <a:buNone/>
            </a:pPr>
            <a:endParaRPr lang="pt-BR" sz="2000" b="1" dirty="0">
              <a:solidFill>
                <a:srgbClr val="FF0000"/>
              </a:solidFill>
              <a:latin typeface="Aptos"/>
            </a:endParaRPr>
          </a:p>
          <a:p>
            <a:pPr marL="0" indent="0">
              <a:buNone/>
            </a:pPr>
            <a:endParaRPr lang="pt-BR" sz="2000" dirty="0">
              <a:solidFill>
                <a:srgbClr val="FF0000"/>
              </a:solidFill>
              <a:latin typeface="Consolas"/>
            </a:endParaRPr>
          </a:p>
          <a:p>
            <a:pPr marL="0" indent="0">
              <a:buNone/>
            </a:pPr>
            <a:endParaRPr lang="pt-BR" sz="2000" b="1" dirty="0">
              <a:solidFill>
                <a:srgbClr val="FF0000"/>
              </a:solidFill>
            </a:endParaRP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5397D842-AF9C-6FE1-E39F-5CC6C5DEFF24}"/>
              </a:ext>
            </a:extLst>
          </p:cNvPr>
          <p:cNvSpPr txBox="1"/>
          <p:nvPr/>
        </p:nvSpPr>
        <p:spPr>
          <a:xfrm>
            <a:off x="587914" y="2043876"/>
            <a:ext cx="11013141" cy="163121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just"/>
            <a:r>
              <a:rPr lang="pt-BR" sz="2000" b="1" dirty="0">
                <a:solidFill>
                  <a:srgbClr val="FF0000"/>
                </a:solidFill>
                <a:ea typeface="+mn-lt"/>
                <a:cs typeface="+mn-lt"/>
              </a:rPr>
              <a:t> Tratando-se de uma equação de segundo grau, poderemos achar o valor correspondentes do instante achando as raízes da equação, convém observar que o valor da raiz que procuramos deve ser maior que zero, pois a função horária define apenas instantes posteriores a um evento, nesse caso o tempo igual a zero. </a:t>
            </a:r>
            <a:endParaRPr lang="pt-BR" sz="2000" b="1">
              <a:solidFill>
                <a:srgbClr val="FF0000"/>
              </a:solidFill>
            </a:endParaRPr>
          </a:p>
          <a:p>
            <a:pPr algn="just"/>
            <a:r>
              <a:rPr lang="pt-BR" sz="2000" b="1">
                <a:solidFill>
                  <a:srgbClr val="FF0000"/>
                </a:solidFill>
                <a:ea typeface="+mn-lt"/>
                <a:cs typeface="+mn-lt"/>
              </a:rPr>
              <a:t> </a:t>
            </a:r>
            <a:r>
              <a:rPr lang="pt-BR" sz="2000" b="1" dirty="0">
                <a:solidFill>
                  <a:srgbClr val="FF0000"/>
                </a:solidFill>
                <a:ea typeface="+mn-lt"/>
                <a:cs typeface="+mn-lt"/>
              </a:rPr>
              <a:t>Prosseguindo o desenvolvimento pela fórmula de Bhaskara teremos:</a:t>
            </a:r>
            <a:r>
              <a:rPr lang="pt-BR" dirty="0">
                <a:ea typeface="+mn-lt"/>
                <a:cs typeface="+mn-lt"/>
              </a:rPr>
              <a:t> </a:t>
            </a:r>
            <a:endParaRPr lang="pt-BR" dirty="0"/>
          </a:p>
        </p:txBody>
      </p:sp>
      <p:pic>
        <p:nvPicPr>
          <p:cNvPr id="5" name="Imagem 4" descr="Uma imagem contendo Diagrama&#10;&#10;O conteúdo gerado por IA pode estar incorreto.">
            <a:extLst>
              <a:ext uri="{FF2B5EF4-FFF2-40B4-BE49-F238E27FC236}">
                <a16:creationId xmlns:a16="http://schemas.microsoft.com/office/drawing/2014/main" id="{FBB79119-94EA-7B46-5AE6-4A5124822E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8025" y="3957918"/>
            <a:ext cx="5695950" cy="1295400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44C037D8-3730-5B74-4690-FEF266F0EE22}"/>
              </a:ext>
            </a:extLst>
          </p:cNvPr>
          <p:cNvSpPr txBox="1"/>
          <p:nvPr/>
        </p:nvSpPr>
        <p:spPr>
          <a:xfrm>
            <a:off x="1932387" y="5701044"/>
            <a:ext cx="8783172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just"/>
            <a:r>
              <a:rPr lang="pt-BR" sz="2000" b="1" dirty="0">
                <a:solidFill>
                  <a:srgbClr val="FF0000"/>
                </a:solidFill>
              </a:rPr>
              <a:t>Resposta: </a:t>
            </a:r>
            <a:r>
              <a:rPr lang="pt-BR" sz="2000" b="1" i="1" dirty="0">
                <a:solidFill>
                  <a:srgbClr val="FF0000"/>
                </a:solidFill>
              </a:rPr>
              <a:t>t'=3s</a:t>
            </a:r>
            <a:r>
              <a:rPr lang="pt-BR" sz="2000" b="1" dirty="0">
                <a:solidFill>
                  <a:srgbClr val="FF0000"/>
                </a:solidFill>
              </a:rPr>
              <a:t>, o móvel passa pela origem no instante 3s.</a:t>
            </a:r>
          </a:p>
        </p:txBody>
      </p:sp>
    </p:spTree>
    <p:extLst>
      <p:ext uri="{BB962C8B-B14F-4D97-AF65-F5344CB8AC3E}">
        <p14:creationId xmlns:p14="http://schemas.microsoft.com/office/powerpoint/2010/main" val="7376108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31C0F50-B4CF-8C1B-FC4E-7D82EA7DD4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30171" y="-5471"/>
            <a:ext cx="4531659" cy="899739"/>
          </a:xfrm>
        </p:spPr>
        <p:txBody>
          <a:bodyPr/>
          <a:lstStyle/>
          <a:p>
            <a:r>
              <a:rPr lang="pt-BR" sz="3200" b="1" dirty="0">
                <a:solidFill>
                  <a:srgbClr val="FF0000"/>
                </a:solidFill>
              </a:rPr>
              <a:t>O gráfico da função será:</a:t>
            </a:r>
            <a:endParaRPr lang="pt-BR" dirty="0"/>
          </a:p>
        </p:txBody>
      </p:sp>
      <p:pic>
        <p:nvPicPr>
          <p:cNvPr id="3" name="Imagem 2" descr="Gráfico, Gráfico de linhas&#10;&#10;O conteúdo gerado por IA pode estar incorreto.">
            <a:extLst>
              <a:ext uri="{FF2B5EF4-FFF2-40B4-BE49-F238E27FC236}">
                <a16:creationId xmlns:a16="http://schemas.microsoft.com/office/drawing/2014/main" id="{80948616-0D45-4015-2ECF-059BD507AE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9841" y="897062"/>
            <a:ext cx="8157246" cy="4513479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4925E413-0C51-834F-2D09-0B1865FCA40E}"/>
              </a:ext>
            </a:extLst>
          </p:cNvPr>
          <p:cNvSpPr txBox="1"/>
          <p:nvPr/>
        </p:nvSpPr>
        <p:spPr>
          <a:xfrm>
            <a:off x="322413" y="5618025"/>
            <a:ext cx="11547021" cy="107721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just"/>
            <a:r>
              <a:rPr lang="pt-BR" sz="1600" b="1" dirty="0">
                <a:solidFill>
                  <a:schemeClr val="accent2"/>
                </a:solidFill>
              </a:rPr>
              <a:t>Observação: A função horária é uma equação do 2° grau, no entanto, a análise do seu gráfico nem sempre atende aos requisitos de uma questão, na resolução do problema proposto destaca-se que, uma das raízes da equação não faz sentido como resposta, pela problemática proposta as razões matemáticas analisadas foram submetidas a condições físicas relativas.</a:t>
            </a:r>
            <a:endParaRPr lang="pt-BR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0658935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ED26C64-DCF1-0B20-6E28-399DC4EC84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Conclusão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5B67827-D717-9798-7763-C4CBA3B490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75658"/>
            <a:ext cx="10515600" cy="3494087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 algn="just">
              <a:buNone/>
            </a:pPr>
            <a:r>
              <a:rPr lang="pt-BR" dirty="0"/>
              <a:t> </a:t>
            </a:r>
            <a:r>
              <a:rPr lang="pt-BR" b="1" dirty="0"/>
              <a:t>As funções de primeiro e segundo grau são ferramentas indispensáveis para os cálculos Físicos, convém observar que a Física procura explicar os eventos em todas as perspectivas, aninhando cálculos e fórmulas muitas vezes de forma complexa, no entanto a Matemática e seus fundamentos são o alicerce de todo o conhecimento, dominar a matemática é dominar a arte do saber.</a:t>
            </a:r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5800527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D4EF041-2689-DD29-22F1-83FE7A39B0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Referências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306702C-EEB1-E495-8400-3DD2097D7C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algn="just"/>
            <a:r>
              <a:rPr lang="pt-BR" sz="2000" b="1" dirty="0"/>
              <a:t>ChatGPT,</a:t>
            </a:r>
          </a:p>
          <a:p>
            <a:pPr algn="just"/>
            <a:r>
              <a:rPr lang="pt-BR" sz="2000" b="1" dirty="0"/>
              <a:t>Microsoft </a:t>
            </a:r>
            <a:r>
              <a:rPr lang="pt-BR" sz="2000" b="1" err="1"/>
              <a:t>copilot</a:t>
            </a:r>
            <a:r>
              <a:rPr lang="pt-BR" sz="2000" b="1" dirty="0"/>
              <a:t>,</a:t>
            </a:r>
          </a:p>
          <a:p>
            <a:pPr algn="just"/>
            <a:r>
              <a:rPr lang="pt-BR" sz="2000" b="1" dirty="0"/>
              <a:t>Google AI,</a:t>
            </a:r>
          </a:p>
          <a:p>
            <a:pPr algn="just"/>
            <a:endParaRPr lang="pt-BR" sz="2000" b="1" dirty="0"/>
          </a:p>
          <a:p>
            <a:pPr algn="just"/>
            <a:r>
              <a:rPr lang="pt-BR" sz="2000" b="1" dirty="0"/>
              <a:t>Os fundamentos da Física, Ramalho, Ivan, Nicolau, Toledo. Volume um, mecânica, páginas 44,45. (exercícios resolvidos, R.14).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113526587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Escritório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24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24</vt:i4>
      </vt:variant>
    </vt:vector>
  </HeadingPairs>
  <TitlesOfParts>
    <vt:vector size="25" baseType="lpstr">
      <vt:lpstr>Tema do Office</vt:lpstr>
      <vt:lpstr>Apresentação do PowerPoint</vt:lpstr>
      <vt:lpstr>Disciplina: Matemática fundamental</vt:lpstr>
      <vt:lpstr>Problema de Matemática  contextualizado na  Física (Equações de 1° e 2° grau)</vt:lpstr>
      <vt:lpstr>Apresentação do PowerPoint</vt:lpstr>
      <vt:lpstr>Introdução</vt:lpstr>
      <vt:lpstr>Noções matemáticas (Resumo de Equações de 1° e 2° grau).</vt:lpstr>
      <vt:lpstr>Equação do segundo grau</vt:lpstr>
      <vt:lpstr>Função da velocidade, contextualizando cálculos Físicos (equação de 1° grau).</vt:lpstr>
      <vt:lpstr>Seu gráfico será do tipo:</vt:lpstr>
      <vt:lpstr>Função horária, contextualizando cálculos Físicos  (Equação de 2° grau). 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Problema matemático contextualizado na Física.</vt:lpstr>
      <vt:lpstr>Solução :</vt:lpstr>
      <vt:lpstr>O gráfico da função será: </vt:lpstr>
      <vt:lpstr>Solução :</vt:lpstr>
      <vt:lpstr>O gráfico da função será:</vt:lpstr>
      <vt:lpstr>Conclusão</vt:lpstr>
      <vt:lpstr>Referências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960</cp:revision>
  <dcterms:created xsi:type="dcterms:W3CDTF">2025-11-22T15:06:55Z</dcterms:created>
  <dcterms:modified xsi:type="dcterms:W3CDTF">2025-11-28T05:10:59Z</dcterms:modified>
</cp:coreProperties>
</file>