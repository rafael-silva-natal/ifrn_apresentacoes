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4" r:id="rId15"/>
    <p:sldId id="275" r:id="rId16"/>
    <p:sldId id="276" r:id="rId17"/>
    <p:sldId id="277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2347CC-3A19-4E5C-B610-004F2E4A0D56}" v="126" dt="2025-11-26T09:21:21.3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218C892-B768-7D8C-FA04-5162015D2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29" y="2267475"/>
            <a:ext cx="11791628" cy="232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DF1EA9-BDF9-F078-677D-E058FBB18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183" y="-384970"/>
            <a:ext cx="9431379" cy="1956841"/>
          </a:xfrm>
        </p:spPr>
        <p:txBody>
          <a:bodyPr anchor="b">
            <a:normAutofit/>
          </a:bodyPr>
          <a:lstStyle/>
          <a:p>
            <a:r>
              <a:rPr lang="pt-BR" sz="4200" b="1" u="sng" dirty="0"/>
              <a:t>Disciplina: Matemática fundamental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897B4C-861D-AF23-7E93-950A461B3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997" y="3092459"/>
            <a:ext cx="6742500" cy="180958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sz="3200" b="1" dirty="0"/>
              <a:t>Professor: José Vilani</a:t>
            </a:r>
          </a:p>
          <a:p>
            <a:pPr marL="0" indent="0">
              <a:buNone/>
            </a:pPr>
            <a:endParaRPr lang="pt-BR" sz="3200" b="1" dirty="0"/>
          </a:p>
          <a:p>
            <a:pPr marL="0" indent="0">
              <a:buNone/>
            </a:pPr>
            <a:r>
              <a:rPr lang="pt-BR" sz="3200" b="1" dirty="0"/>
              <a:t>Aluno: Rafael Bruno da Silva</a:t>
            </a:r>
          </a:p>
          <a:p>
            <a:endParaRPr lang="pt-BR" sz="2200"/>
          </a:p>
        </p:txBody>
      </p:sp>
      <p:pic>
        <p:nvPicPr>
          <p:cNvPr id="5" name="Picture 4" descr="Fórmulas matemáticas complexas em um quadro negro">
            <a:extLst>
              <a:ext uri="{FF2B5EF4-FFF2-40B4-BE49-F238E27FC236}">
                <a16:creationId xmlns:a16="http://schemas.microsoft.com/office/drawing/2014/main" id="{EFD96352-6977-58B2-87B7-9B51670F9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03" r="19569" b="-9"/>
          <a:stretch>
            <a:fillRect/>
          </a:stretch>
        </p:blipFill>
        <p:spPr>
          <a:xfrm>
            <a:off x="8553431" y="10"/>
            <a:ext cx="4993148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7821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A95209C-5275-4E15-8EA7-7F42980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Fórmulas escritas em um quadro-negro">
            <a:extLst>
              <a:ext uri="{FF2B5EF4-FFF2-40B4-BE49-F238E27FC236}">
                <a16:creationId xmlns:a16="http://schemas.microsoft.com/office/drawing/2014/main" id="{F0511FFB-007C-193F-6BC1-D9BDBAE1DF0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09" r="-1" b="-1"/>
          <a:stretch>
            <a:fillRect/>
          </a:stretch>
        </p:blipFill>
        <p:spPr>
          <a:xfrm>
            <a:off x="20" y="11916"/>
            <a:ext cx="1218893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96CE901-A0F2-B5AA-0B17-B755A6317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798" y="1357546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100" b="1" dirty="0" err="1">
                <a:solidFill>
                  <a:schemeClr val="bg1"/>
                </a:solidFill>
              </a:rPr>
              <a:t>Problema</a:t>
            </a:r>
            <a:r>
              <a:rPr lang="en-US" sz="5100" b="1" dirty="0">
                <a:solidFill>
                  <a:schemeClr val="bg1"/>
                </a:solidFill>
              </a:rPr>
              <a:t> de </a:t>
            </a:r>
            <a:r>
              <a:rPr lang="en-US" sz="5100" b="1" dirty="0" err="1">
                <a:solidFill>
                  <a:schemeClr val="bg1"/>
                </a:solidFill>
              </a:rPr>
              <a:t>Matemática</a:t>
            </a:r>
            <a:r>
              <a:rPr lang="en-US" sz="5100" b="1" dirty="0">
                <a:solidFill>
                  <a:schemeClr val="bg1"/>
                </a:solidFill>
              </a:rPr>
              <a:t> </a:t>
            </a:r>
            <a:br>
              <a:rPr lang="en-US" sz="5100" b="1" dirty="0"/>
            </a:br>
            <a:r>
              <a:rPr lang="en-US" sz="5100" b="1" dirty="0" err="1">
                <a:solidFill>
                  <a:schemeClr val="bg1"/>
                </a:solidFill>
              </a:rPr>
              <a:t>contextualizado</a:t>
            </a:r>
            <a:r>
              <a:rPr lang="en-US" sz="5100" b="1" dirty="0">
                <a:solidFill>
                  <a:schemeClr val="bg1"/>
                </a:solidFill>
              </a:rPr>
              <a:t> </a:t>
            </a:r>
            <a:r>
              <a:rPr lang="en-US" sz="5100" b="1" dirty="0" err="1">
                <a:solidFill>
                  <a:schemeClr val="bg1"/>
                </a:solidFill>
              </a:rPr>
              <a:t>na</a:t>
            </a:r>
            <a:r>
              <a:rPr lang="en-US" sz="5100" b="1" dirty="0">
                <a:solidFill>
                  <a:schemeClr val="bg1"/>
                </a:solidFill>
              </a:rPr>
              <a:t>  </a:t>
            </a:r>
            <a:r>
              <a:rPr lang="en-US" sz="5100" b="1" dirty="0" err="1">
                <a:solidFill>
                  <a:schemeClr val="bg1"/>
                </a:solidFill>
              </a:rPr>
              <a:t>Física</a:t>
            </a:r>
            <a:br>
              <a:rPr lang="en-US" sz="5100" b="1" dirty="0"/>
            </a:br>
            <a:r>
              <a:rPr lang="en-US" sz="5100" b="1" dirty="0">
                <a:solidFill>
                  <a:schemeClr val="bg1"/>
                </a:solidFill>
              </a:rPr>
              <a:t>(</a:t>
            </a:r>
            <a:r>
              <a:rPr lang="en-US" sz="5100" b="1" dirty="0" err="1">
                <a:solidFill>
                  <a:schemeClr val="bg1"/>
                </a:solidFill>
              </a:rPr>
              <a:t>Equações</a:t>
            </a:r>
            <a:r>
              <a:rPr lang="en-US" sz="5100" b="1" dirty="0">
                <a:solidFill>
                  <a:schemeClr val="bg1"/>
                </a:solidFill>
              </a:rPr>
              <a:t> de 1° e 2° </a:t>
            </a:r>
            <a:r>
              <a:rPr lang="en-US" sz="5100" b="1" dirty="0" err="1">
                <a:solidFill>
                  <a:schemeClr val="bg1"/>
                </a:solidFill>
              </a:rPr>
              <a:t>grau</a:t>
            </a:r>
            <a:r>
              <a:rPr lang="en-US" sz="5100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27" name="sketchy box">
            <a:extLst>
              <a:ext uri="{FF2B5EF4-FFF2-40B4-BE49-F238E27FC236}">
                <a16:creationId xmlns:a16="http://schemas.microsoft.com/office/drawing/2014/main" id="{4F2ED431-E304-4FF0-9F4E-032783C9D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38200" y="720953"/>
            <a:ext cx="10515600" cy="5416094"/>
          </a:xfrm>
          <a:custGeom>
            <a:avLst/>
            <a:gdLst>
              <a:gd name="csX0" fmla="*/ 0 w 10515600"/>
              <a:gd name="csY0" fmla="*/ 0 h 5416094"/>
              <a:gd name="csX1" fmla="*/ 552069 w 10515600"/>
              <a:gd name="csY1" fmla="*/ 0 h 5416094"/>
              <a:gd name="csX2" fmla="*/ 893826 w 10515600"/>
              <a:gd name="csY2" fmla="*/ 0 h 5416094"/>
              <a:gd name="csX3" fmla="*/ 1761363 w 10515600"/>
              <a:gd name="csY3" fmla="*/ 0 h 5416094"/>
              <a:gd name="csX4" fmla="*/ 2313432 w 10515600"/>
              <a:gd name="csY4" fmla="*/ 0 h 5416094"/>
              <a:gd name="csX5" fmla="*/ 2865501 w 10515600"/>
              <a:gd name="csY5" fmla="*/ 0 h 5416094"/>
              <a:gd name="csX6" fmla="*/ 3733038 w 10515600"/>
              <a:gd name="csY6" fmla="*/ 0 h 5416094"/>
              <a:gd name="csX7" fmla="*/ 4179951 w 10515600"/>
              <a:gd name="csY7" fmla="*/ 0 h 5416094"/>
              <a:gd name="csX8" fmla="*/ 5047488 w 10515600"/>
              <a:gd name="csY8" fmla="*/ 0 h 5416094"/>
              <a:gd name="csX9" fmla="*/ 5915025 w 10515600"/>
              <a:gd name="csY9" fmla="*/ 0 h 5416094"/>
              <a:gd name="csX10" fmla="*/ 6572250 w 10515600"/>
              <a:gd name="csY10" fmla="*/ 0 h 5416094"/>
              <a:gd name="csX11" fmla="*/ 7439787 w 10515600"/>
              <a:gd name="csY11" fmla="*/ 0 h 5416094"/>
              <a:gd name="csX12" fmla="*/ 7991856 w 10515600"/>
              <a:gd name="csY12" fmla="*/ 0 h 5416094"/>
              <a:gd name="csX13" fmla="*/ 8543925 w 10515600"/>
              <a:gd name="csY13" fmla="*/ 0 h 5416094"/>
              <a:gd name="csX14" fmla="*/ 9306306 w 10515600"/>
              <a:gd name="csY14" fmla="*/ 0 h 5416094"/>
              <a:gd name="csX15" fmla="*/ 9858375 w 10515600"/>
              <a:gd name="csY15" fmla="*/ 0 h 5416094"/>
              <a:gd name="csX16" fmla="*/ 10515600 w 10515600"/>
              <a:gd name="csY16" fmla="*/ 0 h 5416094"/>
              <a:gd name="csX17" fmla="*/ 10515600 w 10515600"/>
              <a:gd name="csY17" fmla="*/ 785334 h 5416094"/>
              <a:gd name="csX18" fmla="*/ 10515600 w 10515600"/>
              <a:gd name="csY18" fmla="*/ 1516506 h 5416094"/>
              <a:gd name="csX19" fmla="*/ 10515600 w 10515600"/>
              <a:gd name="csY19" fmla="*/ 2247679 h 5416094"/>
              <a:gd name="csX20" fmla="*/ 10515600 w 10515600"/>
              <a:gd name="csY20" fmla="*/ 2762208 h 5416094"/>
              <a:gd name="csX21" fmla="*/ 10515600 w 10515600"/>
              <a:gd name="csY21" fmla="*/ 3330898 h 5416094"/>
              <a:gd name="csX22" fmla="*/ 10515600 w 10515600"/>
              <a:gd name="csY22" fmla="*/ 4062071 h 5416094"/>
              <a:gd name="csX23" fmla="*/ 10515600 w 10515600"/>
              <a:gd name="csY23" fmla="*/ 4684921 h 5416094"/>
              <a:gd name="csX24" fmla="*/ 10515600 w 10515600"/>
              <a:gd name="csY24" fmla="*/ 5416094 h 5416094"/>
              <a:gd name="csX25" fmla="*/ 9753219 w 10515600"/>
              <a:gd name="csY25" fmla="*/ 5416094 h 5416094"/>
              <a:gd name="csX26" fmla="*/ 9411462 w 10515600"/>
              <a:gd name="csY26" fmla="*/ 5416094 h 5416094"/>
              <a:gd name="csX27" fmla="*/ 8754237 w 10515600"/>
              <a:gd name="csY27" fmla="*/ 5416094 h 5416094"/>
              <a:gd name="csX28" fmla="*/ 8307324 w 10515600"/>
              <a:gd name="csY28" fmla="*/ 5416094 h 5416094"/>
              <a:gd name="csX29" fmla="*/ 7544943 w 10515600"/>
              <a:gd name="csY29" fmla="*/ 5416094 h 5416094"/>
              <a:gd name="csX30" fmla="*/ 7098030 w 10515600"/>
              <a:gd name="csY30" fmla="*/ 5416094 h 5416094"/>
              <a:gd name="csX31" fmla="*/ 6335649 w 10515600"/>
              <a:gd name="csY31" fmla="*/ 5416094 h 5416094"/>
              <a:gd name="csX32" fmla="*/ 5993892 w 10515600"/>
              <a:gd name="csY32" fmla="*/ 5416094 h 5416094"/>
              <a:gd name="csX33" fmla="*/ 5231511 w 10515600"/>
              <a:gd name="csY33" fmla="*/ 5416094 h 5416094"/>
              <a:gd name="csX34" fmla="*/ 4784598 w 10515600"/>
              <a:gd name="csY34" fmla="*/ 5416094 h 5416094"/>
              <a:gd name="csX35" fmla="*/ 4442841 w 10515600"/>
              <a:gd name="csY35" fmla="*/ 5416094 h 5416094"/>
              <a:gd name="csX36" fmla="*/ 3995928 w 10515600"/>
              <a:gd name="csY36" fmla="*/ 5416094 h 5416094"/>
              <a:gd name="csX37" fmla="*/ 3233547 w 10515600"/>
              <a:gd name="csY37" fmla="*/ 5416094 h 5416094"/>
              <a:gd name="csX38" fmla="*/ 2786634 w 10515600"/>
              <a:gd name="csY38" fmla="*/ 5416094 h 5416094"/>
              <a:gd name="csX39" fmla="*/ 2444877 w 10515600"/>
              <a:gd name="csY39" fmla="*/ 5416094 h 5416094"/>
              <a:gd name="csX40" fmla="*/ 1997964 w 10515600"/>
              <a:gd name="csY40" fmla="*/ 5416094 h 5416094"/>
              <a:gd name="csX41" fmla="*/ 1445895 w 10515600"/>
              <a:gd name="csY41" fmla="*/ 5416094 h 5416094"/>
              <a:gd name="csX42" fmla="*/ 788670 w 10515600"/>
              <a:gd name="csY42" fmla="*/ 5416094 h 5416094"/>
              <a:gd name="csX43" fmla="*/ 0 w 10515600"/>
              <a:gd name="csY43" fmla="*/ 5416094 h 5416094"/>
              <a:gd name="csX44" fmla="*/ 0 w 10515600"/>
              <a:gd name="csY44" fmla="*/ 4630760 h 5416094"/>
              <a:gd name="csX45" fmla="*/ 0 w 10515600"/>
              <a:gd name="csY45" fmla="*/ 3953749 h 5416094"/>
              <a:gd name="csX46" fmla="*/ 0 w 10515600"/>
              <a:gd name="csY46" fmla="*/ 3276737 h 5416094"/>
              <a:gd name="csX47" fmla="*/ 0 w 10515600"/>
              <a:gd name="csY47" fmla="*/ 2599725 h 5416094"/>
              <a:gd name="csX48" fmla="*/ 0 w 10515600"/>
              <a:gd name="csY48" fmla="*/ 1922713 h 5416094"/>
              <a:gd name="csX49" fmla="*/ 0 w 10515600"/>
              <a:gd name="csY49" fmla="*/ 1299863 h 5416094"/>
              <a:gd name="csX50" fmla="*/ 0 w 10515600"/>
              <a:gd name="csY50" fmla="*/ 0 h 5416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515600" h="5416094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24919" y="196329"/>
                  <a:pt x="10549062" y="488432"/>
                  <a:pt x="10515600" y="785334"/>
                </a:cubicBezTo>
                <a:cubicBezTo>
                  <a:pt x="10482138" y="1082236"/>
                  <a:pt x="10536385" y="1323726"/>
                  <a:pt x="10515600" y="1516506"/>
                </a:cubicBezTo>
                <a:cubicBezTo>
                  <a:pt x="10494815" y="1709286"/>
                  <a:pt x="10546328" y="2097632"/>
                  <a:pt x="10515600" y="2247679"/>
                </a:cubicBezTo>
                <a:cubicBezTo>
                  <a:pt x="10484872" y="2397726"/>
                  <a:pt x="10491771" y="2577292"/>
                  <a:pt x="10515600" y="2762208"/>
                </a:cubicBezTo>
                <a:cubicBezTo>
                  <a:pt x="10539429" y="2947124"/>
                  <a:pt x="10511007" y="3105736"/>
                  <a:pt x="10515600" y="3330898"/>
                </a:cubicBezTo>
                <a:cubicBezTo>
                  <a:pt x="10520194" y="3556060"/>
                  <a:pt x="10497393" y="3882611"/>
                  <a:pt x="10515600" y="4062071"/>
                </a:cubicBezTo>
                <a:cubicBezTo>
                  <a:pt x="10533807" y="4241531"/>
                  <a:pt x="10544791" y="4505155"/>
                  <a:pt x="10515600" y="4684921"/>
                </a:cubicBezTo>
                <a:cubicBezTo>
                  <a:pt x="10486410" y="4864687"/>
                  <a:pt x="10497356" y="5246484"/>
                  <a:pt x="10515600" y="5416094"/>
                </a:cubicBezTo>
                <a:cubicBezTo>
                  <a:pt x="10245623" y="5445692"/>
                  <a:pt x="10029676" y="5415505"/>
                  <a:pt x="9753219" y="5416094"/>
                </a:cubicBezTo>
                <a:cubicBezTo>
                  <a:pt x="9476762" y="5416683"/>
                  <a:pt x="9553148" y="5422760"/>
                  <a:pt x="9411462" y="5416094"/>
                </a:cubicBezTo>
                <a:cubicBezTo>
                  <a:pt x="9269776" y="5409428"/>
                  <a:pt x="8927709" y="5385012"/>
                  <a:pt x="8754237" y="5416094"/>
                </a:cubicBezTo>
                <a:cubicBezTo>
                  <a:pt x="8580766" y="5447176"/>
                  <a:pt x="8413264" y="5410024"/>
                  <a:pt x="8307324" y="5416094"/>
                </a:cubicBezTo>
                <a:cubicBezTo>
                  <a:pt x="8201384" y="5422164"/>
                  <a:pt x="7912690" y="5421686"/>
                  <a:pt x="7544943" y="5416094"/>
                </a:cubicBezTo>
                <a:cubicBezTo>
                  <a:pt x="7177196" y="5410502"/>
                  <a:pt x="7304235" y="5418502"/>
                  <a:pt x="7098030" y="5416094"/>
                </a:cubicBezTo>
                <a:cubicBezTo>
                  <a:pt x="6891825" y="5413686"/>
                  <a:pt x="6541479" y="5434609"/>
                  <a:pt x="6335649" y="5416094"/>
                </a:cubicBezTo>
                <a:cubicBezTo>
                  <a:pt x="6129819" y="5397579"/>
                  <a:pt x="6106541" y="5402791"/>
                  <a:pt x="5993892" y="5416094"/>
                </a:cubicBezTo>
                <a:cubicBezTo>
                  <a:pt x="5881243" y="5429397"/>
                  <a:pt x="5545248" y="5437743"/>
                  <a:pt x="5231511" y="5416094"/>
                </a:cubicBezTo>
                <a:cubicBezTo>
                  <a:pt x="4917774" y="5394445"/>
                  <a:pt x="4963237" y="5426599"/>
                  <a:pt x="4784598" y="5416094"/>
                </a:cubicBezTo>
                <a:cubicBezTo>
                  <a:pt x="4605959" y="5405589"/>
                  <a:pt x="4605904" y="5406658"/>
                  <a:pt x="4442841" y="5416094"/>
                </a:cubicBezTo>
                <a:cubicBezTo>
                  <a:pt x="4279778" y="5425530"/>
                  <a:pt x="4177180" y="5426138"/>
                  <a:pt x="3995928" y="5416094"/>
                </a:cubicBezTo>
                <a:cubicBezTo>
                  <a:pt x="3814676" y="5406050"/>
                  <a:pt x="3516440" y="5429234"/>
                  <a:pt x="3233547" y="5416094"/>
                </a:cubicBezTo>
                <a:cubicBezTo>
                  <a:pt x="2950654" y="5402954"/>
                  <a:pt x="2884354" y="5436103"/>
                  <a:pt x="2786634" y="5416094"/>
                </a:cubicBezTo>
                <a:cubicBezTo>
                  <a:pt x="2688914" y="5396085"/>
                  <a:pt x="2522958" y="5423232"/>
                  <a:pt x="2444877" y="5416094"/>
                </a:cubicBezTo>
                <a:cubicBezTo>
                  <a:pt x="2366796" y="5408956"/>
                  <a:pt x="2104768" y="5395479"/>
                  <a:pt x="1997964" y="5416094"/>
                </a:cubicBezTo>
                <a:cubicBezTo>
                  <a:pt x="1891160" y="5436709"/>
                  <a:pt x="1573016" y="5412376"/>
                  <a:pt x="1445895" y="5416094"/>
                </a:cubicBezTo>
                <a:cubicBezTo>
                  <a:pt x="1318774" y="5419812"/>
                  <a:pt x="986443" y="5400529"/>
                  <a:pt x="788670" y="5416094"/>
                </a:cubicBezTo>
                <a:cubicBezTo>
                  <a:pt x="590897" y="5431659"/>
                  <a:pt x="363709" y="5381266"/>
                  <a:pt x="0" y="5416094"/>
                </a:cubicBezTo>
                <a:cubicBezTo>
                  <a:pt x="-22973" y="5218643"/>
                  <a:pt x="-26699" y="5010779"/>
                  <a:pt x="0" y="4630760"/>
                </a:cubicBezTo>
                <a:cubicBezTo>
                  <a:pt x="26699" y="4250741"/>
                  <a:pt x="-15389" y="4196664"/>
                  <a:pt x="0" y="3953749"/>
                </a:cubicBezTo>
                <a:cubicBezTo>
                  <a:pt x="15389" y="3710834"/>
                  <a:pt x="468" y="3611311"/>
                  <a:pt x="0" y="3276737"/>
                </a:cubicBezTo>
                <a:cubicBezTo>
                  <a:pt x="-468" y="2942163"/>
                  <a:pt x="15360" y="2781998"/>
                  <a:pt x="0" y="2599725"/>
                </a:cubicBezTo>
                <a:cubicBezTo>
                  <a:pt x="-15360" y="2417452"/>
                  <a:pt x="14816" y="2100232"/>
                  <a:pt x="0" y="1922713"/>
                </a:cubicBezTo>
                <a:cubicBezTo>
                  <a:pt x="-14816" y="1745194"/>
                  <a:pt x="-24648" y="1604167"/>
                  <a:pt x="0" y="1299863"/>
                </a:cubicBezTo>
                <a:cubicBezTo>
                  <a:pt x="24648" y="995559"/>
                  <a:pt x="2182" y="279525"/>
                  <a:pt x="0" y="0"/>
                </a:cubicBezTo>
                <a:close/>
              </a:path>
            </a:pathLst>
          </a:custGeom>
          <a:noFill/>
          <a:ln w="4762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ketchy line">
            <a:extLst>
              <a:ext uri="{FF2B5EF4-FFF2-40B4-BE49-F238E27FC236}">
                <a16:creationId xmlns:a16="http://schemas.microsoft.com/office/drawing/2014/main" id="{4E87FCFB-2CCE-460D-B3DD-557C8BD1B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4194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127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órmulas escritas em um quadro-negro">
            <a:extLst>
              <a:ext uri="{FF2B5EF4-FFF2-40B4-BE49-F238E27FC236}">
                <a16:creationId xmlns:a16="http://schemas.microsoft.com/office/drawing/2014/main" id="{CE5A455C-DDB9-8DE1-2E46-6DBB5D3E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9401522" y="10"/>
            <a:ext cx="7489476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15823-6704-708A-B142-6034E51BF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7" y="1143034"/>
            <a:ext cx="9812355" cy="447301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pt-BR" sz="2000" b="1" dirty="0"/>
              <a:t>Índice:</a:t>
            </a:r>
          </a:p>
          <a:p>
            <a:pPr>
              <a:buNone/>
            </a:pPr>
            <a:endParaRPr lang="pt-BR" sz="2000" b="1" dirty="0"/>
          </a:p>
          <a:p>
            <a:pPr>
              <a:buNone/>
            </a:pPr>
            <a:endParaRPr lang="pt-BR" sz="2000" b="1" dirty="0"/>
          </a:p>
          <a:p>
            <a:pPr>
              <a:buFont typeface="Arial"/>
              <a:buChar char="•"/>
            </a:pPr>
            <a:r>
              <a:rPr lang="pt-BR" sz="2000" b="1" dirty="0"/>
              <a:t>Introdução.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Noções matemáticas (Resumo de Equações de 1° e 2°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Função da velocidade, contextualizando cálculos Físicos (equação de 1°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Função horária, contextualizando cálculos Físicos (Equação de 2°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Problema matemático contextualizado na Física.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Conclusão.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Referências.</a:t>
            </a:r>
            <a:r>
              <a:rPr lang="pt-BR" sz="2000" dirty="0"/>
              <a:t> </a:t>
            </a:r>
          </a:p>
          <a:p>
            <a:pPr marL="0" indent="0">
              <a:buNone/>
            </a:pPr>
            <a:endParaRPr lang="pt-BR" sz="1600"/>
          </a:p>
        </p:txBody>
      </p:sp>
    </p:spTree>
    <p:extLst>
      <p:ext uri="{BB962C8B-B14F-4D97-AF65-F5344CB8AC3E}">
        <p14:creationId xmlns:p14="http://schemas.microsoft.com/office/powerpoint/2010/main" val="36469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4A88EF-014D-D667-CD85-F7CEC3CF0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19" y="784501"/>
            <a:ext cx="3527425" cy="854594"/>
          </a:xfrm>
        </p:spPr>
        <p:txBody>
          <a:bodyPr anchor="t">
            <a:normAutofit/>
          </a:bodyPr>
          <a:lstStyle/>
          <a:p>
            <a:r>
              <a:rPr lang="pt-BR" sz="400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CB718F-8E84-6930-1564-FF51227BF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207" y="1713190"/>
            <a:ext cx="10606880" cy="46148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>
                <a:solidFill>
                  <a:schemeClr val="tx1">
                    <a:alpha val="80000"/>
                  </a:schemeClr>
                </a:solidFill>
              </a:rPr>
              <a:t> </a:t>
            </a:r>
            <a:r>
              <a:rPr lang="pt-BR">
                <a:solidFill>
                  <a:schemeClr val="tx1">
                    <a:alpha val="80000"/>
                  </a:schemeClr>
                </a:solidFill>
              </a:rPr>
              <a:t>Os problemas da “Ciência que estuda a natureza” estão em todos os lugares, e podem ser discutidos por vários ângulos e sobre perspectivas de análises diferentes. Um corpo e suas formas de energia, pode revelar cálculos complexos que podem explorar a Mecânica, Termologia, Óptica, Geometria da Luz e ondas, Eletromagnetismo, Relatividade entre infinitas fórmulas e conceitos matemáticos clássicos ou modernos. Convém destacar que a matemática e todo o seu saber sempre será o alicerce para o desenvolvimento dos cálculos físicos.</a:t>
            </a:r>
          </a:p>
          <a:p>
            <a:endParaRPr lang="pt-BR" sz="200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71640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78E45-09B3-28FF-626B-46E9F1F4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69"/>
            <a:ext cx="10515600" cy="1004095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Noções matemáticas (Resumo de Equações de 1° e 2° grau).</a:t>
            </a:r>
            <a:endParaRPr lang="pt-BR" sz="2800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DF342F-F004-07D5-F7F8-21F3E28B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231" y="825498"/>
            <a:ext cx="10515600" cy="11128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 dirty="0"/>
              <a:t> Para iniciar, precisamos lembrar dois tipos fundamentais de equações:</a:t>
            </a:r>
            <a:br>
              <a:rPr lang="pt-BR" sz="2000" dirty="0"/>
            </a:br>
            <a:r>
              <a:rPr lang="pt-BR" sz="2000" dirty="0"/>
              <a:t>as </a:t>
            </a:r>
            <a:r>
              <a:rPr lang="pt-BR" sz="2000" b="1" dirty="0"/>
              <a:t>equações do primeiro grau</a:t>
            </a:r>
            <a:r>
              <a:rPr lang="pt-BR" sz="2000" dirty="0"/>
              <a:t> e as </a:t>
            </a:r>
            <a:r>
              <a:rPr lang="pt-BR" sz="2000" b="1" dirty="0"/>
              <a:t>equações do segundo grau</a:t>
            </a:r>
            <a:r>
              <a:rPr lang="pt-BR" sz="2000" dirty="0"/>
              <a:t>.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accent1"/>
                </a:solidFill>
              </a:rPr>
              <a:t>Equação do Primeiro Grau</a:t>
            </a:r>
          </a:p>
          <a:p>
            <a:pPr marL="0" indent="0" algn="just">
              <a:buNone/>
            </a:pPr>
            <a:endParaRPr lang="pt-BR" sz="1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2C3AFC9-E6F9-5485-2A7E-5A9ECB454980}"/>
              </a:ext>
            </a:extLst>
          </p:cNvPr>
          <p:cNvSpPr txBox="1"/>
          <p:nvPr/>
        </p:nvSpPr>
        <p:spPr>
          <a:xfrm>
            <a:off x="122108" y="2390519"/>
            <a:ext cx="6874669" cy="4462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/>
              <a:t>Tem a forma geral </a:t>
            </a:r>
            <a:r>
              <a:rPr lang="pt-BR" sz="2000" b="1" i="1"/>
              <a:t>y = </a:t>
            </a:r>
            <a:r>
              <a:rPr lang="pt-BR" sz="2000" b="1" i="1" err="1"/>
              <a:t>ax</a:t>
            </a:r>
            <a:r>
              <a:rPr lang="pt-BR" sz="2000" b="1" i="1"/>
              <a:t> + b</a:t>
            </a:r>
            <a:r>
              <a:rPr lang="pt-BR" sz="2000" i="1"/>
              <a:t>.</a:t>
            </a:r>
            <a:endParaRPr lang="pt-BR" sz="200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gráfico é sempre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coeficiente </a:t>
            </a:r>
            <a:r>
              <a:rPr lang="pt-BR" sz="2000" b="1" dirty="0"/>
              <a:t>a</a:t>
            </a:r>
            <a:r>
              <a:rPr lang="pt-BR" sz="2000" dirty="0"/>
              <a:t> determina a inclinação; </a:t>
            </a:r>
            <a:r>
              <a:rPr lang="pt-BR" sz="2000" b="1" dirty="0"/>
              <a:t>b</a:t>
            </a:r>
            <a:r>
              <a:rPr lang="pt-BR" sz="2000" dirty="0"/>
              <a:t> determina o ponto onde a reta cruza o eixo vertical.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A ideia central é que a relação entre as variáveis é </a:t>
            </a:r>
            <a:r>
              <a:rPr lang="pt-BR" sz="2000" b="1" dirty="0"/>
              <a:t>linear</a:t>
            </a:r>
            <a:r>
              <a:rPr lang="pt-BR" sz="2000" dirty="0"/>
              <a:t>: cada unidade que x aumenta, y aumenta (ou diminui) sempre na mesma proporção.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maior que zero, temos uma função crescente.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menor que zero, temos uma função decrescente</a:t>
            </a:r>
            <a:r>
              <a:rPr lang="pt-BR" sz="1200" dirty="0"/>
              <a:t>.</a:t>
            </a:r>
            <a:endParaRPr lang="en-US" sz="1200" dirty="0"/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pt-BR" sz="2000" dirty="0"/>
          </a:p>
          <a:p>
            <a:pPr algn="just"/>
            <a:endParaRPr lang="pt-BR" dirty="0"/>
          </a:p>
        </p:txBody>
      </p:sp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073888CA-21BB-D915-1E29-4D406D518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8993" y="2178844"/>
            <a:ext cx="4862513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985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DC54B-B311-A6BC-899D-7CE444F4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0166" y="132650"/>
            <a:ext cx="4574584" cy="577487"/>
          </a:xfrm>
        </p:spPr>
        <p:txBody>
          <a:bodyPr>
            <a:normAutofit/>
          </a:bodyPr>
          <a:lstStyle/>
          <a:p>
            <a:r>
              <a:rPr lang="pt-BR" sz="2800" b="1" dirty="0">
                <a:solidFill>
                  <a:schemeClr val="accent1"/>
                </a:solidFill>
              </a:rPr>
              <a:t>Equação do segundo grau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A488A8-3DF7-15CE-A329-2D5CDEEC8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972" y="1362494"/>
            <a:ext cx="6253164" cy="45289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buFont typeface="Arial"/>
              <a:buChar char="•"/>
            </a:pPr>
            <a:r>
              <a:rPr lang="pt-BR" sz="2000" dirty="0"/>
              <a:t>Tem a forma </a:t>
            </a:r>
            <a:r>
              <a:rPr lang="pt-BR" sz="2000" b="1" i="1" dirty="0"/>
              <a:t>y = ax² + </a:t>
            </a:r>
            <a:r>
              <a:rPr lang="pt-BR" sz="2000" b="1" i="1" err="1"/>
              <a:t>bx</a:t>
            </a:r>
            <a:r>
              <a:rPr lang="pt-BR" sz="2000" b="1" i="1" dirty="0"/>
              <a:t> + c</a:t>
            </a:r>
            <a:r>
              <a:rPr lang="pt-BR" sz="2000" i="1" dirty="0"/>
              <a:t>.</a:t>
            </a:r>
            <a:endParaRPr lang="pt-BR" sz="2000" dirty="0"/>
          </a:p>
          <a:p>
            <a:pPr algn="just">
              <a:buFont typeface="Arial"/>
              <a:buChar char="•"/>
            </a:pPr>
            <a:r>
              <a:rPr lang="pt-BR" sz="2000" dirty="0"/>
              <a:t>O gráfico é uma </a:t>
            </a:r>
            <a:r>
              <a:rPr lang="pt-BR" sz="2000" b="1" dirty="0"/>
              <a:t>parábola</a:t>
            </a:r>
            <a:r>
              <a:rPr lang="pt-BR" sz="2000" dirty="0"/>
              <a:t>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A variável aparece elevada ao quadrado, o que faz o valor de y crescer (ou diminuir) de maneira, não linear.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A parábola pode abrir para cima (a &gt; 0) ou para baixo (a &lt; 0).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maior que zero teremos duas raízes reais.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igual a zero teremos somente uma raiz.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menor que zero não existirá raízes.</a:t>
            </a:r>
          </a:p>
          <a:p>
            <a:pPr marL="0" indent="0">
              <a:buNone/>
            </a:pPr>
            <a:endParaRPr lang="pt-BR" sz="2000" dirty="0"/>
          </a:p>
        </p:txBody>
      </p:sp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242088AA-BC5B-B4FF-F687-08B69154A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40" y="443560"/>
            <a:ext cx="5387397" cy="545043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546AF0F-254F-2B0C-DD37-7F3901AB9A73}"/>
              </a:ext>
            </a:extLst>
          </p:cNvPr>
          <p:cNvSpPr txBox="1"/>
          <p:nvPr/>
        </p:nvSpPr>
        <p:spPr>
          <a:xfrm>
            <a:off x="495172" y="6016118"/>
            <a:ext cx="10625135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 Esses dois tipos de equação serão essenciais para interpretarmos os movimentos na Física.</a:t>
            </a:r>
          </a:p>
        </p:txBody>
      </p:sp>
    </p:spTree>
    <p:extLst>
      <p:ext uri="{BB962C8B-B14F-4D97-AF65-F5344CB8AC3E}">
        <p14:creationId xmlns:p14="http://schemas.microsoft.com/office/powerpoint/2010/main" val="490173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9213B-701E-1E9F-8B6A-5B3ED6FA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-3969"/>
            <a:ext cx="11134724" cy="813594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da velocidade, contextualizando cálculos Físicos (equação de 1° grau).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8E8408-799A-B7F0-7CAD-4C9033B41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044" y="801689"/>
            <a:ext cx="6836569" cy="4818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b="1" dirty="0"/>
              <a:t>Como chegamos na fórmula da velocidade no MUV?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8F13181-A3FC-346C-2EED-D3350B57AC78}"/>
              </a:ext>
            </a:extLst>
          </p:cNvPr>
          <p:cNvSpPr txBox="1"/>
          <p:nvPr/>
        </p:nvSpPr>
        <p:spPr>
          <a:xfrm>
            <a:off x="674028" y="1288397"/>
            <a:ext cx="925591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Sabemos que </a:t>
            </a:r>
            <a:r>
              <a:rPr lang="pt-BR" sz="2000" b="1" dirty="0"/>
              <a:t>aceleração</a:t>
            </a:r>
            <a:r>
              <a:rPr lang="pt-BR" sz="2000" dirty="0"/>
              <a:t> é a razão entre a variação da velocidade e o tempo: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CDE2EC-580D-96F5-6B08-97A863720728}"/>
              </a:ext>
            </a:extLst>
          </p:cNvPr>
          <p:cNvSpPr txBox="1"/>
          <p:nvPr/>
        </p:nvSpPr>
        <p:spPr>
          <a:xfrm>
            <a:off x="679586" y="2525589"/>
            <a:ext cx="979169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Podemos reorganizar essa relação para encontrar a velocidade final: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3D908D-1294-CBC6-FA39-8CADD6B8ECFF}"/>
              </a:ext>
            </a:extLst>
          </p:cNvPr>
          <p:cNvSpPr txBox="1"/>
          <p:nvPr/>
        </p:nvSpPr>
        <p:spPr>
          <a:xfrm>
            <a:off x="678130" y="3600861"/>
            <a:ext cx="1074419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Como a variação de velocidade é a diferença entre a velocidade final </a:t>
            </a:r>
            <a:r>
              <a:rPr lang="pt-BR" sz="2000" i="1" dirty="0">
                <a:latin typeface="Cambria Math"/>
                <a:ea typeface="Cambria Math"/>
              </a:rPr>
              <a:t>v </a:t>
            </a:r>
            <a:r>
              <a:rPr lang="pt-BR" sz="2000" dirty="0"/>
              <a:t>e a velocidade inicial </a:t>
            </a:r>
            <a:r>
              <a:rPr lang="pt-BR" sz="2000" i="1" dirty="0">
                <a:latin typeface="Cambria Math"/>
                <a:ea typeface="Cambria Math"/>
              </a:rPr>
              <a:t>v0</a:t>
            </a:r>
            <a:r>
              <a:rPr lang="pt-BR" sz="2000" dirty="0"/>
              <a:t>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F7673FA-EE68-6A88-9340-3B90AC69E34B}"/>
              </a:ext>
            </a:extLst>
          </p:cNvPr>
          <p:cNvSpPr txBox="1"/>
          <p:nvPr/>
        </p:nvSpPr>
        <p:spPr>
          <a:xfrm>
            <a:off x="679584" y="4745315"/>
            <a:ext cx="616029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Isolando </a:t>
            </a:r>
            <a:r>
              <a:rPr lang="pt-BR" sz="2000" i="1" dirty="0">
                <a:latin typeface="Cambria Math"/>
                <a:ea typeface="Cambria Math"/>
              </a:rPr>
              <a:t>v</a:t>
            </a:r>
            <a:r>
              <a:rPr lang="pt-BR" sz="2000" dirty="0"/>
              <a:t>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5F1CBB6-6616-A43C-78B5-FD84905A5C9F}"/>
              </a:ext>
            </a:extLst>
          </p:cNvPr>
          <p:cNvSpPr txBox="1"/>
          <p:nvPr/>
        </p:nvSpPr>
        <p:spPr>
          <a:xfrm>
            <a:off x="684611" y="5787776"/>
            <a:ext cx="710088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Essa é uma </a:t>
            </a:r>
            <a:r>
              <a:rPr lang="pt-BR" sz="2000" b="1" dirty="0"/>
              <a:t>equação do primeiro grau</a:t>
            </a:r>
            <a:r>
              <a:rPr lang="pt-BR" sz="2000" dirty="0"/>
              <a:t> na variável </a:t>
            </a:r>
            <a:r>
              <a:rPr lang="pt-BR" sz="2000" i="1" dirty="0">
                <a:latin typeface="Cambria Math"/>
                <a:ea typeface="Cambria Math"/>
              </a:rPr>
              <a:t>t</a:t>
            </a:r>
            <a:r>
              <a:rPr lang="pt-BR" sz="2000" dirty="0"/>
              <a:t>.</a:t>
            </a:r>
            <a:br>
              <a:rPr lang="pt-BR" sz="1200" dirty="0"/>
            </a:br>
            <a:endParaRPr lang="pt-BR" sz="1200" dirty="0"/>
          </a:p>
        </p:txBody>
      </p:sp>
      <p:pic>
        <p:nvPicPr>
          <p:cNvPr id="9" name="Imagem 8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80467A-0E17-56CC-E046-F1228864E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113" y="1709738"/>
            <a:ext cx="1152525" cy="723900"/>
          </a:xfrm>
          <a:prstGeom prst="rect">
            <a:avLst/>
          </a:prstGeom>
        </p:spPr>
      </p:pic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074107FF-C538-736B-8FC3-4FF7803C7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425" y="3098006"/>
            <a:ext cx="1485900" cy="4953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4329785-69D6-F2F6-F7D3-B50C803E6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2862" y="4226719"/>
            <a:ext cx="1438275" cy="52387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F6A67BE-D12D-3B89-D3D1-CF12FECC1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6669" y="5143500"/>
            <a:ext cx="1609725" cy="523875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7F4860D-F71C-5FAB-6B37-57CCA1B31D11}"/>
              </a:ext>
            </a:extLst>
          </p:cNvPr>
          <p:cNvSpPr txBox="1"/>
          <p:nvPr/>
        </p:nvSpPr>
        <p:spPr>
          <a:xfrm>
            <a:off x="10822417" y="6369995"/>
            <a:ext cx="2743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2400" b="1" dirty="0">
                <a:solidFill>
                  <a:srgbClr val="FF0000"/>
                </a:solidFill>
              </a:rPr>
              <a:t>(Quadro)</a:t>
            </a:r>
          </a:p>
        </p:txBody>
      </p:sp>
    </p:spTree>
    <p:extLst>
      <p:ext uri="{BB962C8B-B14F-4D97-AF65-F5344CB8AC3E}">
        <p14:creationId xmlns:p14="http://schemas.microsoft.com/office/powerpoint/2010/main" val="213252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7B87C-CA69-16A7-F31D-67D550FE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7775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Seu gráfico será do tipo: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F17D8C4-1A12-F7F8-63DF-CA13C9FC9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00" y="744282"/>
            <a:ext cx="5996526" cy="2442397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AD2E54C-E1DE-6324-BDDC-1A5EE5FE1D52}"/>
              </a:ext>
            </a:extLst>
          </p:cNvPr>
          <p:cNvSpPr txBox="1"/>
          <p:nvPr/>
        </p:nvSpPr>
        <p:spPr>
          <a:xfrm>
            <a:off x="285293" y="3191806"/>
            <a:ext cx="10945905" cy="19082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Gráfico da velocidade – reta (1º grau)</a:t>
            </a:r>
          </a:p>
          <a:p>
            <a:pPr algn="just"/>
            <a:r>
              <a:rPr lang="pt-BR" sz="2000" dirty="0"/>
              <a:t>“Quando desenhamos o gráfico de </a:t>
            </a:r>
            <a:r>
              <a:rPr lang="pt-BR" sz="2000" i="1" dirty="0">
                <a:latin typeface="Cambria Math"/>
                <a:ea typeface="Cambria Math"/>
              </a:rPr>
              <a:t>v=v0+αt,</a:t>
            </a:r>
            <a:r>
              <a:rPr lang="pt-BR" sz="2000" dirty="0"/>
              <a:t> obtemos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 angular, α</a:t>
            </a:r>
            <a:r>
              <a:rPr lang="pt-BR" sz="2000" i="1" dirty="0">
                <a:latin typeface="Cambria Math"/>
                <a:ea typeface="Cambria Math"/>
              </a:rPr>
              <a:t> é a inclinação da reta → representa a aceleração.</a:t>
            </a:r>
            <a:endParaRPr lang="pt-BR" sz="2000">
              <a:latin typeface="Cambria Math"/>
              <a:ea typeface="Cambria Math"/>
            </a:endParaRP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 linear</a:t>
            </a:r>
            <a:r>
              <a:rPr lang="pt-BR" sz="2000" dirty="0"/>
              <a:t> </a:t>
            </a:r>
            <a:r>
              <a:rPr lang="pt-BR" sz="2000" i="1" dirty="0">
                <a:latin typeface="Cambria Math"/>
                <a:ea typeface="Cambria Math"/>
              </a:rPr>
              <a:t>v0 </a:t>
            </a:r>
            <a:r>
              <a:rPr lang="pt-BR" sz="2000" dirty="0"/>
              <a:t>é o ponto onde a reta intercepta o eixo da velocidade → velocidade no instante inicial.</a:t>
            </a:r>
          </a:p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4F7A302-3C15-34F8-64DD-20BB029A48FE}"/>
              </a:ext>
            </a:extLst>
          </p:cNvPr>
          <p:cNvSpPr txBox="1"/>
          <p:nvPr/>
        </p:nvSpPr>
        <p:spPr>
          <a:xfrm>
            <a:off x="290859" y="4793816"/>
            <a:ext cx="10363199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ea typeface="+mn-lt"/>
                <a:cs typeface="+mn-lt"/>
              </a:rPr>
              <a:t> Portanto, esse gráfico mostra que: </a:t>
            </a:r>
            <a:endParaRPr lang="pt-BR" sz="2000" dirty="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positiva, a velocidade cresce linearmente.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negativa, temos uma reta descendente.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Se a aceleração é zero, a reta é horizontal (movimento uniforme).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522954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915EFB-4CC1-6A30-8C6F-22BA034E7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803"/>
            <a:ext cx="10515600" cy="1291945"/>
          </a:xfrm>
        </p:spPr>
        <p:txBody>
          <a:bodyPr>
            <a:normAutofit/>
          </a:bodyPr>
          <a:lstStyle/>
          <a:p>
            <a:pPr algn="just"/>
            <a:r>
              <a:rPr lang="pt-BR" sz="28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horária, contextualizando cálculos Físicos </a:t>
            </a:r>
            <a:endParaRPr lang="pt-BR" sz="2800">
              <a:solidFill>
                <a:schemeClr val="accent2">
                  <a:lumMod val="76000"/>
                </a:schemeClr>
              </a:solidFill>
              <a:latin typeface="Aptos"/>
            </a:endParaRPr>
          </a:p>
          <a:p>
            <a:pPr algn="just"/>
            <a:r>
              <a:rPr lang="pt-BR" sz="28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(Equação de 2° grau).</a:t>
            </a:r>
            <a:endParaRPr lang="pt-BR" sz="2800" dirty="0">
              <a:solidFill>
                <a:schemeClr val="accent2">
                  <a:lumMod val="76000"/>
                </a:schemeClr>
              </a:solidFill>
              <a:latin typeface="Aptos"/>
            </a:endParaRPr>
          </a:p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083A42-BDE8-8BD4-7C1C-C83A8D079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985184"/>
            <a:ext cx="10515600" cy="5749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400" b="1" dirty="0"/>
              <a:t>Como chegamos à função horária do movimento? (equação de 2º grau)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E156324-77AC-C878-DD5B-F36EA000B23B}"/>
              </a:ext>
            </a:extLst>
          </p:cNvPr>
          <p:cNvSpPr txBox="1"/>
          <p:nvPr/>
        </p:nvSpPr>
        <p:spPr>
          <a:xfrm>
            <a:off x="622170" y="1952405"/>
            <a:ext cx="10732292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 </a:t>
            </a:r>
            <a:r>
              <a:rPr lang="pt-BR" sz="2400" dirty="0"/>
              <a:t>Existem várias formas de explicar a origem da função horária, por derivação, integração, encadeamento, análise matemática, análises geométricas, entre ouros métodos, para evitar complexidades desnecessárias será abordado a forma mais simples de compreender a função horária do movimento.</a:t>
            </a:r>
          </a:p>
          <a:p>
            <a:pPr algn="just"/>
            <a:r>
              <a:rPr lang="pt-BR" sz="2400" dirty="0"/>
              <a:t> A função horária da posição no movimento uniformemente variado (MUV) pode ser deduzida </a:t>
            </a:r>
            <a:r>
              <a:rPr lang="pt-BR" sz="2400" b="1" dirty="0"/>
              <a:t>pela análise das áreas nos gráficos de velocidade × tempo</a:t>
            </a:r>
            <a:r>
              <a:rPr lang="pt-BR" sz="2400" dirty="0"/>
              <a:t>. A ideia central é que a área sob a curva </a:t>
            </a:r>
            <a:r>
              <a:rPr lang="pt-BR" sz="2400" i="1" dirty="0">
                <a:latin typeface="Cambria Math"/>
                <a:ea typeface="Cambria Math"/>
              </a:rPr>
              <a:t>v(t)</a:t>
            </a:r>
            <a:r>
              <a:rPr lang="pt-BR" sz="2400" dirty="0"/>
              <a:t> representa o deslocamento, e somando essas áreas conseguimos chegar à fórmula:</a:t>
            </a:r>
          </a:p>
          <a:p>
            <a:pPr algn="l"/>
            <a:endParaRPr lang="pt-BR" sz="2400" dirty="0"/>
          </a:p>
        </p:txBody>
      </p:sp>
      <p:pic>
        <p:nvPicPr>
          <p:cNvPr id="5" name="Imagem 4" descr="Diagrama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86AA436B-7F6A-159E-E0EF-00E1D759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712" y="5364821"/>
            <a:ext cx="4262437" cy="130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63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ço Reservado para Conteúdo 6" descr="Gráfico&#10;&#10;O conteúdo gerado por IA pode estar incorreto.">
            <a:extLst>
              <a:ext uri="{FF2B5EF4-FFF2-40B4-BE49-F238E27FC236}">
                <a16:creationId xmlns:a16="http://schemas.microsoft.com/office/drawing/2014/main" id="{E0B41975-C2EB-FDF4-7A89-B57010BA11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9363" y="1297882"/>
            <a:ext cx="9312182" cy="525826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E58274C-5A19-D822-88D5-3B93A58195D7}"/>
              </a:ext>
            </a:extLst>
          </p:cNvPr>
          <p:cNvSpPr txBox="1"/>
          <p:nvPr/>
        </p:nvSpPr>
        <p:spPr>
          <a:xfrm>
            <a:off x="3653769" y="297393"/>
            <a:ext cx="51839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3600" b="1" dirty="0">
                <a:solidFill>
                  <a:srgbClr val="FF0000"/>
                </a:solidFill>
              </a:rPr>
              <a:t>Simplificando o cálculo</a:t>
            </a:r>
            <a:endParaRPr lang="pt-BR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030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a16:creationId xmlns:a16="http://schemas.microsoft.com/office/drawing/2014/main" id="{0DE82C35-D0AA-2376-1129-8E1BC303EEE9}"/>
              </a:ext>
            </a:extLst>
          </p:cNvPr>
          <p:cNvSpPr txBox="1"/>
          <p:nvPr/>
        </p:nvSpPr>
        <p:spPr>
          <a:xfrm>
            <a:off x="10422121" y="62224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2800" b="1" dirty="0">
                <a:solidFill>
                  <a:srgbClr val="FF0000"/>
                </a:solidFill>
              </a:rPr>
              <a:t>(Quadro)</a:t>
            </a:r>
          </a:p>
        </p:txBody>
      </p:sp>
      <p:pic>
        <p:nvPicPr>
          <p:cNvPr id="17" name="Espaço Reservado para Conteúdo 16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0D46FA8C-7F0D-7465-1362-2600B1256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4034" y="671936"/>
            <a:ext cx="9763931" cy="549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872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8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D3272C6B-653D-F769-143C-A19217BEA6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1052" y="172934"/>
            <a:ext cx="8536982" cy="4931603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6CD4587-7418-A277-4A20-A58C2BB937DC}"/>
              </a:ext>
            </a:extLst>
          </p:cNvPr>
          <p:cNvSpPr txBox="1"/>
          <p:nvPr/>
        </p:nvSpPr>
        <p:spPr>
          <a:xfrm>
            <a:off x="1017456" y="5315778"/>
            <a:ext cx="101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Suponha que dividimos o tempo em intervalos muito curtos: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AF5B863-2A14-AAF5-E6F6-0F4225995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264" y="6022601"/>
            <a:ext cx="2959473" cy="606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550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xto, Tabela&#10;&#10;O conteúdo gerado por IA pode estar incorreto.">
            <a:extLst>
              <a:ext uri="{FF2B5EF4-FFF2-40B4-BE49-F238E27FC236}">
                <a16:creationId xmlns:a16="http://schemas.microsoft.com/office/drawing/2014/main" id="{53C1A71B-2341-52E0-968A-999D06C95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909" y="412656"/>
            <a:ext cx="10558181" cy="6043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88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Diagrama&#10;&#10;O conteúdo gerado por IA pode estar incorreto.">
            <a:extLst>
              <a:ext uri="{FF2B5EF4-FFF2-40B4-BE49-F238E27FC236}">
                <a16:creationId xmlns:a16="http://schemas.microsoft.com/office/drawing/2014/main" id="{DBEEF924-753E-7ED0-D35E-E4BF0D14D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13" y="556092"/>
            <a:ext cx="10391774" cy="575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463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190FDC2-FD90-8AB1-0932-14E95A41C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18" y="226905"/>
            <a:ext cx="10269564" cy="6404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611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Tela de celula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00B8D45E-1EBD-FAD6-22BB-1299EEB2D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15" y="601205"/>
            <a:ext cx="11063367" cy="565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272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C1ABA-BF1D-D41B-306B-2B703A629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318" y="219449"/>
            <a:ext cx="9294159" cy="686829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Problema matemático contextualizado na Física.</a:t>
            </a:r>
            <a:endParaRPr lang="pt-BR" sz="3200" b="1">
              <a:solidFill>
                <a:schemeClr val="accent2">
                  <a:lumMod val="76000"/>
                </a:schemeClr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5148AE-CDAB-512E-5C44-2B6C60F2F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58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3600" b="1" dirty="0"/>
              <a:t> </a:t>
            </a:r>
            <a:r>
              <a:rPr lang="pt-BR" b="1" dirty="0"/>
              <a:t>Um móvel descreve um MUV numa trajetória retilínea e os seus espaços variam no tempo de acordo com a expressão:</a:t>
            </a:r>
            <a:r>
              <a:rPr lang="pt-BR" b="1" dirty="0">
                <a:latin typeface="Aptos"/>
              </a:rPr>
              <a:t> </a:t>
            </a:r>
            <a:r>
              <a:rPr lang="pt-BR" dirty="0">
                <a:latin typeface="Consolas"/>
              </a:rPr>
              <a:t>S = 9 + 3t − 2t² </a:t>
            </a:r>
            <a:r>
              <a:rPr lang="pt-BR" b="1" dirty="0">
                <a:latin typeface="Aptos"/>
              </a:rPr>
              <a:t>, onde o tempo é expresso em segundos e o espaço em metros.</a:t>
            </a:r>
            <a:endParaRPr lang="pt-BR"/>
          </a:p>
          <a:p>
            <a:pPr marL="0" indent="0">
              <a:buNone/>
            </a:pPr>
            <a:endParaRPr lang="pt-BR" sz="1200" b="1" dirty="0"/>
          </a:p>
          <a:p>
            <a:pPr marL="0" indent="0">
              <a:buNone/>
            </a:pPr>
            <a:endParaRPr lang="pt-BR" sz="1200" b="1" dirty="0"/>
          </a:p>
          <a:p>
            <a:pPr algn="just">
              <a:buNone/>
            </a:pPr>
            <a:r>
              <a:rPr lang="pt-BR" b="1"/>
              <a:t>Determinar:</a:t>
            </a:r>
            <a:endParaRPr lang="pt-BR" b="1" dirty="0"/>
          </a:p>
          <a:p>
            <a:pPr marL="0" indent="0" algn="just">
              <a:buNone/>
            </a:pPr>
            <a:r>
              <a:rPr lang="pt-BR" b="1" dirty="0"/>
              <a:t>a) A função da velocidade;</a:t>
            </a:r>
          </a:p>
          <a:p>
            <a:pPr marL="0" indent="0" algn="just">
              <a:buNone/>
            </a:pPr>
            <a:r>
              <a:rPr lang="pt-BR" b="1" dirty="0"/>
              <a:t>b) O instante em que o móvel passa pela origem dos espaços.</a:t>
            </a:r>
          </a:p>
          <a:p>
            <a:pPr marL="0" indent="0">
              <a:buNone/>
            </a:pPr>
            <a:endParaRPr lang="pt-BR" sz="1200" b="1" dirty="0"/>
          </a:p>
        </p:txBody>
      </p:sp>
    </p:spTree>
    <p:extLst>
      <p:ext uri="{BB962C8B-B14F-4D97-AF65-F5344CB8AC3E}">
        <p14:creationId xmlns:p14="http://schemas.microsoft.com/office/powerpoint/2010/main" val="187554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31CF0C-FD8A-7D4B-7890-5E8301862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329406"/>
            <a:ext cx="1907382" cy="480220"/>
          </a:xfrm>
        </p:spPr>
        <p:txBody>
          <a:bodyPr>
            <a:normAutofit/>
          </a:bodyPr>
          <a:lstStyle/>
          <a:p>
            <a:r>
              <a:rPr lang="pt-BR" sz="2800" b="1" dirty="0">
                <a:solidFill>
                  <a:srgbClr val="FF0000"/>
                </a:solidFill>
                <a:latin typeface="Aptos"/>
              </a:rPr>
              <a:t>Solução :</a:t>
            </a:r>
            <a:endParaRPr lang="pt-BR" sz="280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6BEDDF-8BCE-50F9-220C-D35485A16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731" y="5230814"/>
            <a:ext cx="4157664" cy="469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b="1" dirty="0">
                <a:solidFill>
                  <a:srgbClr val="FF0000"/>
                </a:solidFill>
                <a:latin typeface="Aptos"/>
              </a:rPr>
              <a:t>podemos concluir que:</a:t>
            </a:r>
            <a:endParaRPr lang="pt-B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pt-BR" sz="20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608B93A-23B0-052F-52DF-F21BED52246B}"/>
              </a:ext>
            </a:extLst>
          </p:cNvPr>
          <p:cNvSpPr txBox="1"/>
          <p:nvPr/>
        </p:nvSpPr>
        <p:spPr>
          <a:xfrm>
            <a:off x="1544509" y="806982"/>
            <a:ext cx="793432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a) Comparando a </a:t>
            </a:r>
            <a:r>
              <a:rPr lang="pt-BR" sz="2800" b="1">
                <a:solidFill>
                  <a:srgbClr val="FF0000"/>
                </a:solidFill>
              </a:rPr>
              <a:t>expressão dada</a:t>
            </a:r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2F32101-6BA5-5FC6-C705-DBFB18B61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569" y="1331118"/>
            <a:ext cx="1924050" cy="40957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BEB960A-9369-DB03-6F9E-CB4CA5D078C6}"/>
              </a:ext>
            </a:extLst>
          </p:cNvPr>
          <p:cNvSpPr txBox="1"/>
          <p:nvPr/>
        </p:nvSpPr>
        <p:spPr>
          <a:xfrm>
            <a:off x="1545170" y="1736468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com a função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199B4D-F181-9272-1BBD-599FEF79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556" y="2264569"/>
            <a:ext cx="2266950" cy="4953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9A1F6BF-10F1-6992-4C13-E7D2E6727840}"/>
              </a:ext>
            </a:extLst>
          </p:cNvPr>
          <p:cNvSpPr txBox="1"/>
          <p:nvPr/>
        </p:nvSpPr>
        <p:spPr>
          <a:xfrm>
            <a:off x="1657753" y="2766493"/>
            <a:ext cx="699372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Podemos observar no enunciado que</a:t>
            </a:r>
            <a:endParaRPr lang="pt-BR" dirty="0"/>
          </a:p>
        </p:txBody>
      </p:sp>
      <p:pic>
        <p:nvPicPr>
          <p:cNvPr id="9" name="Imagem 8" descr="Gráfico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FA635B70-EF88-72CE-C5A4-291738C48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325" y="3286125"/>
            <a:ext cx="3514725" cy="66675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AAE7C4C2-6D3F-6D29-0B0B-04C32C5E6EFE}"/>
              </a:ext>
            </a:extLst>
          </p:cNvPr>
          <p:cNvSpPr txBox="1"/>
          <p:nvPr/>
        </p:nvSpPr>
        <p:spPr>
          <a:xfrm>
            <a:off x="1669526" y="3953683"/>
            <a:ext cx="646985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Sendo a função da velocidade </a:t>
            </a: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6CE0EFFA-AC1B-CF47-894A-9D8856150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631" y="4481512"/>
            <a:ext cx="2269331" cy="514349"/>
          </a:xfrm>
          <a:prstGeom prst="rect">
            <a:avLst/>
          </a:prstGeom>
        </p:spPr>
      </p:pic>
      <p:pic>
        <p:nvPicPr>
          <p:cNvPr id="12" name="Imagem 11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2620A330-D2A4-A689-7930-77ADC1061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8975" y="5705475"/>
            <a:ext cx="3638550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32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F1E5-FFC9-C6D1-C9F5-86D2A6A8A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083" y="-4669"/>
            <a:ext cx="2335306" cy="866122"/>
          </a:xfrm>
        </p:spPr>
        <p:txBody>
          <a:bodyPr/>
          <a:lstStyle/>
          <a:p>
            <a:r>
              <a:rPr lang="pt-BR" sz="2800" b="1" dirty="0">
                <a:solidFill>
                  <a:srgbClr val="FF0000"/>
                </a:solidFill>
                <a:latin typeface="Aptos"/>
              </a:rPr>
              <a:t>Solução 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457BC3-FFAE-7C77-1A95-E15A0899B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69" y="897639"/>
            <a:ext cx="11019864" cy="810981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pt-BR" sz="2000" b="1" dirty="0">
                <a:solidFill>
                  <a:srgbClr val="FF0000"/>
                </a:solidFill>
              </a:rPr>
              <a:t> b) O móvel passa pela origem de espaços (marco zero) quando seu espaço S=0. Na equação, </a:t>
            </a:r>
            <a:r>
              <a:rPr lang="pt-BR" sz="2000" dirty="0">
                <a:solidFill>
                  <a:srgbClr val="FF0000"/>
                </a:solidFill>
                <a:latin typeface="Consolas"/>
              </a:rPr>
              <a:t>S = 9 + 3t − 2t²</a:t>
            </a:r>
            <a:r>
              <a:rPr lang="pt-BR" sz="1200" b="1" dirty="0">
                <a:solidFill>
                  <a:srgbClr val="FF0000"/>
                </a:solidFill>
                <a:latin typeface="Aptos"/>
              </a:rPr>
              <a:t>, </a:t>
            </a:r>
            <a:r>
              <a:rPr lang="pt-BR" sz="2000" b="1" dirty="0">
                <a:solidFill>
                  <a:srgbClr val="FF0000"/>
                </a:solidFill>
                <a:latin typeface="Aptos"/>
              </a:rPr>
              <a:t>sendo S=0, organizando a equação, teremos: </a:t>
            </a:r>
            <a:r>
              <a:rPr lang="pt-BR" sz="2000" dirty="0">
                <a:solidFill>
                  <a:srgbClr val="FF0000"/>
                </a:solidFill>
                <a:latin typeface="Consolas"/>
              </a:rPr>
              <a:t>2t² − 3t − 9 = 0.</a:t>
            </a:r>
            <a:endParaRPr lang="pt-BR" dirty="0"/>
          </a:p>
          <a:p>
            <a:pPr algn="just">
              <a:buNone/>
            </a:pPr>
            <a:endParaRPr lang="pt-BR" sz="20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Aptos"/>
            </a:endParaRPr>
          </a:p>
          <a:p>
            <a:pPr marL="0" indent="0">
              <a:buNone/>
            </a:pPr>
            <a:endParaRPr lang="pt-BR" sz="2000" dirty="0">
              <a:solidFill>
                <a:srgbClr val="FF0000"/>
              </a:solidFill>
              <a:latin typeface="Consolas"/>
            </a:endParaRPr>
          </a:p>
          <a:p>
            <a:pPr marL="0" indent="0">
              <a:buNone/>
            </a:pPr>
            <a:endParaRPr lang="pt-BR" sz="2000" b="1" dirty="0">
              <a:solidFill>
                <a:srgbClr val="FF0000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397D842-AF9C-6FE1-E39F-5CC6C5DEFF24}"/>
              </a:ext>
            </a:extLst>
          </p:cNvPr>
          <p:cNvSpPr txBox="1"/>
          <p:nvPr/>
        </p:nvSpPr>
        <p:spPr>
          <a:xfrm>
            <a:off x="587914" y="2043876"/>
            <a:ext cx="11013141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b="1" dirty="0">
                <a:solidFill>
                  <a:srgbClr val="FF0000"/>
                </a:solidFill>
                <a:ea typeface="+mn-lt"/>
                <a:cs typeface="+mn-lt"/>
              </a:rPr>
              <a:t> Tratando-se de uma equação de segundo grau, poderemos achar o valor correspondentes do instante achando as raízes da equação, convém observar que o valor da raiz que procuramos deve ser maior que zero, pois a função horária define apenas instantes posteriores a um evento, nesse caso o tempo igual a zero. </a:t>
            </a:r>
            <a:endParaRPr lang="pt-BR" sz="2000" b="1">
              <a:solidFill>
                <a:srgbClr val="FF0000"/>
              </a:solidFill>
            </a:endParaRPr>
          </a:p>
          <a:p>
            <a:pPr algn="just"/>
            <a:r>
              <a:rPr lang="pt-BR" sz="2000" b="1">
                <a:solidFill>
                  <a:srgbClr val="FF0000"/>
                </a:solidFill>
                <a:ea typeface="+mn-lt"/>
                <a:cs typeface="+mn-lt"/>
              </a:rPr>
              <a:t> </a:t>
            </a:r>
            <a:r>
              <a:rPr lang="pt-BR" sz="2000" b="1" dirty="0">
                <a:solidFill>
                  <a:srgbClr val="FF0000"/>
                </a:solidFill>
                <a:ea typeface="+mn-lt"/>
                <a:cs typeface="+mn-lt"/>
              </a:rPr>
              <a:t>Prosseguindo o desenvolvimento pela fórmula de Bhaskara teremos:</a:t>
            </a:r>
            <a:r>
              <a:rPr lang="pt-BR" dirty="0">
                <a:ea typeface="+mn-lt"/>
                <a:cs typeface="+mn-lt"/>
              </a:rPr>
              <a:t> </a:t>
            </a:r>
            <a:endParaRPr lang="pt-BR" dirty="0"/>
          </a:p>
        </p:txBody>
      </p:sp>
      <p:pic>
        <p:nvPicPr>
          <p:cNvPr id="5" name="Imagem 4" descr="Uma imagem contendo Diagrama&#10;&#10;O conteúdo gerado por IA pode estar incorreto.">
            <a:extLst>
              <a:ext uri="{FF2B5EF4-FFF2-40B4-BE49-F238E27FC236}">
                <a16:creationId xmlns:a16="http://schemas.microsoft.com/office/drawing/2014/main" id="{FBB79119-94EA-7B46-5AE6-4A5124822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025" y="3957918"/>
            <a:ext cx="5695950" cy="1295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4C037D8-3730-5B74-4690-FEF266F0EE22}"/>
              </a:ext>
            </a:extLst>
          </p:cNvPr>
          <p:cNvSpPr txBox="1"/>
          <p:nvPr/>
        </p:nvSpPr>
        <p:spPr>
          <a:xfrm>
            <a:off x="1932387" y="5701044"/>
            <a:ext cx="878317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b="1" dirty="0">
                <a:solidFill>
                  <a:srgbClr val="FF0000"/>
                </a:solidFill>
              </a:rPr>
              <a:t>Resposta: </a:t>
            </a:r>
            <a:r>
              <a:rPr lang="pt-BR" sz="2000" b="1" i="1" dirty="0">
                <a:solidFill>
                  <a:srgbClr val="FF0000"/>
                </a:solidFill>
              </a:rPr>
              <a:t>t'=3s</a:t>
            </a:r>
            <a:r>
              <a:rPr lang="pt-BR" sz="2000" b="1" dirty="0">
                <a:solidFill>
                  <a:srgbClr val="FF0000"/>
                </a:solidFill>
              </a:rPr>
              <a:t>, o móvel passa pela origem no instante 3s.</a:t>
            </a:r>
          </a:p>
        </p:txBody>
      </p:sp>
    </p:spTree>
    <p:extLst>
      <p:ext uri="{BB962C8B-B14F-4D97-AF65-F5344CB8AC3E}">
        <p14:creationId xmlns:p14="http://schemas.microsoft.com/office/powerpoint/2010/main" val="737610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D26C64-DCF1-0B20-6E28-399DC4EC8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B67827-D717-9798-7763-C4CBA3B49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58"/>
            <a:ext cx="10515600" cy="34940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dirty="0"/>
              <a:t> </a:t>
            </a:r>
            <a:r>
              <a:rPr lang="pt-BR" b="1" dirty="0"/>
              <a:t>As funções de primeiro e segundo grau são ferramentas indispensáveis para os cálculos Físicos, convém observar que a Física procura explicar os eventos em todas as perspectivas, aninhando cálculos e fórmulas muitas vezes de forma complexa, no entanto a Matemática e seus fundamentos são o alicerce de todo o conhecimento, dominar a matemática é dominar a arte do saber.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052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4EF041-2689-DD29-22F1-83FE7A3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06702C-EEB1-E495-8400-3DD2097D7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pt-BR" sz="2000" b="1" dirty="0"/>
              <a:t>ChatGPT,</a:t>
            </a:r>
          </a:p>
          <a:p>
            <a:pPr algn="just"/>
            <a:r>
              <a:rPr lang="pt-BR" sz="2000" b="1" dirty="0"/>
              <a:t>Microsoft </a:t>
            </a:r>
            <a:r>
              <a:rPr lang="pt-BR" sz="2000" b="1" err="1"/>
              <a:t>copilot</a:t>
            </a:r>
            <a:r>
              <a:rPr lang="pt-BR" sz="2000" b="1" dirty="0"/>
              <a:t>,</a:t>
            </a:r>
          </a:p>
          <a:p>
            <a:pPr algn="just"/>
            <a:r>
              <a:rPr lang="pt-BR" sz="2000" b="1" dirty="0"/>
              <a:t>Google AI,</a:t>
            </a:r>
          </a:p>
          <a:p>
            <a:pPr algn="just"/>
            <a:endParaRPr lang="pt-BR" sz="2000" b="1" dirty="0"/>
          </a:p>
          <a:p>
            <a:pPr algn="just"/>
            <a:r>
              <a:rPr lang="pt-BR" sz="2000" b="1" dirty="0"/>
              <a:t>Os fundamentos da Física, Ramalho, Ivan, Nicolau, Toledo. Volume um, mecânica, páginas 44,45. (exercícios resolvidos, R.14).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35265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22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3" baseType="lpstr">
      <vt:lpstr>Tema do Office</vt:lpstr>
      <vt:lpstr>Apresentação do PowerPoint</vt:lpstr>
      <vt:lpstr>Disciplina: Matemática fundamental</vt:lpstr>
      <vt:lpstr>Problema de Matemática  contextualizado na  Física (Equações de 1° e 2° grau)</vt:lpstr>
      <vt:lpstr>Apresentação do PowerPoint</vt:lpstr>
      <vt:lpstr>Introdução</vt:lpstr>
      <vt:lpstr>Noções matemáticas (Resumo de Equações de 1° e 2° grau).</vt:lpstr>
      <vt:lpstr>Equação do segundo grau</vt:lpstr>
      <vt:lpstr>Função da velocidade, contextualizando cálculos Físicos (equação de 1° grau).</vt:lpstr>
      <vt:lpstr>Seu gráfico será do tipo:</vt:lpstr>
      <vt:lpstr>Função horária, contextualizando cálculos Físicos  (Equação de 2° grau).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Problema matemático contextualizado na Física.</vt:lpstr>
      <vt:lpstr>Solução :</vt:lpstr>
      <vt:lpstr>Solução :</vt:lpstr>
      <vt:lpstr>Conclusão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924</cp:revision>
  <dcterms:created xsi:type="dcterms:W3CDTF">2025-11-22T15:06:55Z</dcterms:created>
  <dcterms:modified xsi:type="dcterms:W3CDTF">2025-11-26T09:24:04Z</dcterms:modified>
</cp:coreProperties>
</file>