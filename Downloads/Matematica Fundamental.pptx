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81" r:id="rId10"/>
    <p:sldId id="282" r:id="rId11"/>
    <p:sldId id="283" r:id="rId12"/>
    <p:sldId id="272" r:id="rId13"/>
    <p:sldId id="273" r:id="rId14"/>
    <p:sldId id="280" r:id="rId1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1728B4-74BD-4154-8B22-A35B5AD85633}" v="12" dt="2026-01-26T03:58:03.920"/>
    <p1510:client id="{D97FA67A-8680-443E-8DD1-C2509C07BADA}" v="142" dt="2026-01-26T05:06:49.40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25.01.2026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25.01.2026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005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25.01.2026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81375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25.01.2026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4613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25.01.2026</a:t>
            </a:fld>
            <a:endParaRPr lang="de-DE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4421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25.01.2026</a:t>
            </a:fld>
            <a:endParaRPr lang="de-DE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08533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25.01.2026</a:t>
            </a:fld>
            <a:endParaRPr lang="de-DE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8281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25.01.2026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78365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25.01.2026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5566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25.01.2026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46588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25.01.2026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6397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E51C7C-CEA3-4CAA-BE4B-344879E7C377}" type="datetimeFigureOut">
              <a:rPr lang="de-DE" smtClean="0"/>
              <a:t>25.01.2026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5746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8218C892-B768-7D8C-FA04-5162015D2A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729" y="2267475"/>
            <a:ext cx="11791628" cy="2323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866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DF1EA9-BDF9-F078-677D-E058FBB18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183" y="-384970"/>
            <a:ext cx="9431379" cy="1956841"/>
          </a:xfrm>
        </p:spPr>
        <p:txBody>
          <a:bodyPr anchor="b">
            <a:normAutofit/>
          </a:bodyPr>
          <a:lstStyle/>
          <a:p>
            <a:r>
              <a:rPr lang="pt-BR" sz="4200" b="1" u="sng" dirty="0"/>
              <a:t>Disciplina: Matemática fundamental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1897B4C-861D-AF23-7E93-950A461B3C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7997" y="3092459"/>
            <a:ext cx="6742500" cy="1809584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pt-BR" sz="3200" b="1" dirty="0"/>
              <a:t>Professor: José Vilani</a:t>
            </a:r>
          </a:p>
          <a:p>
            <a:pPr marL="0" indent="0">
              <a:buNone/>
            </a:pPr>
            <a:endParaRPr lang="pt-BR" sz="3200" b="1" dirty="0"/>
          </a:p>
          <a:p>
            <a:pPr marL="0" indent="0">
              <a:buNone/>
            </a:pPr>
            <a:r>
              <a:rPr lang="pt-BR" sz="3200" b="1" dirty="0"/>
              <a:t>Aluno: Rafael Bruno da Silva</a:t>
            </a:r>
          </a:p>
          <a:p>
            <a:endParaRPr lang="pt-BR" sz="2200"/>
          </a:p>
        </p:txBody>
      </p:sp>
      <p:pic>
        <p:nvPicPr>
          <p:cNvPr id="5" name="Picture 4" descr="Fórmulas matemáticas complexas em um quadro negro">
            <a:extLst>
              <a:ext uri="{FF2B5EF4-FFF2-40B4-BE49-F238E27FC236}">
                <a16:creationId xmlns:a16="http://schemas.microsoft.com/office/drawing/2014/main" id="{EFD96352-6977-58B2-87B7-9B51670F93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303" r="19569" b="-9"/>
          <a:stretch>
            <a:fillRect/>
          </a:stretch>
        </p:blipFill>
        <p:spPr>
          <a:xfrm>
            <a:off x="8553431" y="10"/>
            <a:ext cx="4993148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878219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Fórmulas escritas em um quadro-negro">
            <a:extLst>
              <a:ext uri="{FF2B5EF4-FFF2-40B4-BE49-F238E27FC236}">
                <a16:creationId xmlns:a16="http://schemas.microsoft.com/office/drawing/2014/main" id="{F0511FFB-007C-193F-6BC1-D9BDBAE1DF0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7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B4916930-E76E-4100-9DCF-4981566A37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857375" y="1885950"/>
            <a:ext cx="8505825" cy="3152775"/>
          </a:xfrm>
          <a:prstGeom prst="rect">
            <a:avLst/>
          </a:prstGeom>
          <a:solidFill>
            <a:schemeClr val="bg1">
              <a:alpha val="75000"/>
            </a:schemeClr>
          </a:solidFill>
          <a:ln w="63500" cmpd="dbl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96CE901-A0F2-B5AA-0B17-B755A6317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6475" y="2247900"/>
            <a:ext cx="7581900" cy="25146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100" b="1">
                <a:solidFill>
                  <a:schemeClr val="tx1">
                    <a:lumMod val="75000"/>
                    <a:lumOff val="25000"/>
                  </a:schemeClr>
                </a:solidFill>
                <a:highlight>
                  <a:srgbClr val="FFFFFF"/>
                </a:highlight>
              </a:rPr>
              <a:t>Problema de Matemática contextualizado na Física</a:t>
            </a:r>
          </a:p>
        </p:txBody>
      </p:sp>
    </p:spTree>
    <p:extLst>
      <p:ext uri="{BB962C8B-B14F-4D97-AF65-F5344CB8AC3E}">
        <p14:creationId xmlns:p14="http://schemas.microsoft.com/office/powerpoint/2010/main" val="2750951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Fórmulas escritas em um quadro-negro">
            <a:extLst>
              <a:ext uri="{FF2B5EF4-FFF2-40B4-BE49-F238E27FC236}">
                <a16:creationId xmlns:a16="http://schemas.microsoft.com/office/drawing/2014/main" id="{CE5A455C-DDB9-8DE1-2E46-6DBB5D3E82F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82" b="-1"/>
          <a:stretch>
            <a:fillRect/>
          </a:stretch>
        </p:blipFill>
        <p:spPr>
          <a:xfrm>
            <a:off x="9401522" y="10"/>
            <a:ext cx="7489476" cy="685799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FA15823-6704-708A-B142-6034E51BFE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7" y="1143034"/>
            <a:ext cx="9812355" cy="4473012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pt-BR" sz="2400" b="1" dirty="0"/>
              <a:t>Índice:</a:t>
            </a:r>
          </a:p>
          <a:p>
            <a:pPr>
              <a:buNone/>
            </a:pPr>
            <a:endParaRPr lang="pt-BR" sz="2400" b="1" dirty="0"/>
          </a:p>
          <a:p>
            <a:pPr>
              <a:buFont typeface="Arial"/>
              <a:buChar char="•"/>
            </a:pPr>
            <a:r>
              <a:rPr lang="pt-BR" sz="2400" b="1" dirty="0"/>
              <a:t>Introdução.</a:t>
            </a:r>
          </a:p>
          <a:p>
            <a:pPr>
              <a:buFont typeface="Arial"/>
              <a:buChar char="•"/>
            </a:pPr>
            <a:r>
              <a:rPr lang="pt-BR" sz="2400" b="1" dirty="0"/>
              <a:t>Noções matemáticas (Equações de 1° grau).</a:t>
            </a:r>
          </a:p>
          <a:p>
            <a:pPr>
              <a:buFont typeface="Arial"/>
              <a:buChar char="•"/>
            </a:pPr>
            <a:r>
              <a:rPr lang="pt-BR" sz="2400" b="1" dirty="0"/>
              <a:t>Função da velocidade, cálculos Físicos.</a:t>
            </a:r>
          </a:p>
          <a:p>
            <a:pPr>
              <a:buFont typeface="Arial"/>
              <a:buChar char="•"/>
            </a:pPr>
            <a:r>
              <a:rPr lang="pt-BR" sz="2400" b="1" dirty="0"/>
              <a:t>Problema matemático contextualizado na Física.</a:t>
            </a:r>
          </a:p>
          <a:p>
            <a:pPr>
              <a:buFont typeface="Arial"/>
              <a:buChar char="•"/>
            </a:pPr>
            <a:r>
              <a:rPr lang="pt-BR" sz="2400" b="1" dirty="0"/>
              <a:t>Conclusão.</a:t>
            </a:r>
          </a:p>
          <a:p>
            <a:pPr>
              <a:buFont typeface="Arial"/>
              <a:buChar char="•"/>
            </a:pPr>
            <a:r>
              <a:rPr lang="pt-BR" sz="2400" b="1" dirty="0"/>
              <a:t>Referências.</a:t>
            </a:r>
            <a:r>
              <a:rPr lang="pt-BR" sz="2000" dirty="0"/>
              <a:t> </a:t>
            </a:r>
          </a:p>
          <a:p>
            <a:pPr marL="0" indent="0">
              <a:buNone/>
            </a:pPr>
            <a:endParaRPr lang="pt-BR" sz="1600"/>
          </a:p>
        </p:txBody>
      </p:sp>
    </p:spTree>
    <p:extLst>
      <p:ext uri="{BB962C8B-B14F-4D97-AF65-F5344CB8AC3E}">
        <p14:creationId xmlns:p14="http://schemas.microsoft.com/office/powerpoint/2010/main" val="3646954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95B9BA8-1D69-4796-85F5-B6D0BD52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A4A88EF-014D-D667-CD85-F7CEC3CF0F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6619" y="784501"/>
            <a:ext cx="3527425" cy="854594"/>
          </a:xfrm>
        </p:spPr>
        <p:txBody>
          <a:bodyPr anchor="t">
            <a:normAutofit/>
          </a:bodyPr>
          <a:lstStyle/>
          <a:p>
            <a:r>
              <a:rPr lang="pt-BR" sz="4000"/>
              <a:t>Introdução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DCB718F-8E84-6930-1564-FF51227BFC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207" y="1713190"/>
            <a:ext cx="10606880" cy="461484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just">
              <a:buNone/>
            </a:pPr>
            <a:r>
              <a:rPr lang="pt-BR" sz="2000">
                <a:solidFill>
                  <a:schemeClr val="tx1">
                    <a:alpha val="80000"/>
                  </a:schemeClr>
                </a:solidFill>
              </a:rPr>
              <a:t> </a:t>
            </a:r>
            <a:r>
              <a:rPr lang="pt-BR">
                <a:solidFill>
                  <a:schemeClr val="tx1">
                    <a:alpha val="80000"/>
                  </a:schemeClr>
                </a:solidFill>
              </a:rPr>
              <a:t>Os problemas da “Ciência que estuda a natureza” estão em todos os lugares, e podem ser discutidos por vários ângulos e sobre perspectivas de análises diferentes. Um corpo e suas formas de energia, pode revelar cálculos complexos que podem explorar a Mecânica, Termologia, Óptica, Geometria da Luz e ondas, Eletromagnetismo, Relatividade entre infinitas fórmulas e conceitos matemáticos clássicos ou modernos. Convém destacar que a matemática e todo o seu saber sempre será o alicerce para o desenvolvimento dos cálculos físicos.</a:t>
            </a:r>
          </a:p>
          <a:p>
            <a:endParaRPr lang="pt-BR" sz="2000">
              <a:solidFill>
                <a:schemeClr val="tx1">
                  <a:alpha val="80000"/>
                </a:schemeClr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728F330-19FB-4D39-BD0F-53032ABFEB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479015" y="0"/>
            <a:ext cx="712985" cy="6858000"/>
            <a:chOff x="11479015" y="0"/>
            <a:chExt cx="712985" cy="6858000"/>
          </a:xfrm>
          <a:effectLst>
            <a:outerShdw blurRad="381000" dist="152400" dir="10800000" algn="ctr" rotWithShape="0">
              <a:schemeClr val="bg1">
                <a:alpha val="10000"/>
              </a:schemeClr>
            </a:outerShdw>
          </a:effectLst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0220D63-6F38-42F9-8AAD-3B1363A4FA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79018" y="0"/>
              <a:ext cx="712982" cy="6858000"/>
            </a:xfrm>
            <a:custGeom>
              <a:avLst/>
              <a:gdLst>
                <a:gd name="connsiteX0" fmla="*/ 280560 w 712982"/>
                <a:gd name="connsiteY0" fmla="*/ 0 h 6858000"/>
                <a:gd name="connsiteX1" fmla="*/ 712982 w 712982"/>
                <a:gd name="connsiteY1" fmla="*/ 0 h 6858000"/>
                <a:gd name="connsiteX2" fmla="*/ 712982 w 712982"/>
                <a:gd name="connsiteY2" fmla="*/ 6858000 h 6858000"/>
                <a:gd name="connsiteX3" fmla="*/ 372527 w 712982"/>
                <a:gd name="connsiteY3" fmla="*/ 6858000 h 6858000"/>
                <a:gd name="connsiteX4" fmla="*/ 372901 w 712982"/>
                <a:gd name="connsiteY4" fmla="*/ 6835810 h 6858000"/>
                <a:gd name="connsiteX5" fmla="*/ 363017 w 712982"/>
                <a:gd name="connsiteY5" fmla="*/ 6518145 h 6858000"/>
                <a:gd name="connsiteX6" fmla="*/ 310498 w 712982"/>
                <a:gd name="connsiteY6" fmla="*/ 6393936 h 6858000"/>
                <a:gd name="connsiteX7" fmla="*/ 305420 w 712982"/>
                <a:gd name="connsiteY7" fmla="*/ 6355564 h 6858000"/>
                <a:gd name="connsiteX8" fmla="*/ 311030 w 712982"/>
                <a:gd name="connsiteY8" fmla="*/ 6267729 h 6858000"/>
                <a:gd name="connsiteX9" fmla="*/ 281440 w 712982"/>
                <a:gd name="connsiteY9" fmla="*/ 6090959 h 6858000"/>
                <a:gd name="connsiteX10" fmla="*/ 258928 w 712982"/>
                <a:gd name="connsiteY10" fmla="*/ 6026981 h 6858000"/>
                <a:gd name="connsiteX11" fmla="*/ 245105 w 712982"/>
                <a:gd name="connsiteY11" fmla="*/ 5991615 h 6858000"/>
                <a:gd name="connsiteX12" fmla="*/ 197441 w 712982"/>
                <a:gd name="connsiteY12" fmla="*/ 5807458 h 6858000"/>
                <a:gd name="connsiteX13" fmla="*/ 159115 w 712982"/>
                <a:gd name="connsiteY13" fmla="*/ 5727356 h 6858000"/>
                <a:gd name="connsiteX14" fmla="*/ 152306 w 712982"/>
                <a:gd name="connsiteY14" fmla="*/ 5705270 h 6858000"/>
                <a:gd name="connsiteX15" fmla="*/ 150939 w 712982"/>
                <a:gd name="connsiteY15" fmla="*/ 5580441 h 6858000"/>
                <a:gd name="connsiteX16" fmla="*/ 187956 w 712982"/>
                <a:gd name="connsiteY16" fmla="*/ 5482729 h 6858000"/>
                <a:gd name="connsiteX17" fmla="*/ 201902 w 712982"/>
                <a:gd name="connsiteY17" fmla="*/ 5463053 h 6858000"/>
                <a:gd name="connsiteX18" fmla="*/ 168174 w 712982"/>
                <a:gd name="connsiteY18" fmla="*/ 5205662 h 6858000"/>
                <a:gd name="connsiteX19" fmla="*/ 157186 w 712982"/>
                <a:gd name="connsiteY19" fmla="*/ 5166766 h 6858000"/>
                <a:gd name="connsiteX20" fmla="*/ 163999 w 712982"/>
                <a:gd name="connsiteY20" fmla="*/ 4972256 h 6858000"/>
                <a:gd name="connsiteX21" fmla="*/ 163388 w 712982"/>
                <a:gd name="connsiteY21" fmla="*/ 4915833 h 6858000"/>
                <a:gd name="connsiteX22" fmla="*/ 166361 w 712982"/>
                <a:gd name="connsiteY22" fmla="*/ 4712964 h 6858000"/>
                <a:gd name="connsiteX23" fmla="*/ 140122 w 712982"/>
                <a:gd name="connsiteY23" fmla="*/ 4687152 h 6858000"/>
                <a:gd name="connsiteX24" fmla="*/ 73058 w 712982"/>
                <a:gd name="connsiteY24" fmla="*/ 4611951 h 6858000"/>
                <a:gd name="connsiteX25" fmla="*/ 3979 w 712982"/>
                <a:gd name="connsiteY25" fmla="*/ 4456771 h 6858000"/>
                <a:gd name="connsiteX26" fmla="*/ 2091 w 712982"/>
                <a:gd name="connsiteY26" fmla="*/ 4412781 h 6858000"/>
                <a:gd name="connsiteX27" fmla="*/ 75905 w 712982"/>
                <a:gd name="connsiteY27" fmla="*/ 4292897 h 6858000"/>
                <a:gd name="connsiteX28" fmla="*/ 104434 w 712982"/>
                <a:gd name="connsiteY28" fmla="*/ 4235333 h 6858000"/>
                <a:gd name="connsiteX29" fmla="*/ 151065 w 712982"/>
                <a:gd name="connsiteY29" fmla="*/ 4075686 h 6858000"/>
                <a:gd name="connsiteX30" fmla="*/ 161243 w 712982"/>
                <a:gd name="connsiteY30" fmla="*/ 4061695 h 6858000"/>
                <a:gd name="connsiteX31" fmla="*/ 286285 w 712982"/>
                <a:gd name="connsiteY31" fmla="*/ 3933862 h 6858000"/>
                <a:gd name="connsiteX32" fmla="*/ 306926 w 712982"/>
                <a:gd name="connsiteY32" fmla="*/ 3905847 h 6858000"/>
                <a:gd name="connsiteX33" fmla="*/ 340015 w 712982"/>
                <a:gd name="connsiteY33" fmla="*/ 3871199 h 6858000"/>
                <a:gd name="connsiteX34" fmla="*/ 400111 w 712982"/>
                <a:gd name="connsiteY34" fmla="*/ 3767743 h 6858000"/>
                <a:gd name="connsiteX35" fmla="*/ 409694 w 712982"/>
                <a:gd name="connsiteY35" fmla="*/ 3646690 h 6858000"/>
                <a:gd name="connsiteX36" fmla="*/ 428447 w 712982"/>
                <a:gd name="connsiteY36" fmla="*/ 3499752 h 6858000"/>
                <a:gd name="connsiteX37" fmla="*/ 445033 w 712982"/>
                <a:gd name="connsiteY37" fmla="*/ 3437349 h 6858000"/>
                <a:gd name="connsiteX38" fmla="*/ 471431 w 712982"/>
                <a:gd name="connsiteY38" fmla="*/ 3272018 h 6858000"/>
                <a:gd name="connsiteX39" fmla="*/ 495919 w 712982"/>
                <a:gd name="connsiteY39" fmla="*/ 3153432 h 6858000"/>
                <a:gd name="connsiteX40" fmla="*/ 499541 w 712982"/>
                <a:gd name="connsiteY40" fmla="*/ 2985907 h 6858000"/>
                <a:gd name="connsiteX41" fmla="*/ 491640 w 712982"/>
                <a:gd name="connsiteY41" fmla="*/ 2905697 h 6858000"/>
                <a:gd name="connsiteX42" fmla="*/ 586592 w 712982"/>
                <a:gd name="connsiteY42" fmla="*/ 2746325 h 6858000"/>
                <a:gd name="connsiteX43" fmla="*/ 647211 w 712982"/>
                <a:gd name="connsiteY43" fmla="*/ 2620857 h 6858000"/>
                <a:gd name="connsiteX44" fmla="*/ 598120 w 712982"/>
                <a:gd name="connsiteY44" fmla="*/ 2501248 h 6858000"/>
                <a:gd name="connsiteX45" fmla="*/ 560897 w 712982"/>
                <a:gd name="connsiteY45" fmla="*/ 2471368 h 6858000"/>
                <a:gd name="connsiteX46" fmla="*/ 506928 w 712982"/>
                <a:gd name="connsiteY46" fmla="*/ 2272389 h 6858000"/>
                <a:gd name="connsiteX47" fmla="*/ 474122 w 712982"/>
                <a:gd name="connsiteY47" fmla="*/ 1983284 h 6858000"/>
                <a:gd name="connsiteX48" fmla="*/ 349180 w 712982"/>
                <a:gd name="connsiteY48" fmla="*/ 1510207 h 6858000"/>
                <a:gd name="connsiteX49" fmla="*/ 306451 w 712982"/>
                <a:gd name="connsiteY49" fmla="*/ 1430003 h 6858000"/>
                <a:gd name="connsiteX50" fmla="*/ 287747 w 712982"/>
                <a:gd name="connsiteY50" fmla="*/ 1336633 h 6858000"/>
                <a:gd name="connsiteX51" fmla="*/ 304326 w 712982"/>
                <a:gd name="connsiteY51" fmla="*/ 1298229 h 6858000"/>
                <a:gd name="connsiteX52" fmla="*/ 317671 w 712982"/>
                <a:gd name="connsiteY52" fmla="*/ 1136667 h 6858000"/>
                <a:gd name="connsiteX53" fmla="*/ 314959 w 712982"/>
                <a:gd name="connsiteY53" fmla="*/ 1106522 h 6858000"/>
                <a:gd name="connsiteX54" fmla="*/ 290675 w 712982"/>
                <a:gd name="connsiteY54" fmla="*/ 1004980 h 6858000"/>
                <a:gd name="connsiteX55" fmla="*/ 272712 w 712982"/>
                <a:gd name="connsiteY55" fmla="*/ 910357 h 6858000"/>
                <a:gd name="connsiteX56" fmla="*/ 270963 w 712982"/>
                <a:gd name="connsiteY56" fmla="*/ 667028 h 6858000"/>
                <a:gd name="connsiteX57" fmla="*/ 244986 w 712982"/>
                <a:gd name="connsiteY57" fmla="*/ 483131 h 6858000"/>
                <a:gd name="connsiteX58" fmla="*/ 241465 w 712982"/>
                <a:gd name="connsiteY58" fmla="*/ 397465 h 6858000"/>
                <a:gd name="connsiteX59" fmla="*/ 244890 w 712982"/>
                <a:gd name="connsiteY59" fmla="*/ 348507 h 6858000"/>
                <a:gd name="connsiteX60" fmla="*/ 293439 w 712982"/>
                <a:gd name="connsiteY60" fmla="*/ 233141 h 6858000"/>
                <a:gd name="connsiteX61" fmla="*/ 300513 w 712982"/>
                <a:gd name="connsiteY61" fmla="*/ 172069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712982" h="6858000">
                  <a:moveTo>
                    <a:pt x="280560" y="0"/>
                  </a:moveTo>
                  <a:lnTo>
                    <a:pt x="712982" y="0"/>
                  </a:lnTo>
                  <a:lnTo>
                    <a:pt x="712982" y="6858000"/>
                  </a:lnTo>
                  <a:lnTo>
                    <a:pt x="372527" y="6858000"/>
                  </a:lnTo>
                  <a:lnTo>
                    <a:pt x="372901" y="6835810"/>
                  </a:lnTo>
                  <a:cubicBezTo>
                    <a:pt x="343741" y="6729822"/>
                    <a:pt x="373381" y="6623551"/>
                    <a:pt x="363017" y="6518145"/>
                  </a:cubicBezTo>
                  <a:cubicBezTo>
                    <a:pt x="358372" y="6470360"/>
                    <a:pt x="362468" y="6422202"/>
                    <a:pt x="310498" y="6393936"/>
                  </a:cubicBezTo>
                  <a:cubicBezTo>
                    <a:pt x="303659" y="6390296"/>
                    <a:pt x="304819" y="6368800"/>
                    <a:pt x="305420" y="6355564"/>
                  </a:cubicBezTo>
                  <a:cubicBezTo>
                    <a:pt x="306594" y="6326166"/>
                    <a:pt x="314451" y="6296329"/>
                    <a:pt x="311030" y="6267729"/>
                  </a:cubicBezTo>
                  <a:cubicBezTo>
                    <a:pt x="304253" y="6208466"/>
                    <a:pt x="293104" y="6149393"/>
                    <a:pt x="281440" y="6090959"/>
                  </a:cubicBezTo>
                  <a:cubicBezTo>
                    <a:pt x="276978" y="6068911"/>
                    <a:pt x="266829" y="6048361"/>
                    <a:pt x="258928" y="6026981"/>
                  </a:cubicBezTo>
                  <a:cubicBezTo>
                    <a:pt x="254416" y="6015184"/>
                    <a:pt x="244605" y="6003083"/>
                    <a:pt x="245105" y="5991615"/>
                  </a:cubicBezTo>
                  <a:cubicBezTo>
                    <a:pt x="248075" y="5925141"/>
                    <a:pt x="216651" y="5867990"/>
                    <a:pt x="197441" y="5807458"/>
                  </a:cubicBezTo>
                  <a:cubicBezTo>
                    <a:pt x="188523" y="5779456"/>
                    <a:pt x="171697" y="5754078"/>
                    <a:pt x="159115" y="5727356"/>
                  </a:cubicBezTo>
                  <a:cubicBezTo>
                    <a:pt x="155717" y="5720411"/>
                    <a:pt x="152517" y="5712566"/>
                    <a:pt x="152306" y="5705270"/>
                  </a:cubicBezTo>
                  <a:cubicBezTo>
                    <a:pt x="151252" y="5663532"/>
                    <a:pt x="151674" y="5621922"/>
                    <a:pt x="150939" y="5580441"/>
                  </a:cubicBezTo>
                  <a:cubicBezTo>
                    <a:pt x="150326" y="5542748"/>
                    <a:pt x="147369" y="5505023"/>
                    <a:pt x="187956" y="5482729"/>
                  </a:cubicBezTo>
                  <a:cubicBezTo>
                    <a:pt x="194324" y="5479395"/>
                    <a:pt x="198291" y="5470181"/>
                    <a:pt x="201902" y="5463053"/>
                  </a:cubicBezTo>
                  <a:cubicBezTo>
                    <a:pt x="257480" y="5353065"/>
                    <a:pt x="249730" y="5298303"/>
                    <a:pt x="168174" y="5205662"/>
                  </a:cubicBezTo>
                  <a:cubicBezTo>
                    <a:pt x="159805" y="5196040"/>
                    <a:pt x="152161" y="5174340"/>
                    <a:pt x="157186" y="5166766"/>
                  </a:cubicBezTo>
                  <a:cubicBezTo>
                    <a:pt x="198743" y="5102508"/>
                    <a:pt x="186477" y="5038579"/>
                    <a:pt x="163999" y="4972256"/>
                  </a:cubicBezTo>
                  <a:cubicBezTo>
                    <a:pt x="158020" y="4955056"/>
                    <a:pt x="155299" y="4930181"/>
                    <a:pt x="163388" y="4915833"/>
                  </a:cubicBezTo>
                  <a:cubicBezTo>
                    <a:pt x="200708" y="4847649"/>
                    <a:pt x="186907" y="4780374"/>
                    <a:pt x="166361" y="4712964"/>
                  </a:cubicBezTo>
                  <a:cubicBezTo>
                    <a:pt x="163165" y="4702485"/>
                    <a:pt x="150748" y="4690669"/>
                    <a:pt x="140122" y="4687152"/>
                  </a:cubicBezTo>
                  <a:cubicBezTo>
                    <a:pt x="102452" y="4674589"/>
                    <a:pt x="86917" y="4644970"/>
                    <a:pt x="73058" y="4611951"/>
                  </a:cubicBezTo>
                  <a:cubicBezTo>
                    <a:pt x="50686" y="4559957"/>
                    <a:pt x="25516" y="4509149"/>
                    <a:pt x="3979" y="4456771"/>
                  </a:cubicBezTo>
                  <a:cubicBezTo>
                    <a:pt x="-1236" y="4443877"/>
                    <a:pt x="-726" y="4427139"/>
                    <a:pt x="2091" y="4412781"/>
                  </a:cubicBezTo>
                  <a:cubicBezTo>
                    <a:pt x="11653" y="4363733"/>
                    <a:pt x="45382" y="4329603"/>
                    <a:pt x="75905" y="4292897"/>
                  </a:cubicBezTo>
                  <a:cubicBezTo>
                    <a:pt x="89361" y="4276787"/>
                    <a:pt x="97880" y="4255660"/>
                    <a:pt x="104434" y="4235333"/>
                  </a:cubicBezTo>
                  <a:cubicBezTo>
                    <a:pt x="121200" y="4182569"/>
                    <a:pt x="135523" y="4128901"/>
                    <a:pt x="151065" y="4075686"/>
                  </a:cubicBezTo>
                  <a:cubicBezTo>
                    <a:pt x="152552" y="4070549"/>
                    <a:pt x="157315" y="4065932"/>
                    <a:pt x="161243" y="4061695"/>
                  </a:cubicBezTo>
                  <a:cubicBezTo>
                    <a:pt x="202828" y="4019095"/>
                    <a:pt x="244731" y="3976753"/>
                    <a:pt x="286285" y="3933862"/>
                  </a:cubicBezTo>
                  <a:cubicBezTo>
                    <a:pt x="294168" y="3925683"/>
                    <a:pt x="299393" y="3914571"/>
                    <a:pt x="306926" y="3905847"/>
                  </a:cubicBezTo>
                  <a:cubicBezTo>
                    <a:pt x="317292" y="3893589"/>
                    <a:pt x="326766" y="3878502"/>
                    <a:pt x="340015" y="3871199"/>
                  </a:cubicBezTo>
                  <a:cubicBezTo>
                    <a:pt x="381725" y="3848490"/>
                    <a:pt x="396760" y="3812013"/>
                    <a:pt x="400111" y="3767743"/>
                  </a:cubicBezTo>
                  <a:cubicBezTo>
                    <a:pt x="403294" y="3727294"/>
                    <a:pt x="405323" y="3686973"/>
                    <a:pt x="409694" y="3646690"/>
                  </a:cubicBezTo>
                  <a:cubicBezTo>
                    <a:pt x="414852" y="3597538"/>
                    <a:pt x="420910" y="3548579"/>
                    <a:pt x="428447" y="3499752"/>
                  </a:cubicBezTo>
                  <a:cubicBezTo>
                    <a:pt x="431696" y="3478619"/>
                    <a:pt x="435683" y="3456228"/>
                    <a:pt x="445033" y="3437349"/>
                  </a:cubicBezTo>
                  <a:cubicBezTo>
                    <a:pt x="470858" y="3384475"/>
                    <a:pt x="486179" y="3329236"/>
                    <a:pt x="471431" y="3272018"/>
                  </a:cubicBezTo>
                  <a:cubicBezTo>
                    <a:pt x="459682" y="3226180"/>
                    <a:pt x="472474" y="3185267"/>
                    <a:pt x="495919" y="3153432"/>
                  </a:cubicBezTo>
                  <a:cubicBezTo>
                    <a:pt x="538461" y="3095505"/>
                    <a:pt x="521296" y="3040311"/>
                    <a:pt x="499541" y="2985907"/>
                  </a:cubicBezTo>
                  <a:cubicBezTo>
                    <a:pt x="488276" y="2957871"/>
                    <a:pt x="486838" y="2934028"/>
                    <a:pt x="491640" y="2905697"/>
                  </a:cubicBezTo>
                  <a:cubicBezTo>
                    <a:pt x="502898" y="2840071"/>
                    <a:pt x="547705" y="2792141"/>
                    <a:pt x="586592" y="2746325"/>
                  </a:cubicBezTo>
                  <a:cubicBezTo>
                    <a:pt x="619786" y="2707275"/>
                    <a:pt x="636305" y="2665661"/>
                    <a:pt x="647211" y="2620857"/>
                  </a:cubicBezTo>
                  <a:cubicBezTo>
                    <a:pt x="661216" y="2564298"/>
                    <a:pt x="648982" y="2522027"/>
                    <a:pt x="598120" y="2501248"/>
                  </a:cubicBezTo>
                  <a:cubicBezTo>
                    <a:pt x="583733" y="2495506"/>
                    <a:pt x="566431" y="2484521"/>
                    <a:pt x="560897" y="2471368"/>
                  </a:cubicBezTo>
                  <a:cubicBezTo>
                    <a:pt x="533469" y="2407931"/>
                    <a:pt x="496686" y="2344634"/>
                    <a:pt x="506928" y="2272389"/>
                  </a:cubicBezTo>
                  <a:cubicBezTo>
                    <a:pt x="520879" y="2172517"/>
                    <a:pt x="509052" y="2077807"/>
                    <a:pt x="474122" y="1983284"/>
                  </a:cubicBezTo>
                  <a:cubicBezTo>
                    <a:pt x="417537" y="1829959"/>
                    <a:pt x="358639" y="1676886"/>
                    <a:pt x="349180" y="1510207"/>
                  </a:cubicBezTo>
                  <a:cubicBezTo>
                    <a:pt x="347619" y="1482573"/>
                    <a:pt x="326399" y="1451821"/>
                    <a:pt x="306451" y="1430003"/>
                  </a:cubicBezTo>
                  <a:cubicBezTo>
                    <a:pt x="268511" y="1388202"/>
                    <a:pt x="266127" y="1390512"/>
                    <a:pt x="287747" y="1336633"/>
                  </a:cubicBezTo>
                  <a:cubicBezTo>
                    <a:pt x="293070" y="1323756"/>
                    <a:pt x="295470" y="1308272"/>
                    <a:pt x="304326" y="1298229"/>
                  </a:cubicBezTo>
                  <a:cubicBezTo>
                    <a:pt x="349361" y="1247057"/>
                    <a:pt x="331041" y="1191986"/>
                    <a:pt x="317671" y="1136667"/>
                  </a:cubicBezTo>
                  <a:cubicBezTo>
                    <a:pt x="315148" y="1126990"/>
                    <a:pt x="311827" y="1115354"/>
                    <a:pt x="314959" y="1106522"/>
                  </a:cubicBezTo>
                  <a:cubicBezTo>
                    <a:pt x="329032" y="1066641"/>
                    <a:pt x="319157" y="1035231"/>
                    <a:pt x="290675" y="1004980"/>
                  </a:cubicBezTo>
                  <a:cubicBezTo>
                    <a:pt x="266138" y="978690"/>
                    <a:pt x="249805" y="947108"/>
                    <a:pt x="272712" y="910357"/>
                  </a:cubicBezTo>
                  <a:cubicBezTo>
                    <a:pt x="323486" y="828702"/>
                    <a:pt x="317578" y="747981"/>
                    <a:pt x="270963" y="667028"/>
                  </a:cubicBezTo>
                  <a:cubicBezTo>
                    <a:pt x="237707" y="609204"/>
                    <a:pt x="225082" y="549995"/>
                    <a:pt x="244986" y="483131"/>
                  </a:cubicBezTo>
                  <a:cubicBezTo>
                    <a:pt x="252708" y="457408"/>
                    <a:pt x="242285" y="426353"/>
                    <a:pt x="241465" y="397465"/>
                  </a:cubicBezTo>
                  <a:cubicBezTo>
                    <a:pt x="240850" y="381142"/>
                    <a:pt x="239176" y="363176"/>
                    <a:pt x="244890" y="348507"/>
                  </a:cubicBezTo>
                  <a:cubicBezTo>
                    <a:pt x="259350" y="309454"/>
                    <a:pt x="279299" y="272445"/>
                    <a:pt x="293439" y="233141"/>
                  </a:cubicBezTo>
                  <a:cubicBezTo>
                    <a:pt x="300152" y="214256"/>
                    <a:pt x="302437" y="192349"/>
                    <a:pt x="300513" y="172069"/>
                  </a:cubicBez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97B054CB-4DA3-4EDD-B196-A5DDD1E4E6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79015" y="0"/>
              <a:ext cx="712985" cy="6858000"/>
            </a:xfrm>
            <a:custGeom>
              <a:avLst/>
              <a:gdLst>
                <a:gd name="connsiteX0" fmla="*/ 280560 w 712985"/>
                <a:gd name="connsiteY0" fmla="*/ 0 h 6858000"/>
                <a:gd name="connsiteX1" fmla="*/ 712985 w 712985"/>
                <a:gd name="connsiteY1" fmla="*/ 0 h 6858000"/>
                <a:gd name="connsiteX2" fmla="*/ 712985 w 712985"/>
                <a:gd name="connsiteY2" fmla="*/ 6858000 h 6858000"/>
                <a:gd name="connsiteX3" fmla="*/ 372527 w 712985"/>
                <a:gd name="connsiteY3" fmla="*/ 6858000 h 6858000"/>
                <a:gd name="connsiteX4" fmla="*/ 372901 w 712985"/>
                <a:gd name="connsiteY4" fmla="*/ 6835810 h 6858000"/>
                <a:gd name="connsiteX5" fmla="*/ 363017 w 712985"/>
                <a:gd name="connsiteY5" fmla="*/ 6518145 h 6858000"/>
                <a:gd name="connsiteX6" fmla="*/ 310498 w 712985"/>
                <a:gd name="connsiteY6" fmla="*/ 6393936 h 6858000"/>
                <a:gd name="connsiteX7" fmla="*/ 305420 w 712985"/>
                <a:gd name="connsiteY7" fmla="*/ 6355564 h 6858000"/>
                <a:gd name="connsiteX8" fmla="*/ 311030 w 712985"/>
                <a:gd name="connsiteY8" fmla="*/ 6267729 h 6858000"/>
                <a:gd name="connsiteX9" fmla="*/ 281440 w 712985"/>
                <a:gd name="connsiteY9" fmla="*/ 6090959 h 6858000"/>
                <a:gd name="connsiteX10" fmla="*/ 258928 w 712985"/>
                <a:gd name="connsiteY10" fmla="*/ 6026981 h 6858000"/>
                <a:gd name="connsiteX11" fmla="*/ 245105 w 712985"/>
                <a:gd name="connsiteY11" fmla="*/ 5991615 h 6858000"/>
                <a:gd name="connsiteX12" fmla="*/ 197441 w 712985"/>
                <a:gd name="connsiteY12" fmla="*/ 5807458 h 6858000"/>
                <a:gd name="connsiteX13" fmla="*/ 159115 w 712985"/>
                <a:gd name="connsiteY13" fmla="*/ 5727356 h 6858000"/>
                <a:gd name="connsiteX14" fmla="*/ 152306 w 712985"/>
                <a:gd name="connsiteY14" fmla="*/ 5705270 h 6858000"/>
                <a:gd name="connsiteX15" fmla="*/ 150939 w 712985"/>
                <a:gd name="connsiteY15" fmla="*/ 5580441 h 6858000"/>
                <a:gd name="connsiteX16" fmla="*/ 187956 w 712985"/>
                <a:gd name="connsiteY16" fmla="*/ 5482729 h 6858000"/>
                <a:gd name="connsiteX17" fmla="*/ 201902 w 712985"/>
                <a:gd name="connsiteY17" fmla="*/ 5463053 h 6858000"/>
                <a:gd name="connsiteX18" fmla="*/ 168174 w 712985"/>
                <a:gd name="connsiteY18" fmla="*/ 5205662 h 6858000"/>
                <a:gd name="connsiteX19" fmla="*/ 157186 w 712985"/>
                <a:gd name="connsiteY19" fmla="*/ 5166766 h 6858000"/>
                <a:gd name="connsiteX20" fmla="*/ 163999 w 712985"/>
                <a:gd name="connsiteY20" fmla="*/ 4972256 h 6858000"/>
                <a:gd name="connsiteX21" fmla="*/ 163388 w 712985"/>
                <a:gd name="connsiteY21" fmla="*/ 4915833 h 6858000"/>
                <a:gd name="connsiteX22" fmla="*/ 166361 w 712985"/>
                <a:gd name="connsiteY22" fmla="*/ 4712964 h 6858000"/>
                <a:gd name="connsiteX23" fmla="*/ 140122 w 712985"/>
                <a:gd name="connsiteY23" fmla="*/ 4687152 h 6858000"/>
                <a:gd name="connsiteX24" fmla="*/ 73058 w 712985"/>
                <a:gd name="connsiteY24" fmla="*/ 4611951 h 6858000"/>
                <a:gd name="connsiteX25" fmla="*/ 3979 w 712985"/>
                <a:gd name="connsiteY25" fmla="*/ 4456771 h 6858000"/>
                <a:gd name="connsiteX26" fmla="*/ 2091 w 712985"/>
                <a:gd name="connsiteY26" fmla="*/ 4412781 h 6858000"/>
                <a:gd name="connsiteX27" fmla="*/ 75905 w 712985"/>
                <a:gd name="connsiteY27" fmla="*/ 4292897 h 6858000"/>
                <a:gd name="connsiteX28" fmla="*/ 104434 w 712985"/>
                <a:gd name="connsiteY28" fmla="*/ 4235333 h 6858000"/>
                <a:gd name="connsiteX29" fmla="*/ 151065 w 712985"/>
                <a:gd name="connsiteY29" fmla="*/ 4075686 h 6858000"/>
                <a:gd name="connsiteX30" fmla="*/ 161243 w 712985"/>
                <a:gd name="connsiteY30" fmla="*/ 4061695 h 6858000"/>
                <a:gd name="connsiteX31" fmla="*/ 286285 w 712985"/>
                <a:gd name="connsiteY31" fmla="*/ 3933862 h 6858000"/>
                <a:gd name="connsiteX32" fmla="*/ 306926 w 712985"/>
                <a:gd name="connsiteY32" fmla="*/ 3905847 h 6858000"/>
                <a:gd name="connsiteX33" fmla="*/ 340015 w 712985"/>
                <a:gd name="connsiteY33" fmla="*/ 3871199 h 6858000"/>
                <a:gd name="connsiteX34" fmla="*/ 400111 w 712985"/>
                <a:gd name="connsiteY34" fmla="*/ 3767743 h 6858000"/>
                <a:gd name="connsiteX35" fmla="*/ 409694 w 712985"/>
                <a:gd name="connsiteY35" fmla="*/ 3646690 h 6858000"/>
                <a:gd name="connsiteX36" fmla="*/ 428447 w 712985"/>
                <a:gd name="connsiteY36" fmla="*/ 3499752 h 6858000"/>
                <a:gd name="connsiteX37" fmla="*/ 445033 w 712985"/>
                <a:gd name="connsiteY37" fmla="*/ 3437349 h 6858000"/>
                <a:gd name="connsiteX38" fmla="*/ 471431 w 712985"/>
                <a:gd name="connsiteY38" fmla="*/ 3272018 h 6858000"/>
                <a:gd name="connsiteX39" fmla="*/ 495919 w 712985"/>
                <a:gd name="connsiteY39" fmla="*/ 3153432 h 6858000"/>
                <a:gd name="connsiteX40" fmla="*/ 499541 w 712985"/>
                <a:gd name="connsiteY40" fmla="*/ 2985907 h 6858000"/>
                <a:gd name="connsiteX41" fmla="*/ 491640 w 712985"/>
                <a:gd name="connsiteY41" fmla="*/ 2905697 h 6858000"/>
                <a:gd name="connsiteX42" fmla="*/ 586592 w 712985"/>
                <a:gd name="connsiteY42" fmla="*/ 2746325 h 6858000"/>
                <a:gd name="connsiteX43" fmla="*/ 647211 w 712985"/>
                <a:gd name="connsiteY43" fmla="*/ 2620857 h 6858000"/>
                <a:gd name="connsiteX44" fmla="*/ 598120 w 712985"/>
                <a:gd name="connsiteY44" fmla="*/ 2501248 h 6858000"/>
                <a:gd name="connsiteX45" fmla="*/ 560897 w 712985"/>
                <a:gd name="connsiteY45" fmla="*/ 2471368 h 6858000"/>
                <a:gd name="connsiteX46" fmla="*/ 506928 w 712985"/>
                <a:gd name="connsiteY46" fmla="*/ 2272389 h 6858000"/>
                <a:gd name="connsiteX47" fmla="*/ 474122 w 712985"/>
                <a:gd name="connsiteY47" fmla="*/ 1983284 h 6858000"/>
                <a:gd name="connsiteX48" fmla="*/ 349180 w 712985"/>
                <a:gd name="connsiteY48" fmla="*/ 1510207 h 6858000"/>
                <a:gd name="connsiteX49" fmla="*/ 306451 w 712985"/>
                <a:gd name="connsiteY49" fmla="*/ 1430003 h 6858000"/>
                <a:gd name="connsiteX50" fmla="*/ 287747 w 712985"/>
                <a:gd name="connsiteY50" fmla="*/ 1336633 h 6858000"/>
                <a:gd name="connsiteX51" fmla="*/ 304326 w 712985"/>
                <a:gd name="connsiteY51" fmla="*/ 1298229 h 6858000"/>
                <a:gd name="connsiteX52" fmla="*/ 317671 w 712985"/>
                <a:gd name="connsiteY52" fmla="*/ 1136667 h 6858000"/>
                <a:gd name="connsiteX53" fmla="*/ 314959 w 712985"/>
                <a:gd name="connsiteY53" fmla="*/ 1106522 h 6858000"/>
                <a:gd name="connsiteX54" fmla="*/ 290675 w 712985"/>
                <a:gd name="connsiteY54" fmla="*/ 1004980 h 6858000"/>
                <a:gd name="connsiteX55" fmla="*/ 272712 w 712985"/>
                <a:gd name="connsiteY55" fmla="*/ 910357 h 6858000"/>
                <a:gd name="connsiteX56" fmla="*/ 270963 w 712985"/>
                <a:gd name="connsiteY56" fmla="*/ 667028 h 6858000"/>
                <a:gd name="connsiteX57" fmla="*/ 244986 w 712985"/>
                <a:gd name="connsiteY57" fmla="*/ 483131 h 6858000"/>
                <a:gd name="connsiteX58" fmla="*/ 241465 w 712985"/>
                <a:gd name="connsiteY58" fmla="*/ 397465 h 6858000"/>
                <a:gd name="connsiteX59" fmla="*/ 244890 w 712985"/>
                <a:gd name="connsiteY59" fmla="*/ 348507 h 6858000"/>
                <a:gd name="connsiteX60" fmla="*/ 293439 w 712985"/>
                <a:gd name="connsiteY60" fmla="*/ 233141 h 6858000"/>
                <a:gd name="connsiteX61" fmla="*/ 300513 w 712985"/>
                <a:gd name="connsiteY61" fmla="*/ 172069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712985" h="6858000">
                  <a:moveTo>
                    <a:pt x="280560" y="0"/>
                  </a:moveTo>
                  <a:lnTo>
                    <a:pt x="712985" y="0"/>
                  </a:lnTo>
                  <a:lnTo>
                    <a:pt x="712985" y="6858000"/>
                  </a:lnTo>
                  <a:lnTo>
                    <a:pt x="372527" y="6858000"/>
                  </a:lnTo>
                  <a:lnTo>
                    <a:pt x="372901" y="6835810"/>
                  </a:lnTo>
                  <a:cubicBezTo>
                    <a:pt x="343741" y="6729822"/>
                    <a:pt x="373381" y="6623551"/>
                    <a:pt x="363017" y="6518145"/>
                  </a:cubicBezTo>
                  <a:cubicBezTo>
                    <a:pt x="358372" y="6470360"/>
                    <a:pt x="362468" y="6422202"/>
                    <a:pt x="310498" y="6393936"/>
                  </a:cubicBezTo>
                  <a:cubicBezTo>
                    <a:pt x="303659" y="6390296"/>
                    <a:pt x="304819" y="6368800"/>
                    <a:pt x="305420" y="6355564"/>
                  </a:cubicBezTo>
                  <a:cubicBezTo>
                    <a:pt x="306594" y="6326166"/>
                    <a:pt x="314451" y="6296329"/>
                    <a:pt x="311030" y="6267729"/>
                  </a:cubicBezTo>
                  <a:cubicBezTo>
                    <a:pt x="304253" y="6208466"/>
                    <a:pt x="293104" y="6149393"/>
                    <a:pt x="281440" y="6090959"/>
                  </a:cubicBezTo>
                  <a:cubicBezTo>
                    <a:pt x="276978" y="6068911"/>
                    <a:pt x="266829" y="6048361"/>
                    <a:pt x="258928" y="6026981"/>
                  </a:cubicBezTo>
                  <a:cubicBezTo>
                    <a:pt x="254416" y="6015184"/>
                    <a:pt x="244605" y="6003083"/>
                    <a:pt x="245105" y="5991615"/>
                  </a:cubicBezTo>
                  <a:cubicBezTo>
                    <a:pt x="248075" y="5925141"/>
                    <a:pt x="216651" y="5867990"/>
                    <a:pt x="197441" y="5807458"/>
                  </a:cubicBezTo>
                  <a:cubicBezTo>
                    <a:pt x="188523" y="5779456"/>
                    <a:pt x="171697" y="5754078"/>
                    <a:pt x="159115" y="5727356"/>
                  </a:cubicBezTo>
                  <a:cubicBezTo>
                    <a:pt x="155717" y="5720411"/>
                    <a:pt x="152517" y="5712566"/>
                    <a:pt x="152306" y="5705270"/>
                  </a:cubicBezTo>
                  <a:cubicBezTo>
                    <a:pt x="151252" y="5663532"/>
                    <a:pt x="151674" y="5621922"/>
                    <a:pt x="150939" y="5580441"/>
                  </a:cubicBezTo>
                  <a:cubicBezTo>
                    <a:pt x="150326" y="5542748"/>
                    <a:pt x="147369" y="5505023"/>
                    <a:pt x="187956" y="5482729"/>
                  </a:cubicBezTo>
                  <a:cubicBezTo>
                    <a:pt x="194324" y="5479395"/>
                    <a:pt x="198291" y="5470181"/>
                    <a:pt x="201902" y="5463053"/>
                  </a:cubicBezTo>
                  <a:cubicBezTo>
                    <a:pt x="257480" y="5353065"/>
                    <a:pt x="249730" y="5298303"/>
                    <a:pt x="168174" y="5205662"/>
                  </a:cubicBezTo>
                  <a:cubicBezTo>
                    <a:pt x="159805" y="5196040"/>
                    <a:pt x="152161" y="5174340"/>
                    <a:pt x="157186" y="5166766"/>
                  </a:cubicBezTo>
                  <a:cubicBezTo>
                    <a:pt x="198743" y="5102508"/>
                    <a:pt x="186477" y="5038579"/>
                    <a:pt x="163999" y="4972256"/>
                  </a:cubicBezTo>
                  <a:cubicBezTo>
                    <a:pt x="158020" y="4955056"/>
                    <a:pt x="155299" y="4930181"/>
                    <a:pt x="163388" y="4915833"/>
                  </a:cubicBezTo>
                  <a:cubicBezTo>
                    <a:pt x="200708" y="4847649"/>
                    <a:pt x="186907" y="4780374"/>
                    <a:pt x="166361" y="4712964"/>
                  </a:cubicBezTo>
                  <a:cubicBezTo>
                    <a:pt x="163165" y="4702485"/>
                    <a:pt x="150748" y="4690669"/>
                    <a:pt x="140122" y="4687152"/>
                  </a:cubicBezTo>
                  <a:cubicBezTo>
                    <a:pt x="102452" y="4674589"/>
                    <a:pt x="86917" y="4644970"/>
                    <a:pt x="73058" y="4611951"/>
                  </a:cubicBezTo>
                  <a:cubicBezTo>
                    <a:pt x="50686" y="4559957"/>
                    <a:pt x="25516" y="4509149"/>
                    <a:pt x="3979" y="4456771"/>
                  </a:cubicBezTo>
                  <a:cubicBezTo>
                    <a:pt x="-1236" y="4443877"/>
                    <a:pt x="-726" y="4427139"/>
                    <a:pt x="2091" y="4412781"/>
                  </a:cubicBezTo>
                  <a:cubicBezTo>
                    <a:pt x="11653" y="4363733"/>
                    <a:pt x="45382" y="4329603"/>
                    <a:pt x="75905" y="4292897"/>
                  </a:cubicBezTo>
                  <a:cubicBezTo>
                    <a:pt x="89361" y="4276787"/>
                    <a:pt x="97880" y="4255660"/>
                    <a:pt x="104434" y="4235333"/>
                  </a:cubicBezTo>
                  <a:cubicBezTo>
                    <a:pt x="121200" y="4182569"/>
                    <a:pt x="135523" y="4128901"/>
                    <a:pt x="151065" y="4075686"/>
                  </a:cubicBezTo>
                  <a:cubicBezTo>
                    <a:pt x="152552" y="4070549"/>
                    <a:pt x="157315" y="4065932"/>
                    <a:pt x="161243" y="4061695"/>
                  </a:cubicBezTo>
                  <a:cubicBezTo>
                    <a:pt x="202828" y="4019095"/>
                    <a:pt x="244731" y="3976753"/>
                    <a:pt x="286285" y="3933862"/>
                  </a:cubicBezTo>
                  <a:cubicBezTo>
                    <a:pt x="294168" y="3925683"/>
                    <a:pt x="299393" y="3914571"/>
                    <a:pt x="306926" y="3905847"/>
                  </a:cubicBezTo>
                  <a:cubicBezTo>
                    <a:pt x="317292" y="3893589"/>
                    <a:pt x="326766" y="3878502"/>
                    <a:pt x="340015" y="3871199"/>
                  </a:cubicBezTo>
                  <a:cubicBezTo>
                    <a:pt x="381725" y="3848490"/>
                    <a:pt x="396760" y="3812013"/>
                    <a:pt x="400111" y="3767743"/>
                  </a:cubicBezTo>
                  <a:cubicBezTo>
                    <a:pt x="403294" y="3727294"/>
                    <a:pt x="405323" y="3686973"/>
                    <a:pt x="409694" y="3646690"/>
                  </a:cubicBezTo>
                  <a:cubicBezTo>
                    <a:pt x="414852" y="3597538"/>
                    <a:pt x="420910" y="3548579"/>
                    <a:pt x="428447" y="3499752"/>
                  </a:cubicBezTo>
                  <a:cubicBezTo>
                    <a:pt x="431696" y="3478619"/>
                    <a:pt x="435683" y="3456228"/>
                    <a:pt x="445033" y="3437349"/>
                  </a:cubicBezTo>
                  <a:cubicBezTo>
                    <a:pt x="470858" y="3384475"/>
                    <a:pt x="486179" y="3329236"/>
                    <a:pt x="471431" y="3272018"/>
                  </a:cubicBezTo>
                  <a:cubicBezTo>
                    <a:pt x="459682" y="3226180"/>
                    <a:pt x="472474" y="3185267"/>
                    <a:pt x="495919" y="3153432"/>
                  </a:cubicBezTo>
                  <a:cubicBezTo>
                    <a:pt x="538461" y="3095505"/>
                    <a:pt x="521296" y="3040311"/>
                    <a:pt x="499541" y="2985907"/>
                  </a:cubicBezTo>
                  <a:cubicBezTo>
                    <a:pt x="488276" y="2957871"/>
                    <a:pt x="486838" y="2934028"/>
                    <a:pt x="491640" y="2905697"/>
                  </a:cubicBezTo>
                  <a:cubicBezTo>
                    <a:pt x="502898" y="2840071"/>
                    <a:pt x="547705" y="2792141"/>
                    <a:pt x="586592" y="2746325"/>
                  </a:cubicBezTo>
                  <a:cubicBezTo>
                    <a:pt x="619786" y="2707275"/>
                    <a:pt x="636305" y="2665661"/>
                    <a:pt x="647211" y="2620857"/>
                  </a:cubicBezTo>
                  <a:cubicBezTo>
                    <a:pt x="661216" y="2564298"/>
                    <a:pt x="648982" y="2522027"/>
                    <a:pt x="598120" y="2501248"/>
                  </a:cubicBezTo>
                  <a:cubicBezTo>
                    <a:pt x="583733" y="2495506"/>
                    <a:pt x="566431" y="2484521"/>
                    <a:pt x="560897" y="2471368"/>
                  </a:cubicBezTo>
                  <a:cubicBezTo>
                    <a:pt x="533469" y="2407931"/>
                    <a:pt x="496686" y="2344634"/>
                    <a:pt x="506928" y="2272389"/>
                  </a:cubicBezTo>
                  <a:cubicBezTo>
                    <a:pt x="520879" y="2172517"/>
                    <a:pt x="509052" y="2077807"/>
                    <a:pt x="474122" y="1983284"/>
                  </a:cubicBezTo>
                  <a:cubicBezTo>
                    <a:pt x="417537" y="1829959"/>
                    <a:pt x="358639" y="1676886"/>
                    <a:pt x="349180" y="1510207"/>
                  </a:cubicBezTo>
                  <a:cubicBezTo>
                    <a:pt x="347619" y="1482573"/>
                    <a:pt x="326399" y="1451821"/>
                    <a:pt x="306451" y="1430003"/>
                  </a:cubicBezTo>
                  <a:cubicBezTo>
                    <a:pt x="268511" y="1388202"/>
                    <a:pt x="266127" y="1390512"/>
                    <a:pt x="287747" y="1336633"/>
                  </a:cubicBezTo>
                  <a:cubicBezTo>
                    <a:pt x="293070" y="1323756"/>
                    <a:pt x="295470" y="1308272"/>
                    <a:pt x="304326" y="1298229"/>
                  </a:cubicBezTo>
                  <a:cubicBezTo>
                    <a:pt x="349361" y="1247057"/>
                    <a:pt x="331041" y="1191986"/>
                    <a:pt x="317671" y="1136667"/>
                  </a:cubicBezTo>
                  <a:cubicBezTo>
                    <a:pt x="315148" y="1126990"/>
                    <a:pt x="311827" y="1115354"/>
                    <a:pt x="314959" y="1106522"/>
                  </a:cubicBezTo>
                  <a:cubicBezTo>
                    <a:pt x="329032" y="1066641"/>
                    <a:pt x="319157" y="1035231"/>
                    <a:pt x="290675" y="1004980"/>
                  </a:cubicBezTo>
                  <a:cubicBezTo>
                    <a:pt x="266138" y="978690"/>
                    <a:pt x="249805" y="947108"/>
                    <a:pt x="272712" y="910357"/>
                  </a:cubicBezTo>
                  <a:cubicBezTo>
                    <a:pt x="323486" y="828702"/>
                    <a:pt x="317578" y="747981"/>
                    <a:pt x="270963" y="667028"/>
                  </a:cubicBezTo>
                  <a:cubicBezTo>
                    <a:pt x="237707" y="609204"/>
                    <a:pt x="225082" y="549995"/>
                    <a:pt x="244986" y="483131"/>
                  </a:cubicBezTo>
                  <a:cubicBezTo>
                    <a:pt x="252708" y="457408"/>
                    <a:pt x="242285" y="426353"/>
                    <a:pt x="241465" y="397465"/>
                  </a:cubicBezTo>
                  <a:cubicBezTo>
                    <a:pt x="240850" y="381142"/>
                    <a:pt x="239176" y="363176"/>
                    <a:pt x="244890" y="348507"/>
                  </a:cubicBezTo>
                  <a:cubicBezTo>
                    <a:pt x="259350" y="309454"/>
                    <a:pt x="279299" y="272445"/>
                    <a:pt x="293439" y="233141"/>
                  </a:cubicBezTo>
                  <a:cubicBezTo>
                    <a:pt x="300152" y="214256"/>
                    <a:pt x="302437" y="192349"/>
                    <a:pt x="300513" y="172069"/>
                  </a:cubicBezTo>
                  <a:close/>
                </a:path>
              </a:pathLst>
            </a:custGeom>
            <a:blipFill>
              <a:blip r:embed="rId2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716401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C78E45-09B3-28FF-626B-46E9F1F47D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6553" y="-3969"/>
            <a:ext cx="4083424" cy="1004095"/>
          </a:xfrm>
        </p:spPr>
        <p:txBody>
          <a:bodyPr>
            <a:normAutofit/>
          </a:bodyPr>
          <a:lstStyle/>
          <a:p>
            <a:r>
              <a:rPr lang="pt-BR" sz="2800" b="1" dirty="0">
                <a:latin typeface="Aptos"/>
              </a:rPr>
              <a:t>Noções matemáticas</a:t>
            </a:r>
            <a:endParaRPr lang="pt-BR" sz="2800" b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4DF342F-F004-07D5-F7F8-21F3E28B35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760" y="993586"/>
            <a:ext cx="10515600" cy="60857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just">
              <a:buNone/>
            </a:pPr>
            <a:r>
              <a:rPr lang="pt-BR" sz="2400" b="1">
                <a:solidFill>
                  <a:schemeClr val="accent1"/>
                </a:solidFill>
              </a:rPr>
              <a:t>Equação do Primeiro Grau</a:t>
            </a:r>
            <a:endParaRPr lang="pt-BR" sz="2000">
              <a:solidFill>
                <a:schemeClr val="accent1"/>
              </a:solidFill>
            </a:endParaRPr>
          </a:p>
          <a:p>
            <a:pPr marL="0" indent="0" algn="just">
              <a:buNone/>
            </a:pPr>
            <a:endParaRPr lang="pt-BR" sz="1200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2C3AFC9-E6F9-5485-2A7E-5A9ECB454980}"/>
              </a:ext>
            </a:extLst>
          </p:cNvPr>
          <p:cNvSpPr txBox="1"/>
          <p:nvPr/>
        </p:nvSpPr>
        <p:spPr>
          <a:xfrm>
            <a:off x="-1157" y="1964695"/>
            <a:ext cx="6874669" cy="4462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 algn="just">
              <a:lnSpc>
                <a:spcPct val="90000"/>
              </a:lnSpc>
              <a:spcBef>
                <a:spcPts val="1000"/>
              </a:spcBef>
              <a:buFont typeface="Arial,Sans-Serif"/>
              <a:buChar char="•"/>
            </a:pPr>
            <a:r>
              <a:rPr lang="pt-BR" sz="2000"/>
              <a:t>Tem a forma geral </a:t>
            </a:r>
            <a:r>
              <a:rPr lang="pt-BR" sz="2000" b="1" i="1"/>
              <a:t>y = </a:t>
            </a:r>
            <a:r>
              <a:rPr lang="pt-BR" sz="2000" b="1" i="1" err="1"/>
              <a:t>ax</a:t>
            </a:r>
            <a:r>
              <a:rPr lang="pt-BR" sz="2000" b="1" i="1"/>
              <a:t> + b</a:t>
            </a:r>
            <a:r>
              <a:rPr lang="pt-BR" sz="2000" i="1"/>
              <a:t>.</a:t>
            </a:r>
            <a:endParaRPr lang="pt-BR" sz="2000"/>
          </a:p>
          <a:p>
            <a:pPr marL="285750" indent="-285750" algn="just">
              <a:lnSpc>
                <a:spcPct val="90000"/>
              </a:lnSpc>
              <a:spcBef>
                <a:spcPts val="1000"/>
              </a:spcBef>
              <a:buFont typeface="Arial,Sans-Serif"/>
              <a:buChar char="•"/>
            </a:pPr>
            <a:r>
              <a:rPr lang="pt-BR" sz="2000" dirty="0"/>
              <a:t>O gráfico é sempre uma </a:t>
            </a:r>
            <a:r>
              <a:rPr lang="pt-BR" sz="2000" b="1" dirty="0"/>
              <a:t>reta</a:t>
            </a:r>
            <a:r>
              <a:rPr lang="pt-BR" sz="2000" dirty="0"/>
              <a:t>.</a:t>
            </a:r>
          </a:p>
          <a:p>
            <a:pPr marL="285750" indent="-285750" algn="just">
              <a:lnSpc>
                <a:spcPct val="90000"/>
              </a:lnSpc>
              <a:spcBef>
                <a:spcPts val="1000"/>
              </a:spcBef>
              <a:buFont typeface="Arial,Sans-Serif"/>
              <a:buChar char="•"/>
            </a:pPr>
            <a:r>
              <a:rPr lang="pt-BR" sz="2000" dirty="0"/>
              <a:t>O coeficiente </a:t>
            </a:r>
            <a:r>
              <a:rPr lang="pt-BR" sz="2000" b="1" dirty="0"/>
              <a:t>a</a:t>
            </a:r>
            <a:r>
              <a:rPr lang="pt-BR" sz="2000" dirty="0"/>
              <a:t> determina a inclinação; </a:t>
            </a:r>
            <a:r>
              <a:rPr lang="pt-BR" sz="2000" b="1" dirty="0"/>
              <a:t>b</a:t>
            </a:r>
            <a:r>
              <a:rPr lang="pt-BR" sz="2000" dirty="0"/>
              <a:t> determina o ponto onde a reta cruza o eixo vertical.</a:t>
            </a:r>
            <a:endParaRPr lang="en-US" sz="2000" dirty="0"/>
          </a:p>
          <a:p>
            <a:pPr marL="285750" indent="-285750" algn="just">
              <a:lnSpc>
                <a:spcPct val="90000"/>
              </a:lnSpc>
              <a:spcBef>
                <a:spcPts val="1000"/>
              </a:spcBef>
              <a:buFont typeface="Arial,Sans-Serif"/>
              <a:buChar char="•"/>
            </a:pPr>
            <a:r>
              <a:rPr lang="pt-BR" sz="2000" dirty="0"/>
              <a:t>A ideia central é que a relação entre as variáveis é </a:t>
            </a:r>
            <a:r>
              <a:rPr lang="pt-BR" sz="2000" b="1" dirty="0"/>
              <a:t>linear</a:t>
            </a:r>
            <a:r>
              <a:rPr lang="pt-BR" sz="2000" dirty="0"/>
              <a:t>: cada unidade que x aumenta, y aumenta (ou diminui) sempre na mesma proporção.</a:t>
            </a:r>
            <a:endParaRPr lang="en-US" sz="2000" dirty="0"/>
          </a:p>
          <a:p>
            <a:pPr marL="285750" indent="-285750" algn="just">
              <a:lnSpc>
                <a:spcPct val="90000"/>
              </a:lnSpc>
              <a:spcBef>
                <a:spcPts val="1000"/>
              </a:spcBef>
              <a:buFont typeface="Arial,Sans-Serif"/>
              <a:buChar char="•"/>
            </a:pPr>
            <a:r>
              <a:rPr lang="pt-BR" sz="2000" dirty="0"/>
              <a:t>Quando o </a:t>
            </a:r>
            <a:r>
              <a:rPr lang="pt-BR" sz="2000" b="1" dirty="0"/>
              <a:t>a</a:t>
            </a:r>
            <a:r>
              <a:rPr lang="pt-BR" sz="2000" dirty="0"/>
              <a:t> da função é maior que zero, temos uma função crescente.</a:t>
            </a:r>
            <a:endParaRPr lang="en-US" sz="2000" dirty="0"/>
          </a:p>
          <a:p>
            <a:pPr marL="285750" indent="-285750" algn="just">
              <a:lnSpc>
                <a:spcPct val="90000"/>
              </a:lnSpc>
              <a:spcBef>
                <a:spcPts val="1000"/>
              </a:spcBef>
              <a:buFont typeface="Arial,Sans-Serif"/>
              <a:buChar char="•"/>
            </a:pPr>
            <a:r>
              <a:rPr lang="pt-BR" sz="2000" dirty="0"/>
              <a:t>Quando o </a:t>
            </a:r>
            <a:r>
              <a:rPr lang="pt-BR" sz="2000" b="1" dirty="0"/>
              <a:t>a</a:t>
            </a:r>
            <a:r>
              <a:rPr lang="pt-BR" sz="2000" dirty="0"/>
              <a:t> da função é menor que zero, temos uma função decrescente</a:t>
            </a:r>
            <a:r>
              <a:rPr lang="pt-BR" sz="1200" dirty="0"/>
              <a:t>.</a:t>
            </a:r>
            <a:endParaRPr lang="en-US" sz="1200" dirty="0"/>
          </a:p>
          <a:p>
            <a:pPr algn="just">
              <a:lnSpc>
                <a:spcPct val="90000"/>
              </a:lnSpc>
              <a:spcBef>
                <a:spcPts val="1000"/>
              </a:spcBef>
            </a:pPr>
            <a:endParaRPr lang="pt-BR" sz="2000" dirty="0"/>
          </a:p>
          <a:p>
            <a:pPr algn="just"/>
            <a:endParaRPr lang="pt-BR" dirty="0"/>
          </a:p>
        </p:txBody>
      </p:sp>
      <p:pic>
        <p:nvPicPr>
          <p:cNvPr id="5" name="Imagem 4" descr="Gráfico, Gráfico de linhas&#10;&#10;O conteúdo gerado por IA pode estar incorreto.">
            <a:extLst>
              <a:ext uri="{FF2B5EF4-FFF2-40B4-BE49-F238E27FC236}">
                <a16:creationId xmlns:a16="http://schemas.microsoft.com/office/drawing/2014/main" id="{073888CA-21BB-D915-1E29-4D406D5181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3316" y="1719403"/>
            <a:ext cx="4996983" cy="4024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29855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89213B-701E-1E9F-8B6A-5B3ED6FA0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0336" y="-3969"/>
            <a:ext cx="6663577" cy="813594"/>
          </a:xfrm>
        </p:spPr>
        <p:txBody>
          <a:bodyPr>
            <a:normAutofit/>
          </a:bodyPr>
          <a:lstStyle/>
          <a:p>
            <a:r>
              <a:rPr lang="pt-BR" sz="2800" b="1">
                <a:solidFill>
                  <a:schemeClr val="accent2">
                    <a:lumMod val="76000"/>
                  </a:schemeClr>
                </a:solidFill>
                <a:latin typeface="Aptos"/>
              </a:rPr>
              <a:t>Função da velocidade, cálculos Físicos.</a:t>
            </a:r>
            <a:endParaRPr lang="pt-BR" sz="2800" b="1" dirty="0">
              <a:solidFill>
                <a:schemeClr val="accent2">
                  <a:lumMod val="76000"/>
                </a:schemeClr>
              </a:solidFill>
              <a:latin typeface="Aptos"/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D8E8408-799A-B7F0-7CAD-4C9033B412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5014" y="588777"/>
            <a:ext cx="8483833" cy="42577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000" b="1" dirty="0"/>
              <a:t>C</a:t>
            </a:r>
            <a:r>
              <a:rPr lang="pt-BR" sz="2400" b="1" dirty="0"/>
              <a:t>omo chegamos na fórmula da velocidade no MUV?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28F13181-A3FC-346C-2EED-D3350B57AC78}"/>
              </a:ext>
            </a:extLst>
          </p:cNvPr>
          <p:cNvSpPr txBox="1"/>
          <p:nvPr/>
        </p:nvSpPr>
        <p:spPr>
          <a:xfrm>
            <a:off x="674028" y="1288397"/>
            <a:ext cx="9255917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000" dirty="0"/>
              <a:t>Sabemos que </a:t>
            </a:r>
            <a:r>
              <a:rPr lang="pt-BR" sz="2000" b="1" dirty="0"/>
              <a:t>aceleração</a:t>
            </a:r>
            <a:r>
              <a:rPr lang="pt-BR" sz="2000" dirty="0"/>
              <a:t> é a razão entre a variação da velocidade e o tempo: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ECDE2EC-580D-96F5-6B08-97A863720728}"/>
              </a:ext>
            </a:extLst>
          </p:cNvPr>
          <p:cNvSpPr txBox="1"/>
          <p:nvPr/>
        </p:nvSpPr>
        <p:spPr>
          <a:xfrm>
            <a:off x="679586" y="2525589"/>
            <a:ext cx="9791697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000" dirty="0"/>
              <a:t>Podemos reorganizar essa relação para encontrar a velocidade final: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E43D908D-1294-CBC6-FA39-8CADD6B8ECFF}"/>
              </a:ext>
            </a:extLst>
          </p:cNvPr>
          <p:cNvSpPr txBox="1"/>
          <p:nvPr/>
        </p:nvSpPr>
        <p:spPr>
          <a:xfrm>
            <a:off x="678130" y="3600861"/>
            <a:ext cx="10744198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000" dirty="0"/>
              <a:t>Como a variação de velocidade é a diferença entre a velocidade final </a:t>
            </a:r>
            <a:r>
              <a:rPr lang="pt-BR" sz="2000" i="1" dirty="0">
                <a:latin typeface="Cambria Math"/>
                <a:ea typeface="Cambria Math"/>
              </a:rPr>
              <a:t>v </a:t>
            </a:r>
            <a:r>
              <a:rPr lang="pt-BR" sz="2000" dirty="0"/>
              <a:t>e a velocidade inicial </a:t>
            </a:r>
            <a:r>
              <a:rPr lang="pt-BR" sz="2000" i="1" dirty="0">
                <a:latin typeface="Cambria Math"/>
                <a:ea typeface="Cambria Math"/>
              </a:rPr>
              <a:t>v0</a:t>
            </a:r>
            <a:r>
              <a:rPr lang="pt-BR" sz="2000" dirty="0"/>
              <a:t>: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3F7673FA-EE68-6A88-9340-3B90AC69E34B}"/>
              </a:ext>
            </a:extLst>
          </p:cNvPr>
          <p:cNvSpPr txBox="1"/>
          <p:nvPr/>
        </p:nvSpPr>
        <p:spPr>
          <a:xfrm>
            <a:off x="679584" y="4745315"/>
            <a:ext cx="6160292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000" dirty="0"/>
              <a:t>Isolando </a:t>
            </a:r>
            <a:r>
              <a:rPr lang="pt-BR" sz="2000" i="1" dirty="0">
                <a:latin typeface="Cambria Math"/>
                <a:ea typeface="Cambria Math"/>
              </a:rPr>
              <a:t>v</a:t>
            </a:r>
            <a:r>
              <a:rPr lang="pt-BR" sz="2000" dirty="0"/>
              <a:t>: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75F1CBB6-6616-A43C-78B5-FD84905A5C9F}"/>
              </a:ext>
            </a:extLst>
          </p:cNvPr>
          <p:cNvSpPr txBox="1"/>
          <p:nvPr/>
        </p:nvSpPr>
        <p:spPr>
          <a:xfrm>
            <a:off x="684611" y="5787776"/>
            <a:ext cx="7100886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000" dirty="0"/>
              <a:t>Essa é uma </a:t>
            </a:r>
            <a:r>
              <a:rPr lang="pt-BR" sz="2000" b="1" dirty="0"/>
              <a:t>equação do primeiro grau</a:t>
            </a:r>
            <a:r>
              <a:rPr lang="pt-BR" sz="2000" dirty="0"/>
              <a:t> na variável </a:t>
            </a:r>
            <a:r>
              <a:rPr lang="pt-BR" sz="2000" i="1" dirty="0">
                <a:latin typeface="Cambria Math"/>
                <a:ea typeface="Cambria Math"/>
              </a:rPr>
              <a:t>t</a:t>
            </a:r>
            <a:r>
              <a:rPr lang="pt-BR" sz="2000" dirty="0"/>
              <a:t>.</a:t>
            </a:r>
            <a:br>
              <a:rPr lang="pt-BR" sz="1200" dirty="0"/>
            </a:br>
            <a:endParaRPr lang="pt-BR" sz="1200" dirty="0"/>
          </a:p>
        </p:txBody>
      </p:sp>
      <p:pic>
        <p:nvPicPr>
          <p:cNvPr id="9" name="Imagem 8" descr="Uma imagem contendo Texto&#10;&#10;O conteúdo gerado por IA pode estar incorreto.">
            <a:extLst>
              <a:ext uri="{FF2B5EF4-FFF2-40B4-BE49-F238E27FC236}">
                <a16:creationId xmlns:a16="http://schemas.microsoft.com/office/drawing/2014/main" id="{E580467A-0E17-56CC-E046-F1228864E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8113" y="1709738"/>
            <a:ext cx="1152525" cy="723900"/>
          </a:xfrm>
          <a:prstGeom prst="rect">
            <a:avLst/>
          </a:prstGeom>
        </p:spPr>
      </p:pic>
      <p:pic>
        <p:nvPicPr>
          <p:cNvPr id="10" name="Imagem 9" descr="Uma imagem contendo Texto&#10;&#10;O conteúdo gerado por IA pode estar incorreto.">
            <a:extLst>
              <a:ext uri="{FF2B5EF4-FFF2-40B4-BE49-F238E27FC236}">
                <a16:creationId xmlns:a16="http://schemas.microsoft.com/office/drawing/2014/main" id="{074107FF-C538-736B-8FC3-4FF7803C70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1425" y="3098006"/>
            <a:ext cx="1485900" cy="49530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94329785-69D6-F2F6-F7D3-B50C803E6C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2862" y="4226719"/>
            <a:ext cx="1438275" cy="523875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9F6A67BE-D12D-3B89-D3D1-CF12FECC1F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26669" y="5143500"/>
            <a:ext cx="1609725" cy="52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521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C7B87C-CA69-16A7-F31D-67D550FE3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07775"/>
            <a:ext cx="10515600" cy="1325563"/>
          </a:xfrm>
        </p:spPr>
        <p:txBody>
          <a:bodyPr>
            <a:normAutofit/>
          </a:bodyPr>
          <a:lstStyle/>
          <a:p>
            <a:r>
              <a:rPr lang="pt-BR" sz="2800" b="1" dirty="0">
                <a:latin typeface="Aptos"/>
              </a:rPr>
              <a:t>Seu gráfico será do tipo: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DF17D8C4-1A12-F7F8-63DF-CA13C9FC94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5500" y="744282"/>
            <a:ext cx="5996526" cy="2442397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9AD2E54C-E1DE-6324-BDDC-1A5EE5FE1D52}"/>
              </a:ext>
            </a:extLst>
          </p:cNvPr>
          <p:cNvSpPr txBox="1"/>
          <p:nvPr/>
        </p:nvSpPr>
        <p:spPr>
          <a:xfrm>
            <a:off x="285293" y="3191806"/>
            <a:ext cx="10945905" cy="190821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pt-BR" sz="2000" dirty="0"/>
              <a:t>Gráfico da velocidade – reta (1º grau)</a:t>
            </a:r>
          </a:p>
          <a:p>
            <a:pPr algn="just"/>
            <a:r>
              <a:rPr lang="pt-BR" sz="2000" dirty="0"/>
              <a:t>“Quando desenhamos o gráfico de </a:t>
            </a:r>
            <a:r>
              <a:rPr lang="pt-BR" sz="2000" i="1" dirty="0">
                <a:latin typeface="Cambria Math"/>
                <a:ea typeface="Cambria Math"/>
              </a:rPr>
              <a:t>v=v0+αt,</a:t>
            </a:r>
            <a:r>
              <a:rPr lang="pt-BR" sz="2000" dirty="0"/>
              <a:t> obtemos uma </a:t>
            </a:r>
            <a:r>
              <a:rPr lang="pt-BR" sz="2000" b="1" dirty="0"/>
              <a:t>reta</a:t>
            </a:r>
            <a:r>
              <a:rPr lang="pt-BR" sz="2000" dirty="0"/>
              <a:t>.</a:t>
            </a:r>
          </a:p>
          <a:p>
            <a:pPr marL="285750" indent="-285750" algn="just">
              <a:buFont typeface="Symbol"/>
              <a:buChar char="•"/>
            </a:pPr>
            <a:r>
              <a:rPr lang="pt-BR" sz="2000" dirty="0"/>
              <a:t>O </a:t>
            </a:r>
            <a:r>
              <a:rPr lang="pt-BR" sz="2000" b="1" dirty="0"/>
              <a:t>coeficiente angular, α</a:t>
            </a:r>
            <a:r>
              <a:rPr lang="pt-BR" sz="2000" i="1" dirty="0">
                <a:latin typeface="Cambria Math"/>
                <a:ea typeface="Cambria Math"/>
              </a:rPr>
              <a:t> é a inclinação da reta → representa a aceleração.</a:t>
            </a:r>
            <a:endParaRPr lang="pt-BR" sz="2000">
              <a:latin typeface="Cambria Math"/>
              <a:ea typeface="Cambria Math"/>
            </a:endParaRPr>
          </a:p>
          <a:p>
            <a:pPr marL="285750" indent="-285750" algn="just">
              <a:buFont typeface="Symbol"/>
              <a:buChar char="•"/>
            </a:pPr>
            <a:r>
              <a:rPr lang="pt-BR" sz="2000" dirty="0"/>
              <a:t>O </a:t>
            </a:r>
            <a:r>
              <a:rPr lang="pt-BR" sz="2000" b="1" dirty="0"/>
              <a:t>coeficiente linear</a:t>
            </a:r>
            <a:r>
              <a:rPr lang="pt-BR" sz="2000" dirty="0"/>
              <a:t> </a:t>
            </a:r>
            <a:r>
              <a:rPr lang="pt-BR" sz="2000" i="1" dirty="0">
                <a:latin typeface="Cambria Math"/>
                <a:ea typeface="Cambria Math"/>
              </a:rPr>
              <a:t>v0 </a:t>
            </a:r>
            <a:r>
              <a:rPr lang="pt-BR" sz="2000" dirty="0"/>
              <a:t>é o ponto onde a reta intercepta o eixo da velocidade → velocidade no instante inicial.</a:t>
            </a:r>
          </a:p>
          <a:p>
            <a:endParaRPr lang="pt-BR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34F7A302-3C15-34F8-64DD-20BB029A48FE}"/>
              </a:ext>
            </a:extLst>
          </p:cNvPr>
          <p:cNvSpPr txBox="1"/>
          <p:nvPr/>
        </p:nvSpPr>
        <p:spPr>
          <a:xfrm>
            <a:off x="290859" y="4793816"/>
            <a:ext cx="10363199" cy="132343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000" dirty="0">
                <a:ea typeface="+mn-lt"/>
                <a:cs typeface="+mn-lt"/>
              </a:rPr>
              <a:t> Portanto, esse gráfico mostra que: </a:t>
            </a:r>
            <a:endParaRPr lang="pt-BR" sz="2000" dirty="0"/>
          </a:p>
          <a:p>
            <a:pPr marL="342900" indent="-342900">
              <a:buFont typeface="Arial"/>
              <a:buChar char="•"/>
            </a:pPr>
            <a:r>
              <a:rPr lang="pt-BR" sz="2000" dirty="0">
                <a:ea typeface="+mn-lt"/>
                <a:cs typeface="+mn-lt"/>
              </a:rPr>
              <a:t>Quando a aceleração é positiva, a velocidade cresce linearmente. </a:t>
            </a:r>
            <a:endParaRPr lang="pt-BR" sz="2000"/>
          </a:p>
          <a:p>
            <a:pPr marL="342900" indent="-342900">
              <a:buFont typeface="Arial"/>
              <a:buChar char="•"/>
            </a:pPr>
            <a:r>
              <a:rPr lang="pt-BR" sz="2000" dirty="0">
                <a:ea typeface="+mn-lt"/>
                <a:cs typeface="+mn-lt"/>
              </a:rPr>
              <a:t>Quando a aceleração é negativa, temos uma reta descendente. </a:t>
            </a:r>
            <a:endParaRPr lang="pt-BR" sz="2000"/>
          </a:p>
          <a:p>
            <a:pPr marL="342900" indent="-342900">
              <a:buFont typeface="Arial"/>
              <a:buChar char="•"/>
            </a:pPr>
            <a:r>
              <a:rPr lang="pt-BR" sz="2000" dirty="0">
                <a:ea typeface="+mn-lt"/>
                <a:cs typeface="+mn-lt"/>
              </a:rPr>
              <a:t>Se a aceleração é zero, a reta é horizontal (movimento uniforme).</a:t>
            </a:r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1522954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D4FF0B-91C7-2EEC-7B71-66C519BFD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075" y="-3969"/>
            <a:ext cx="9467851" cy="956470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chemeClr val="accent2"/>
                </a:solidFill>
                <a:latin typeface="Aptos"/>
              </a:rPr>
              <a:t>Problema matemático contextualizado na Física.</a:t>
            </a:r>
            <a:endParaRPr lang="pt-BR" sz="3200" dirty="0">
              <a:solidFill>
                <a:schemeClr val="accent2"/>
              </a:solidFill>
            </a:endParaRPr>
          </a:p>
        </p:txBody>
      </p:sp>
      <p:pic>
        <p:nvPicPr>
          <p:cNvPr id="4" name="Imagem 3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D0C7C922-F1D6-C35A-A6BF-F6709DC924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311" y="1147480"/>
            <a:ext cx="10086974" cy="4576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2818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Tabela&#10;&#10;O conteúdo gerado por IA pode estar incorreto.">
            <a:extLst>
              <a:ext uri="{FF2B5EF4-FFF2-40B4-BE49-F238E27FC236}">
                <a16:creationId xmlns:a16="http://schemas.microsoft.com/office/drawing/2014/main" id="{2CA342D7-6456-2FAA-9669-FCF35EFB16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362" y="361670"/>
            <a:ext cx="11154335" cy="5988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81540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Gráfico, Gráfico de linhas&#10;&#10;O conteúdo gerado por IA pode estar incorreto.">
            <a:extLst>
              <a:ext uri="{FF2B5EF4-FFF2-40B4-BE49-F238E27FC236}">
                <a16:creationId xmlns:a16="http://schemas.microsoft.com/office/drawing/2014/main" id="{4B11C21A-B276-AEEF-0D0D-AFE6E773E9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0445" y="163326"/>
            <a:ext cx="7825627" cy="6363260"/>
          </a:xfrm>
          <a:prstGeom prst="rect">
            <a:avLst/>
          </a:prstGeom>
        </p:spPr>
      </p:pic>
      <p:pic>
        <p:nvPicPr>
          <p:cNvPr id="5" name="Imagem 4" descr="Uma imagem contendo Texto&#10;&#10;O conteúdo gerado por IA pode estar incorreto.">
            <a:extLst>
              <a:ext uri="{FF2B5EF4-FFF2-40B4-BE49-F238E27FC236}">
                <a16:creationId xmlns:a16="http://schemas.microsoft.com/office/drawing/2014/main" id="{C20D6EA9-FAB6-7818-84F0-C218840F9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02" y="3430400"/>
            <a:ext cx="7200900" cy="1095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34386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D26C64-DCF1-0B20-6E28-399DC4EC8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Conclusão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5B67827-D717-9798-7763-C4CBA3B490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75658"/>
            <a:ext cx="10515600" cy="349408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just">
              <a:buNone/>
            </a:pPr>
            <a:r>
              <a:rPr lang="pt-BR" dirty="0"/>
              <a:t> </a:t>
            </a:r>
            <a:r>
              <a:rPr lang="pt-BR" b="1" dirty="0"/>
              <a:t>As funções de primeiro e segundo grau são ferramentas indispensáveis para os cálculos Físicos, convém observar que a Física procura explicar os eventos em todas as perspectivas, aninhando cálculos e fórmulas muitas vezes de forma complexa, no entanto a Matemática e seus fundamentos são o alicerce de todo o conhecimento, dominar a matemática é dominar a arte do saber.</a:t>
            </a:r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80052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4EF041-2689-DD29-22F1-83FE7A39B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306702C-EEB1-E495-8400-3DD2097D7C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algn="just"/>
            <a:r>
              <a:rPr lang="pt-BR" sz="2000" b="1" dirty="0"/>
              <a:t>ChatGPT,</a:t>
            </a:r>
          </a:p>
          <a:p>
            <a:pPr algn="just"/>
            <a:r>
              <a:rPr lang="pt-BR" sz="2000" b="1" dirty="0"/>
              <a:t>Microsoft </a:t>
            </a:r>
            <a:r>
              <a:rPr lang="pt-BR" sz="2000" b="1" err="1"/>
              <a:t>copilot</a:t>
            </a:r>
            <a:r>
              <a:rPr lang="pt-BR" sz="2000" b="1" dirty="0"/>
              <a:t>,</a:t>
            </a:r>
          </a:p>
          <a:p>
            <a:pPr algn="just"/>
            <a:r>
              <a:rPr lang="pt-BR" sz="2000" b="1" dirty="0"/>
              <a:t>Google AI,</a:t>
            </a:r>
          </a:p>
          <a:p>
            <a:pPr algn="just"/>
            <a:endParaRPr lang="pt-BR" sz="2000" b="1" dirty="0"/>
          </a:p>
          <a:p>
            <a:pPr algn="just"/>
            <a:r>
              <a:rPr lang="pt-BR" sz="2000" b="1" dirty="0"/>
              <a:t>Os fundamentos da Física, Ramalho, Ivan, Nicolau, Toledo. Volume um, mecânica, páginas 97,98. (exercícios resolvidos, R.30).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135265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E54657-1E17-489E-F829-EEDA04AE0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8731" y="365125"/>
            <a:ext cx="2014538" cy="873126"/>
          </a:xfrm>
        </p:spPr>
        <p:txBody>
          <a:bodyPr>
            <a:normAutofit/>
          </a:bodyPr>
          <a:lstStyle/>
          <a:p>
            <a:r>
              <a:rPr lang="pt-BR" sz="2000" b="1" dirty="0"/>
              <a:t>Interatividade</a:t>
            </a:r>
          </a:p>
        </p:txBody>
      </p:sp>
      <p:pic>
        <p:nvPicPr>
          <p:cNvPr id="4" name="Imagem 3" descr="Código QR&#10;&#10;O conteúdo gerado por IA pode estar incorreto.">
            <a:extLst>
              <a:ext uri="{FF2B5EF4-FFF2-40B4-BE49-F238E27FC236}">
                <a16:creationId xmlns:a16="http://schemas.microsoft.com/office/drawing/2014/main" id="{0EE23786-9A3E-0BF6-266C-771738BA0B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251476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14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15" baseType="lpstr">
      <vt:lpstr>Tema do Office</vt:lpstr>
      <vt:lpstr>Apresentação do PowerPoint</vt:lpstr>
      <vt:lpstr>Disciplina: Matemática fundamental</vt:lpstr>
      <vt:lpstr>Problema de Matemática contextualizado na Física</vt:lpstr>
      <vt:lpstr>Apresentação do PowerPoint</vt:lpstr>
      <vt:lpstr>Introdução</vt:lpstr>
      <vt:lpstr>Noções matemáticas</vt:lpstr>
      <vt:lpstr>Função da velocidade, cálculos Físicos.</vt:lpstr>
      <vt:lpstr>Seu gráfico será do tipo:</vt:lpstr>
      <vt:lpstr>Problema matemático contextualizado na Física.</vt:lpstr>
      <vt:lpstr>Apresentação do PowerPoint</vt:lpstr>
      <vt:lpstr>Apresentação do PowerPoint</vt:lpstr>
      <vt:lpstr>Conclusão</vt:lpstr>
      <vt:lpstr>Referências</vt:lpstr>
      <vt:lpstr>Interatividade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1068</cp:revision>
  <dcterms:created xsi:type="dcterms:W3CDTF">2025-11-22T15:06:55Z</dcterms:created>
  <dcterms:modified xsi:type="dcterms:W3CDTF">2026-01-26T05:13:35Z</dcterms:modified>
</cp:coreProperties>
</file>