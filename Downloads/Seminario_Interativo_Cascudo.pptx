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1B70C-A042-42D8-82B8-CC73B047534E}" v="8" dt="2025-12-04T02:59:16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1124712"/>
            <a:ext cx="8277606" cy="3172968"/>
          </a:xfrm>
        </p:spPr>
        <p:txBody>
          <a:bodyPr anchor="b">
            <a:normAutofit/>
          </a:bodyPr>
          <a:lstStyle>
            <a:lvl1pPr algn="l">
              <a:defRPr sz="1066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4727448"/>
            <a:ext cx="8277606" cy="1481328"/>
          </a:xfrm>
        </p:spPr>
        <p:txBody>
          <a:bodyPr>
            <a:normAutofit/>
          </a:bodyPr>
          <a:lstStyle>
            <a:lvl1pPr marL="0" indent="0" algn="l">
              <a:buNone/>
              <a:defRPr sz="3733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6356351"/>
            <a:ext cx="20574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24870" y="434802"/>
            <a:ext cx="146304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4501201"/>
            <a:ext cx="8276022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510186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15322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4981421"/>
            <a:ext cx="8351217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5118581"/>
            <a:ext cx="10972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640080"/>
            <a:ext cx="8167878" cy="4114800"/>
          </a:xfrm>
        </p:spPr>
        <p:txBody>
          <a:bodyPr anchor="b">
            <a:normAutofit/>
          </a:bodyPr>
          <a:lstStyle>
            <a:lvl1pPr>
              <a:defRPr sz="8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5102352"/>
            <a:ext cx="795528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27991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2478024"/>
            <a:ext cx="370332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2478024"/>
            <a:ext cx="370332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06595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3203688"/>
            <a:ext cx="3703320" cy="2968512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3203688"/>
            <a:ext cx="3703320" cy="29685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52200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533525"/>
            <a:ext cx="8187797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971798"/>
            <a:ext cx="96012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938528"/>
            <a:ext cx="7632954" cy="2990088"/>
          </a:xfr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5118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54645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709928"/>
            <a:ext cx="5047488" cy="4096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29000"/>
            <a:ext cx="2324862" cy="2066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62587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1161288"/>
            <a:ext cx="5047488" cy="4645152"/>
          </a:xfrm>
        </p:spPr>
        <p:txBody>
          <a:bodyPr anchor="t">
            <a:normAutofit/>
          </a:bodyPr>
          <a:lstStyle>
            <a:lvl1pPr marL="0" indent="0">
              <a:buNone/>
              <a:defRPr sz="37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38144"/>
            <a:ext cx="2324862" cy="205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989287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78766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70548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0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instagram.com/institutocascudo/" TargetMode="External"/><Relationship Id="rId7" Type="http://schemas.openxmlformats.org/officeDocument/2006/relationships/hyperlink" Target="https://www.facebook.com/instcascudo?locale=pt_BR" TargetMode="External"/><Relationship Id="rId2" Type="http://schemas.openxmlformats.org/officeDocument/2006/relationships/hyperlink" Target="https://www.cascudo.org.b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spacoculturalcamaracascudo.blogspot.com/" TargetMode="External"/><Relationship Id="rId5" Type="http://schemas.openxmlformats.org/officeDocument/2006/relationships/hyperlink" Target="https://www.cascudo.org.br/biblioteca/" TargetMode="External"/><Relationship Id="rId4" Type="http://schemas.openxmlformats.org/officeDocument/2006/relationships/hyperlink" Target="https://mcc.ufrn.br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459497" y="1193777"/>
            <a:ext cx="8242763" cy="3804311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600" dirty="0">
                <a:solidFill>
                  <a:srgbClr val="36F805"/>
                </a:solidFill>
                <a:latin typeface="Segoe UI"/>
                <a:cs typeface="Segoe UI"/>
              </a:rPr>
              <a:t>Instituto Federal de Educação, Ciência e Tecnologia do Rio Grande do Norte</a:t>
            </a:r>
            <a:endParaRPr lang="pt-BR" dirty="0"/>
          </a:p>
          <a:p>
            <a:pPr algn="ctr"/>
            <a:r>
              <a:rPr lang="pt-BR" sz="2600" dirty="0">
                <a:solidFill>
                  <a:srgbClr val="36F805"/>
                </a:solidFill>
                <a:latin typeface="Segoe UI"/>
                <a:cs typeface="Segoe UI"/>
              </a:rPr>
              <a:t>Campus Natal-Central</a:t>
            </a:r>
            <a:br>
              <a:rPr lang="pt-BR" sz="2600" dirty="0">
                <a:solidFill>
                  <a:srgbClr val="36F805"/>
                </a:solidFill>
                <a:latin typeface="Segoe UI"/>
                <a:cs typeface="Segoe UI"/>
              </a:rPr>
            </a:br>
            <a:endParaRPr lang="pt-BR" sz="2600">
              <a:latin typeface="Segoe UI"/>
              <a:cs typeface="Segoe UI"/>
            </a:endParaRPr>
          </a:p>
          <a:p>
            <a:pPr algn="ctr"/>
            <a:r>
              <a:rPr lang="pt-BR" sz="2600" dirty="0">
                <a:solidFill>
                  <a:srgbClr val="FFFF00"/>
                </a:solidFill>
              </a:rPr>
              <a:t>Disciplina: Práticas educativas</a:t>
            </a:r>
            <a:br>
              <a:rPr lang="pt-BR" sz="2600" dirty="0">
                <a:solidFill>
                  <a:srgbClr val="FFFF00"/>
                </a:solidFill>
              </a:rPr>
            </a:br>
            <a:endParaRPr lang="pt-BR" sz="2600" dirty="0"/>
          </a:p>
          <a:p>
            <a:pPr algn="ctr"/>
            <a:r>
              <a:rPr lang="pt-BR" sz="2400" dirty="0">
                <a:solidFill>
                  <a:srgbClr val="FFC0CB"/>
                </a:solidFill>
                <a:latin typeface="Segoe UI"/>
                <a:cs typeface="Segoe UI"/>
              </a:rPr>
              <a:t>Prof.a </a:t>
            </a:r>
            <a:r>
              <a:rPr lang="pt-BR" sz="2400" err="1">
                <a:solidFill>
                  <a:srgbClr val="FFC0CB"/>
                </a:solidFill>
                <a:latin typeface="Segoe UI"/>
                <a:cs typeface="Segoe UI"/>
              </a:rPr>
              <a:t>DR.a</a:t>
            </a:r>
            <a:r>
              <a:rPr lang="pt-BR" sz="2400" dirty="0">
                <a:solidFill>
                  <a:srgbClr val="FFC0CB"/>
                </a:solidFill>
                <a:latin typeface="Segoe UI"/>
                <a:cs typeface="Segoe UI"/>
              </a:rPr>
              <a:t> Viviane Souza De Oliveira</a:t>
            </a:r>
            <a:endParaRPr lang="pt-BR" sz="2400"/>
          </a:p>
          <a:p>
            <a:pPr algn="ctr"/>
            <a:r>
              <a:rPr lang="pt-BR" sz="2800" dirty="0">
                <a:solidFill>
                  <a:srgbClr val="10B981"/>
                </a:solidFill>
                <a:latin typeface="Segoe UI"/>
                <a:cs typeface="Segoe UI"/>
              </a:rPr>
              <a:t>Aluno: Rafael Bruno da Silva</a:t>
            </a:r>
            <a:br>
              <a:rPr lang="pt-BR" sz="2800" dirty="0">
                <a:solidFill>
                  <a:srgbClr val="10B981"/>
                </a:solidFill>
                <a:latin typeface="Segoe UI"/>
                <a:cs typeface="Segoe UI"/>
              </a:rPr>
            </a:br>
            <a:endParaRPr lang="pt-BR" sz="2800" dirty="0"/>
          </a:p>
          <a:p>
            <a:pPr algn="ctr"/>
            <a:r>
              <a:rPr lang="pt-BR" sz="3600" dirty="0">
                <a:solidFill>
                  <a:srgbClr val="FFFF00"/>
                </a:solidFill>
              </a:rPr>
              <a:t>Seminário interativo — A ciência nas artes</a:t>
            </a:r>
            <a:endParaRPr lang="pt-BR" sz="3600" dirty="0"/>
          </a:p>
          <a:p>
            <a:endParaRPr lang="pt-BR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10161" y="4842379"/>
            <a:ext cx="8392098" cy="1481624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ctr"/>
            <a:r>
              <a:rPr lang="pt-BR" sz="3800" dirty="0">
                <a:solidFill>
                  <a:srgbClr val="1F2937"/>
                </a:solidFill>
                <a:latin typeface="Impact"/>
              </a:rPr>
              <a:t>Luís da Câmara Cascudo</a:t>
            </a:r>
            <a:endParaRPr lang="pt-BR" dirty="0"/>
          </a:p>
          <a:p>
            <a:pPr algn="ctr"/>
            <a:r>
              <a:rPr lang="pt-BR" sz="3700" dirty="0">
                <a:solidFill>
                  <a:srgbClr val="002060"/>
                </a:solidFill>
                <a:latin typeface="Segoe UI"/>
                <a:cs typeface="Segoe UI"/>
              </a:rPr>
              <a:t>Historiador, sociólogo, musicólogo, antropólogo, etnógrafo, folclorista, poeta, cronista, professor, advogado, jornalista e escritor brasileiro</a:t>
            </a:r>
            <a:endParaRPr lang="pt-BR" sz="3700">
              <a:solidFill>
                <a:srgbClr val="002060"/>
              </a:solidFill>
            </a:endParaRPr>
          </a:p>
        </p:txBody>
      </p:sp>
      <p:pic>
        <p:nvPicPr>
          <p:cNvPr id="4" name="Imagem 3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9870913A-6F40-6184-E577-B0B28217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39" y="223215"/>
            <a:ext cx="2657475" cy="828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20915" y="417513"/>
            <a:ext cx="7090253" cy="653860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002060"/>
                </a:solidFill>
                <a:latin typeface="Segoe UI"/>
                <a:cs typeface="Segoe UI"/>
              </a:rPr>
              <a:t>Quem foi Luís da Câmara Cascudo?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48256" y="2511425"/>
            <a:ext cx="8303544" cy="394568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pt-BR" sz="3000" dirty="0">
                <a:solidFill>
                  <a:srgbClr val="1F2937"/>
                </a:solidFill>
                <a:latin typeface="Impact"/>
                <a:cs typeface="Segoe UI"/>
              </a:rPr>
              <a:t> Luís da Câmara Cascudo (1898-1986) foi um renomado folclorista, jornalista, professor e historiador brasileiro, considerado um dos maiores estudiosos da cultura popular do Brasil. Nascido e falecido em Natal, Rio Grande do Norte, ele dedicou sua vida a registrar e analisar as tradições, costumes e a sabedoria do povo brasileiro, deixando um vasto legado cultural.</a:t>
            </a:r>
            <a:endParaRPr lang="pt-BR" dirty="0"/>
          </a:p>
        </p:txBody>
      </p:sp>
      <p:pic>
        <p:nvPicPr>
          <p:cNvPr id="4" name="Imagem 3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C16B761B-C7B1-9184-CE78-2CB5A3DC2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326" y="992148"/>
            <a:ext cx="3489158" cy="14611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17631" y="549275"/>
            <a:ext cx="8326369" cy="720126"/>
          </a:xfrm>
        </p:spPr>
        <p:txBody>
          <a:bodyPr/>
          <a:lstStyle/>
          <a:p>
            <a:r>
              <a:rPr lang="pt-BR" sz="3800" dirty="0">
                <a:solidFill>
                  <a:srgbClr val="002060"/>
                </a:solidFill>
                <a:latin typeface="Segoe UI"/>
                <a:cs typeface="Segoe UI"/>
              </a:rPr>
              <a:t>Câmara Cascudo como professor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439446"/>
            <a:ext cx="8665440" cy="37706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pt-BR" sz="3000">
                <a:solidFill>
                  <a:srgbClr val="1F2937"/>
                </a:solidFill>
                <a:latin typeface="Impact"/>
              </a:rPr>
              <a:t>Câmara Cascudo foi professor de várias disciplinas e em diferentes instituições, incluindo História do Brasil e História da Civilização e Direito Internacional Público.</a:t>
            </a:r>
            <a:endParaRPr lang="pt-BR" sz="3000"/>
          </a:p>
        </p:txBody>
      </p:sp>
      <p:pic>
        <p:nvPicPr>
          <p:cNvPr id="4" name="Imagem 3" descr="Foto preta e branca de homem sentado em frente a mesa&#10;&#10;O conteúdo gerado por IA pode estar incorreto.">
            <a:extLst>
              <a:ext uri="{FF2B5EF4-FFF2-40B4-BE49-F238E27FC236}">
                <a16:creationId xmlns:a16="http://schemas.microsoft.com/office/drawing/2014/main" id="{AECF85AD-F578-8EE2-A8B3-BF43783C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584818"/>
            <a:ext cx="4210050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48885" y="571151"/>
            <a:ext cx="7254465" cy="556059"/>
          </a:xfrm>
        </p:spPr>
        <p:txBody>
          <a:bodyPr>
            <a:normAutofit fontScale="90000"/>
          </a:bodyPr>
          <a:lstStyle/>
          <a:p>
            <a:r>
              <a:rPr lang="pt-BR" sz="3800" dirty="0">
                <a:solidFill>
                  <a:srgbClr val="002060"/>
                </a:solidFill>
                <a:latin typeface="Segoe UI"/>
                <a:cs typeface="Segoe UI"/>
              </a:rPr>
              <a:t>Em quais instituições ele ensinou?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34808" y="1581188"/>
            <a:ext cx="7954484" cy="47660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pt-BR" sz="3000" dirty="0">
                <a:solidFill>
                  <a:srgbClr val="1F2937"/>
                </a:solidFill>
                <a:latin typeface="Impact"/>
              </a:rPr>
              <a:t>&gt;&gt;&gt; Colégio Atheneu: Lecionou História do Brasil em 1928 e História da Civilização em 1934.</a:t>
            </a:r>
            <a:endParaRPr lang="pt-BR" dirty="0"/>
          </a:p>
          <a:p>
            <a:pPr algn="just"/>
            <a:r>
              <a:rPr lang="pt-BR" sz="3000">
                <a:solidFill>
                  <a:srgbClr val="1F2937"/>
                </a:solidFill>
                <a:latin typeface="Impact"/>
              </a:rPr>
              <a:t>&gt;&gt;&gt; Instituto de Música de Natal: Foi um dos fundadores e professor de História da Música por muitos anos.</a:t>
            </a:r>
            <a:endParaRPr lang="pt-BR"/>
          </a:p>
          <a:p>
            <a:pPr algn="just"/>
            <a:r>
              <a:rPr lang="pt-BR" sz="3000">
                <a:solidFill>
                  <a:srgbClr val="1F2937"/>
                </a:solidFill>
                <a:latin typeface="Impact"/>
              </a:rPr>
              <a:t>&gt;&gt;&gt; Universidade Federal do Rio Grande do Norte (UFRN): Tornou-se professor de Direito Internacional Público em 1951.</a:t>
            </a:r>
            <a:endParaRPr lang="pt-BR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70779" y="538163"/>
            <a:ext cx="5810676" cy="1179512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rgbClr val="002060"/>
                </a:solidFill>
                <a:latin typeface="Segoe UI"/>
                <a:cs typeface="Segoe UI"/>
              </a:rPr>
              <a:t>Qual era a abordagem Pedagógica:</a:t>
            </a:r>
            <a:endParaRPr lang="pt-BR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7195" y="1898734"/>
            <a:ext cx="8195116" cy="406599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/>
            <a:r>
              <a:rPr lang="pt-BR" sz="3000" dirty="0">
                <a:solidFill>
                  <a:srgbClr val="1F2937"/>
                </a:solidFill>
                <a:latin typeface="Impact"/>
              </a:rPr>
              <a:t>Pesquisa de Campo: Cascudo gostava de vivenciar e observar diretamente o que estudava, o que conferia autenticidade à sua obra, como sua participação em sessões de catimbó.</a:t>
            </a:r>
            <a:endParaRPr lang="pt-BR" dirty="0"/>
          </a:p>
          <a:p>
            <a:pPr algn="just"/>
            <a:r>
              <a:rPr lang="pt-BR" sz="3000">
                <a:solidFill>
                  <a:srgbClr val="1F2937"/>
                </a:solidFill>
                <a:latin typeface="Impact"/>
              </a:rPr>
              <a:t>Valorização da Cultura Popular: Sua atuação como professor foi marcada pela valorização do saber popular e da diversidade cultural brasileira, tornando-o um dos maiores "descobridores do Brasil"</a:t>
            </a:r>
            <a:endParaRPr lang="pt-BR"/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19210" y="691466"/>
            <a:ext cx="6773202" cy="512307"/>
          </a:xfrm>
        </p:spPr>
        <p:txBody>
          <a:bodyPr>
            <a:normAutofit fontScale="90000"/>
          </a:bodyPr>
          <a:lstStyle/>
          <a:p>
            <a:r>
              <a:rPr lang="pt-BR" sz="3800" dirty="0">
                <a:solidFill>
                  <a:srgbClr val="002060"/>
                </a:solidFill>
                <a:latin typeface="Segoe UI"/>
                <a:cs typeface="Segoe UI"/>
              </a:rPr>
              <a:t>Obras e Atuação como Professor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745256"/>
            <a:ext cx="8840445" cy="442694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just"/>
            <a:r>
              <a:t>.</a:t>
            </a:r>
            <a:r>
              <a:rPr lang="pt-BR" sz="3000">
                <a:solidFill>
                  <a:srgbClr val="1F2937"/>
                </a:solidFill>
                <a:latin typeface="Impact"/>
              </a:rPr>
              <a:t>Divulgação da Cultura Popular: Cascudo foi um incansável defensor da cultura popular, valorizando as tradições, os mitos e as expressões culturais do povo brasileiro. Seu trabalho como professor e pesquisador visava a ensinar e a transmitir esse conhecimento.</a:t>
            </a:r>
            <a:endParaRPr lang="pt-BR" dirty="0"/>
          </a:p>
          <a:p>
            <a:pPr algn="just"/>
            <a:r>
              <a:rPr lang="pt-BR" sz="3000">
                <a:solidFill>
                  <a:srgbClr val="1F2937"/>
                </a:solidFill>
                <a:latin typeface="Impact"/>
              </a:rPr>
              <a:t>Criação da Universidade Popular: Em Natal, Cascudo foi um dos idealizadores da Universidade Popular, uma iniciativa que visava a promover a educação e a formação de conhecimento, especialmente para a população.</a:t>
            </a:r>
            <a:endParaRPr lang="pt-BR"/>
          </a:p>
          <a:p>
            <a:pPr algn="just"/>
            <a:r>
              <a:rPr lang="pt-BR" sz="3000" dirty="0">
                <a:solidFill>
                  <a:srgbClr val="1F2937"/>
                </a:solidFill>
                <a:latin typeface="Impact"/>
              </a:rPr>
              <a:t>Coordenação de Departamentos e Eventos: Como parte de sua atuação no setor público, ele coordenou o Departamento de Educação do estado, patrocinando e participando de diversos eventos e congressos de caráter regional e nacional.</a:t>
            </a:r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01995" y="1067370"/>
            <a:ext cx="8085737" cy="55638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/>
            <a:r>
              <a:rPr lang="pt-BR" sz="3000" dirty="0">
                <a:latin typeface="Impact"/>
              </a:rPr>
              <a:t>Pesquisa Etnográfica: Cascudo realizava pesquisas de campo, vivenciando a realidade do povo para coletar e registrar material para suas obras, como o catimbó.</a:t>
            </a:r>
            <a:endParaRPr lang="pt-BR" dirty="0"/>
          </a:p>
          <a:p>
            <a:pPr algn="just"/>
            <a:r>
              <a:rPr lang="pt-BR" sz="3000" dirty="0">
                <a:latin typeface="Impact"/>
              </a:rPr>
              <a:t>Publicação de Coletâneas: No período entre 1950 e 1960, organizou diversas coletâneas de textos históricos, etnográficos e sobre mitos folclóricos, disseminando o conhecimento e formando jovens e pesquisadores.</a:t>
            </a:r>
            <a:endParaRPr lang="pt-BR" dirty="0"/>
          </a:p>
          <a:p>
            <a:pPr algn="just"/>
            <a:r>
              <a:rPr lang="pt-BR" sz="3000" dirty="0">
                <a:latin typeface="Impact"/>
              </a:rPr>
              <a:t>Valorização da Tradição e da Comunicação: A atuação de Cascudo como professor ia além da sala de aula, englobando o incentivo à pesquisa e ao estudo do povo brasileiro, como o que ele desenvolveu no Portal Mutirão do Brasileirismo Comunicacional.</a:t>
            </a:r>
            <a:endParaRPr lang="pt-BR" dirty="0"/>
          </a:p>
          <a:p>
            <a:pPr algn="just"/>
            <a:r>
              <a:rPr lang="pt-BR" sz="3000" dirty="0">
                <a:latin typeface="Impact"/>
              </a:rPr>
              <a:t>Atuação na UFRN: Na Universidade Federal do Rio Grande do Norte, Cascudo atuou como professor de Direito Internacional Público e foi um dos responsáveis pela criação do Instituto de Antropologia e pelo Museu Câmara Cascudo.</a:t>
            </a:r>
            <a:endParaRPr lang="pt-BR" dirty="0">
              <a:latin typeface="Avenir Next LT Pro"/>
            </a:endParaRPr>
          </a:p>
          <a:p>
            <a:pPr marL="0" indent="0">
              <a:buNone/>
            </a:pPr>
            <a:br>
              <a:rPr lang="en-US" dirty="0"/>
            </a:br>
            <a:endParaRPr lang="en-US"/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88DCD1-6A02-7774-7034-5FA91B9D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5927-EA76-4ADF-B95C-99AAB241A20D}" type="datetime1">
              <a:t>03/12/2025</a:t>
            </a:fld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E407A7-6BAE-6FD9-4AE8-F6996E4E39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78617" y="450835"/>
            <a:ext cx="5843489" cy="53498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Segoe UI"/>
                <a:cs typeface="Segoe UI"/>
              </a:rPr>
              <a:t>Homenagens Póstumas</a:t>
            </a:r>
            <a:endParaRPr lang="pt-BR" sz="2400" dirty="0">
              <a:solidFill>
                <a:srgbClr val="002060"/>
              </a:solidFill>
            </a:endParaRPr>
          </a:p>
          <a:p>
            <a:endParaRPr lang="pt-BR" sz="53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8EC47-C0BD-D5C1-2E97-72EEE4C0AC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7937" y="2590362"/>
            <a:ext cx="8206546" cy="412311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Diploma de Honra ao Mérito (in memoriam, 2015)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Entregue pela Assembleia Legislativa do RN, reconhecendo seu legado cultural.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Sessão Solene no Senado Federal (2011)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Reverência aos 25 anos de falecimento, destacando-o como "símbolo da cultura potiguar".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Sessão na Assembleia Legislativa do RN (2011)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Homenagem coletiva por sua contribuição à educação e folclore.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Placa Comemorativa na ANL-RN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Instalada em sua memória, celebrando sua militância cultural.</a:t>
            </a:r>
            <a:endParaRPr lang="pt-BR" dirty="0"/>
          </a:p>
          <a:p>
            <a:r>
              <a:rPr lang="pt-BR" b="1" dirty="0">
                <a:solidFill>
                  <a:srgbClr val="FAFAFC"/>
                </a:solidFill>
                <a:latin typeface="Segoe UI"/>
                <a:cs typeface="Segoe UI"/>
              </a:rPr>
              <a:t>Espaços de Pesquisa e Museus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Museu Câmara Cascudo (UFRN, Natal)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Maior museu do RN, com +162 mil peças em arqueologia, paleontologia e estudos culturais. Criado por ele em 1963, é um hub para pesquisas etnográficas.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Instituto Câmara Cascudo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Centro de documentação com biblioteca digital de suas obras, promovendo eventos e congressos sobre folclore.</a:t>
            </a:r>
            <a:endParaRPr lang="pt-BR" dirty="0"/>
          </a:p>
          <a:p>
            <a:endParaRPr lang="pt-BR" dirty="0"/>
          </a:p>
        </p:txBody>
      </p:sp>
      <p:pic>
        <p:nvPicPr>
          <p:cNvPr id="7" name="Imagem 6" descr="Estátua de uma casa&#10;&#10;O conteúdo gerado por IA pode estar incorreto.">
            <a:extLst>
              <a:ext uri="{FF2B5EF4-FFF2-40B4-BE49-F238E27FC236}">
                <a16:creationId xmlns:a16="http://schemas.microsoft.com/office/drawing/2014/main" id="{DE0AD123-497A-6D81-E845-F1469084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207" y="724862"/>
            <a:ext cx="2717045" cy="174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8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F46792-0CC9-726C-669E-8D330C77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AB22-D0A5-442D-83F8-7A94225D54FC}" type="datetime1">
              <a:t>03/12/2025</a:t>
            </a:fld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CC02BA-474C-4C04-446A-3B3D2E21BF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17650" y="549275"/>
            <a:ext cx="4560033" cy="509100"/>
          </a:xfrm>
        </p:spPr>
        <p:txBody>
          <a:bodyPr>
            <a:normAutofit fontScale="90000"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Segoe UI"/>
                <a:cs typeface="Segoe UI"/>
              </a:rPr>
              <a:t>Bibliografia</a:t>
            </a:r>
            <a:endParaRPr lang="pt-BR" sz="3200" b="1" dirty="0">
              <a:solidFill>
                <a:srgbClr val="00206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21557-A3B5-41B2-1F84-61C7DF55E6B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62942" y="1490216"/>
            <a:ext cx="7626350" cy="3331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000" dirty="0">
                <a:solidFill>
                  <a:schemeClr val="accent4"/>
                </a:solidFill>
                <a:latin typeface="Segoe UI"/>
                <a:cs typeface="Segoe 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https://www.cascudo.org.br</a:t>
            </a:r>
            <a:br>
              <a:rPr lang="pt-BR" sz="2000" dirty="0">
                <a:solidFill>
                  <a:schemeClr val="accent4"/>
                </a:solidFill>
                <a:latin typeface="Segoe UI"/>
                <a:cs typeface="Segoe UI"/>
              </a:rPr>
            </a:br>
            <a:r>
              <a:rPr lang="pt-BR" sz="2000" dirty="0">
                <a:solidFill>
                  <a:schemeClr val="accent4"/>
                </a:solidFill>
                <a:latin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https://www.instagram.com/institutocascudo/</a:t>
            </a:r>
            <a:br>
              <a:rPr lang="pt-BR" sz="2000" dirty="0">
                <a:solidFill>
                  <a:schemeClr val="accent4"/>
                </a:solidFill>
                <a:latin typeface="Segoe UI"/>
                <a:cs typeface="Segoe UI"/>
              </a:rPr>
            </a:br>
            <a:r>
              <a:rPr lang="pt-BR" sz="2000" dirty="0">
                <a:solidFill>
                  <a:schemeClr val="accent4"/>
                </a:solidFill>
                <a:latin typeface="Segoe UI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https://mcc.ufrn.br/</a:t>
            </a:r>
            <a:br>
              <a:rPr lang="pt-BR" sz="2000" dirty="0">
                <a:solidFill>
                  <a:schemeClr val="accent4"/>
                </a:solidFill>
                <a:latin typeface="Segoe UI"/>
                <a:cs typeface="Segoe UI"/>
              </a:rPr>
            </a:br>
            <a:r>
              <a:rPr lang="pt-BR" sz="2000" dirty="0">
                <a:solidFill>
                  <a:schemeClr val="accent4"/>
                </a:solidFill>
                <a:latin typeface="Segoe UI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https://www.cascudo.org.br/biblioteca/</a:t>
            </a:r>
            <a:br>
              <a:rPr lang="pt-BR" sz="2000" dirty="0">
                <a:solidFill>
                  <a:schemeClr val="accent4"/>
                </a:solidFill>
                <a:latin typeface="Segoe UI"/>
                <a:cs typeface="Segoe UI"/>
              </a:rPr>
            </a:br>
            <a:r>
              <a:rPr lang="pt-BR" sz="2000" dirty="0">
                <a:solidFill>
                  <a:schemeClr val="accent4"/>
                </a:solidFill>
                <a:latin typeface="Segoe UI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https://espacoculturalcamaracascudo.blogspot.com/</a:t>
            </a:r>
            <a:br>
              <a:rPr lang="pt-BR" sz="2000" dirty="0">
                <a:solidFill>
                  <a:schemeClr val="accent4"/>
                </a:solidFill>
                <a:latin typeface="Segoe UI"/>
                <a:cs typeface="Segoe UI"/>
              </a:rPr>
            </a:br>
            <a:r>
              <a:rPr lang="pt-BR" sz="2000" dirty="0">
                <a:solidFill>
                  <a:schemeClr val="accent4"/>
                </a:solidFill>
                <a:latin typeface="Segoe UI"/>
                <a:cs typeface="Segoe U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https://www.facebook.com/instcascudo?locale=pt_BR</a:t>
            </a:r>
            <a:endParaRPr lang="pt-BR" sz="2000" dirty="0">
              <a:solidFill>
                <a:schemeClr val="accent4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pt-BR" sz="3800" b="1" dirty="0">
              <a:solidFill>
                <a:srgbClr val="1F2937"/>
              </a:solidFill>
              <a:latin typeface="Impact"/>
            </a:endParaRPr>
          </a:p>
          <a:p>
            <a:endParaRPr lang="pt-BR" dirty="0"/>
          </a:p>
        </p:txBody>
      </p:sp>
      <p:pic>
        <p:nvPicPr>
          <p:cNvPr id="7" name="Imagem 6" descr="Uma imagem contendo Desenho técnico&#10;&#10;O conteúdo gerado por IA pode estar incorreto.">
            <a:extLst>
              <a:ext uri="{FF2B5EF4-FFF2-40B4-BE49-F238E27FC236}">
                <a16:creationId xmlns:a16="http://schemas.microsoft.com/office/drawing/2014/main" id="{5083FC07-AAEE-FA03-0A9D-D3D02D5588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6673" y="4029168"/>
            <a:ext cx="5572125" cy="263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0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CA6C2-3CDC-3488-E1B4-08B19290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88446-DBC2-4673-AB10-3D27A62F353F}" type="datetime1">
              <a:t>03/12/2025</a:t>
            </a:fld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D96291-4013-39AC-0952-C048641B56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00454" y="472710"/>
            <a:ext cx="6751327" cy="1365455"/>
          </a:xfrm>
        </p:spPr>
        <p:txBody>
          <a:bodyPr/>
          <a:lstStyle/>
          <a:p>
            <a:r>
              <a:rPr lang="pt-BR" sz="2400" b="1" dirty="0">
                <a:solidFill>
                  <a:schemeClr val="bg2"/>
                </a:solidFill>
                <a:latin typeface="Arial"/>
                <a:cs typeface="Segoe UI"/>
              </a:rPr>
              <a:t>Principais obras Literárias e Legado Eterno</a:t>
            </a:r>
            <a:endParaRPr lang="pt-BR" sz="2400" dirty="0">
              <a:solidFill>
                <a:schemeClr val="bg2"/>
              </a:solidFill>
              <a:latin typeface="Arial"/>
            </a:endParaRPr>
          </a:p>
          <a:p>
            <a:endParaRPr lang="pt-BR" sz="3800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B9FBF4-D18C-842F-0064-233E924581E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8612" y="1404658"/>
            <a:ext cx="8295764" cy="359409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Dicionário do Folclore Brasileiro (1979)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Enciclopédia de 1.100 páginas com mitos, lendas e tradições orais, essencial para estudos culturais.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História da Alimentação no Brasil (1967)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Explora a antropologia da comida, conectando história, folclore e identidade nacional.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Contos Tradicionais do Brasil (1944)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Coletânea de narrativas populares, perfeita para aulas interativas sobre oralidade e arte narrativa.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Antologia do Folclore Brasileiro (2 vols., 1939)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Primeira compilação sistemática de lendas e superstições, "primeiros passos na floresta das tradições".</a:t>
            </a:r>
            <a:endParaRPr lang="pt-BR" dirty="0"/>
          </a:p>
          <a:p>
            <a:r>
              <a:rPr lang="pt-BR" b="1" dirty="0">
                <a:solidFill>
                  <a:srgbClr val="1F2937"/>
                </a:solidFill>
                <a:latin typeface="Segoe UI"/>
                <a:cs typeface="Segoe UI"/>
              </a:rPr>
              <a:t>Vaqueiros e Cantadores (1939)</a:t>
            </a:r>
            <a:r>
              <a:rPr lang="pt-BR" dirty="0">
                <a:solidFill>
                  <a:srgbClr val="1F2937"/>
                </a:solidFill>
                <a:latin typeface="Segoe UI"/>
                <a:cs typeface="Segoe UI"/>
              </a:rPr>
              <a:t>: Poesia folclórica do sertão, destacando música e literatura como expressões culturais.</a:t>
            </a:r>
            <a:endParaRPr lang="pt-BR" dirty="0"/>
          </a:p>
          <a:p>
            <a:endParaRPr lang="pt-BR" dirty="0"/>
          </a:p>
        </p:txBody>
      </p:sp>
      <p:pic>
        <p:nvPicPr>
          <p:cNvPr id="7" name="Imagem 6" descr="Placa de sinalização na frente de um prédio&#10;&#10;O conteúdo gerado por IA pode estar incorreto.">
            <a:extLst>
              <a:ext uri="{FF2B5EF4-FFF2-40B4-BE49-F238E27FC236}">
                <a16:creationId xmlns:a16="http://schemas.microsoft.com/office/drawing/2014/main" id="{8D84D83F-9B11-71D0-E57E-CD2BD0199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98" y="4810139"/>
            <a:ext cx="2802548" cy="19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8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CE4F1D-14F9-1559-8B96-D1034EAA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A480-AF3F-4D4D-BFEC-5146CF3408B3}" type="datetime1">
              <a:t>03/12/2025</a:t>
            </a:fld>
            <a:endParaRPr lang="en-US" dirty="0"/>
          </a:p>
        </p:txBody>
      </p:sp>
      <p:pic>
        <p:nvPicPr>
          <p:cNvPr id="3" name="Imagem 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1DAEDF3C-69AA-84E9-1B35-D48F77617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2" y="128222"/>
            <a:ext cx="8724166" cy="662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8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4224D-8F79-AEF4-0533-C592530A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8659-4264-4D25-9E1A-682D27A712F4}" type="datetime1">
              <a:t>03/12/2025</a:t>
            </a:fld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16F5F-A674-A1D3-804E-21727222FA9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66080" y="2863409"/>
            <a:ext cx="6981020" cy="1145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4400" dirty="0">
                <a:solidFill>
                  <a:schemeClr val="bg1"/>
                </a:solidFill>
              </a:rPr>
              <a:t>Obrigado pela atenção!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A1D21DD-18E9-66FD-86C6-99A96D90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705" y="229547"/>
            <a:ext cx="5124450" cy="2438400"/>
          </a:xfrm>
          <a:prstGeom prst="rect">
            <a:avLst/>
          </a:prstGeom>
        </p:spPr>
      </p:pic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EA409F07-FDB6-8C9E-160D-B07FCE1D3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25" y="4002590"/>
            <a:ext cx="28003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0960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AccentBoxVTI</vt:lpstr>
      <vt:lpstr>Instituto Federal de Educação, Ciência e Tecnologia do Rio Grande do Norte Campus Natal-Central  Disciplina: Práticas educativas  Prof.a DR.a Viviane Souza De Oliveira Aluno: Rafael Bruno da Silva  Seminário interativo — A ciência nas artes </vt:lpstr>
      <vt:lpstr>Quem foi Luís da Câmara Cascudo?</vt:lpstr>
      <vt:lpstr>Câmara Cascudo como professor</vt:lpstr>
      <vt:lpstr>Em quais instituições ele ensinou?</vt:lpstr>
      <vt:lpstr>Qual era a abordagem Pedagógica:</vt:lpstr>
      <vt:lpstr>Obras e Atuação como Professor</vt:lpstr>
      <vt:lpstr>Apresentação do PowerPoint</vt:lpstr>
      <vt:lpstr>Homenagens Póstumas </vt:lpstr>
      <vt:lpstr>Bibliografia</vt:lpstr>
      <vt:lpstr>Principais obras Literárias e Legado Eterno 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340</cp:revision>
  <dcterms:created xsi:type="dcterms:W3CDTF">2013-01-27T09:14:16Z</dcterms:created>
  <dcterms:modified xsi:type="dcterms:W3CDTF">2025-12-04T03:00:37Z</dcterms:modified>
  <cp:category/>
</cp:coreProperties>
</file>