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5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7CB09C-B075-4F68-A8D5-51105DAC1818}" v="115" dt="2025-11-09T01:48:28.243"/>
    <p1510:client id="{B34C383A-5A68-4361-9289-B5BBA67BFD6E}" v="118" dt="2025-11-09T02:39:49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6897EE-AC6C-481E-B248-9B750C2E950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C3BD0E09-472F-48BA-BAE3-14022FB15FD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Aluno: Rafael Bruno da Silva</a:t>
          </a:r>
          <a:endParaRPr lang="en-US"/>
        </a:p>
      </dgm:t>
    </dgm:pt>
    <dgm:pt modelId="{BBF6B133-FAEA-4734-B817-CABA85F6AD77}" type="parTrans" cxnId="{BB584AF3-C440-4470-AC8E-D81481DE26D4}">
      <dgm:prSet/>
      <dgm:spPr/>
      <dgm:t>
        <a:bodyPr/>
        <a:lstStyle/>
        <a:p>
          <a:endParaRPr lang="en-US"/>
        </a:p>
      </dgm:t>
    </dgm:pt>
    <dgm:pt modelId="{6CD5F4C9-1EAD-4606-833A-D66CF7C4E012}" type="sibTrans" cxnId="{BB584AF3-C440-4470-AC8E-D81481DE26D4}">
      <dgm:prSet/>
      <dgm:spPr/>
      <dgm:t>
        <a:bodyPr/>
        <a:lstStyle/>
        <a:p>
          <a:endParaRPr lang="en-US"/>
        </a:p>
      </dgm:t>
    </dgm:pt>
    <dgm:pt modelId="{2A7BA642-B0FA-44C4-86F3-27B271A201D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pt-BR" b="1">
              <a:latin typeface="Aptos Display" panose="020F0302020204030204"/>
            </a:rPr>
            <a:t>Professora:</a:t>
          </a:r>
          <a:r>
            <a:rPr lang="pt-BR" b="0">
              <a:latin typeface="Consolas"/>
            </a:rPr>
            <a:t> Aldalina Ribeiro Freitas</a:t>
          </a:r>
          <a:endParaRPr lang="en-US" b="0">
            <a:latin typeface="Aptos Display" panose="020F0302020204030204"/>
          </a:endParaRPr>
        </a:p>
      </dgm:t>
    </dgm:pt>
    <dgm:pt modelId="{7F785629-798C-4143-B8CE-261BB35D16D3}" type="parTrans" cxnId="{5D8F467A-14FC-45A9-AEFF-3CB240BA8355}">
      <dgm:prSet/>
      <dgm:spPr/>
    </dgm:pt>
    <dgm:pt modelId="{74ED2723-0327-4C24-8524-35497DEBE533}" type="sibTrans" cxnId="{5D8F467A-14FC-45A9-AEFF-3CB240BA8355}">
      <dgm:prSet/>
      <dgm:spPr/>
      <dgm:t>
        <a:bodyPr/>
        <a:lstStyle/>
        <a:p>
          <a:endParaRPr lang="en-US"/>
        </a:p>
      </dgm:t>
    </dgm:pt>
    <dgm:pt modelId="{F84BD1CE-D258-42DA-9F16-D70054B00ABC}" type="pres">
      <dgm:prSet presAssocID="{2B6897EE-AC6C-481E-B248-9B750C2E9505}" presName="root" presStyleCnt="0">
        <dgm:presLayoutVars>
          <dgm:dir/>
          <dgm:resizeHandles val="exact"/>
        </dgm:presLayoutVars>
      </dgm:prSet>
      <dgm:spPr/>
    </dgm:pt>
    <dgm:pt modelId="{FA927ED3-EBCE-4C16-9604-B02979EEFA8E}" type="pres">
      <dgm:prSet presAssocID="{2A7BA642-B0FA-44C4-86F3-27B271A201D1}" presName="compNode" presStyleCnt="0"/>
      <dgm:spPr/>
    </dgm:pt>
    <dgm:pt modelId="{BCFAE44E-0D7B-407C-ADD9-737D36B6605C}" type="pres">
      <dgm:prSet presAssocID="{2A7BA642-B0FA-44C4-86F3-27B271A201D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A1E9D1E9-F911-4F55-89EF-23677F8D60CE}" type="pres">
      <dgm:prSet presAssocID="{2A7BA642-B0FA-44C4-86F3-27B271A201D1}" presName="spaceRect" presStyleCnt="0"/>
      <dgm:spPr/>
    </dgm:pt>
    <dgm:pt modelId="{A3DEF426-AE3B-4329-B3C1-18618627090B}" type="pres">
      <dgm:prSet presAssocID="{2A7BA642-B0FA-44C4-86F3-27B271A201D1}" presName="textRect" presStyleLbl="revTx" presStyleIdx="0" presStyleCnt="2">
        <dgm:presLayoutVars>
          <dgm:chMax val="1"/>
          <dgm:chPref val="1"/>
        </dgm:presLayoutVars>
      </dgm:prSet>
      <dgm:spPr/>
    </dgm:pt>
    <dgm:pt modelId="{8A7EE7FC-BB2E-4C13-AA02-B9CA0F19D795}" type="pres">
      <dgm:prSet presAssocID="{74ED2723-0327-4C24-8524-35497DEBE533}" presName="sibTrans" presStyleCnt="0"/>
      <dgm:spPr/>
    </dgm:pt>
    <dgm:pt modelId="{9DA2590D-0C49-4576-9898-D9EB501B79BF}" type="pres">
      <dgm:prSet presAssocID="{C3BD0E09-472F-48BA-BAE3-14022FB15FDD}" presName="compNode" presStyleCnt="0"/>
      <dgm:spPr/>
    </dgm:pt>
    <dgm:pt modelId="{C14ADDB3-4B4A-40F7-9C02-8BFCD251C3D6}" type="pres">
      <dgm:prSet presAssocID="{C3BD0E09-472F-48BA-BAE3-14022FB15F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e"/>
        </a:ext>
      </dgm:extLst>
    </dgm:pt>
    <dgm:pt modelId="{5447B361-7E32-4FAB-AEB2-8FF51C6CE8E6}" type="pres">
      <dgm:prSet presAssocID="{C3BD0E09-472F-48BA-BAE3-14022FB15FDD}" presName="spaceRect" presStyleCnt="0"/>
      <dgm:spPr/>
    </dgm:pt>
    <dgm:pt modelId="{D53050CF-51C4-4AE9-B3F8-E8A3E2BD8232}" type="pres">
      <dgm:prSet presAssocID="{C3BD0E09-472F-48BA-BAE3-14022FB15FD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94471C-BAE1-446A-8A38-F8F65207A080}" type="presOf" srcId="{C3BD0E09-472F-48BA-BAE3-14022FB15FDD}" destId="{D53050CF-51C4-4AE9-B3F8-E8A3E2BD8232}" srcOrd="0" destOrd="0" presId="urn:microsoft.com/office/officeart/2018/2/layout/IconLabelList"/>
    <dgm:cxn modelId="{D9089720-85FA-4932-8F03-88416E683372}" type="presOf" srcId="{2B6897EE-AC6C-481E-B248-9B750C2E9505}" destId="{F84BD1CE-D258-42DA-9F16-D70054B00ABC}" srcOrd="0" destOrd="0" presId="urn:microsoft.com/office/officeart/2018/2/layout/IconLabelList"/>
    <dgm:cxn modelId="{5D8F467A-14FC-45A9-AEFF-3CB240BA8355}" srcId="{2B6897EE-AC6C-481E-B248-9B750C2E9505}" destId="{2A7BA642-B0FA-44C4-86F3-27B271A201D1}" srcOrd="0" destOrd="0" parTransId="{7F785629-798C-4143-B8CE-261BB35D16D3}" sibTransId="{74ED2723-0327-4C24-8524-35497DEBE533}"/>
    <dgm:cxn modelId="{564943A6-3B8D-4417-AC06-4448048F9E0F}" type="presOf" srcId="{2A7BA642-B0FA-44C4-86F3-27B271A201D1}" destId="{A3DEF426-AE3B-4329-B3C1-18618627090B}" srcOrd="0" destOrd="0" presId="urn:microsoft.com/office/officeart/2018/2/layout/IconLabelList"/>
    <dgm:cxn modelId="{BB584AF3-C440-4470-AC8E-D81481DE26D4}" srcId="{2B6897EE-AC6C-481E-B248-9B750C2E9505}" destId="{C3BD0E09-472F-48BA-BAE3-14022FB15FDD}" srcOrd="1" destOrd="0" parTransId="{BBF6B133-FAEA-4734-B817-CABA85F6AD77}" sibTransId="{6CD5F4C9-1EAD-4606-833A-D66CF7C4E012}"/>
    <dgm:cxn modelId="{32437E27-65A9-48A7-BD53-3594833D7594}" type="presParOf" srcId="{F84BD1CE-D258-42DA-9F16-D70054B00ABC}" destId="{FA927ED3-EBCE-4C16-9604-B02979EEFA8E}" srcOrd="0" destOrd="0" presId="urn:microsoft.com/office/officeart/2018/2/layout/IconLabelList"/>
    <dgm:cxn modelId="{735430B9-FACD-4C9A-9633-F6C41EA20732}" type="presParOf" srcId="{FA927ED3-EBCE-4C16-9604-B02979EEFA8E}" destId="{BCFAE44E-0D7B-407C-ADD9-737D36B6605C}" srcOrd="0" destOrd="0" presId="urn:microsoft.com/office/officeart/2018/2/layout/IconLabelList"/>
    <dgm:cxn modelId="{DCD4D5B4-7A39-4B0A-853C-407EF09A316A}" type="presParOf" srcId="{FA927ED3-EBCE-4C16-9604-B02979EEFA8E}" destId="{A1E9D1E9-F911-4F55-89EF-23677F8D60CE}" srcOrd="1" destOrd="0" presId="urn:microsoft.com/office/officeart/2018/2/layout/IconLabelList"/>
    <dgm:cxn modelId="{AFEDFD12-F8DB-4108-8A20-2115C797F271}" type="presParOf" srcId="{FA927ED3-EBCE-4C16-9604-B02979EEFA8E}" destId="{A3DEF426-AE3B-4329-B3C1-18618627090B}" srcOrd="2" destOrd="0" presId="urn:microsoft.com/office/officeart/2018/2/layout/IconLabelList"/>
    <dgm:cxn modelId="{40890CB1-825B-415F-A704-9CBF7F62C31D}" type="presParOf" srcId="{F84BD1CE-D258-42DA-9F16-D70054B00ABC}" destId="{8A7EE7FC-BB2E-4C13-AA02-B9CA0F19D795}" srcOrd="1" destOrd="0" presId="urn:microsoft.com/office/officeart/2018/2/layout/IconLabelList"/>
    <dgm:cxn modelId="{D4C3BA98-6F1A-4A60-8657-7B940D6E1067}" type="presParOf" srcId="{F84BD1CE-D258-42DA-9F16-D70054B00ABC}" destId="{9DA2590D-0C49-4576-9898-D9EB501B79BF}" srcOrd="2" destOrd="0" presId="urn:microsoft.com/office/officeart/2018/2/layout/IconLabelList"/>
    <dgm:cxn modelId="{75D789C0-24B4-4695-9874-319B24DFCC41}" type="presParOf" srcId="{9DA2590D-0C49-4576-9898-D9EB501B79BF}" destId="{C14ADDB3-4B4A-40F7-9C02-8BFCD251C3D6}" srcOrd="0" destOrd="0" presId="urn:microsoft.com/office/officeart/2018/2/layout/IconLabelList"/>
    <dgm:cxn modelId="{762F7399-874E-452D-B6D1-0ECEEB97A261}" type="presParOf" srcId="{9DA2590D-0C49-4576-9898-D9EB501B79BF}" destId="{5447B361-7E32-4FAB-AEB2-8FF51C6CE8E6}" srcOrd="1" destOrd="0" presId="urn:microsoft.com/office/officeart/2018/2/layout/IconLabelList"/>
    <dgm:cxn modelId="{4885CA67-6AC6-400D-9CC2-8EC21086F042}" type="presParOf" srcId="{9DA2590D-0C49-4576-9898-D9EB501B79BF}" destId="{D53050CF-51C4-4AE9-B3F8-E8A3E2BD82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FD751B-55DD-42A2-A15C-BA9541229E25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3B6ABBD3-3410-43D8-8770-C5427447DDCB}">
      <dgm:prSet/>
      <dgm:spPr/>
      <dgm:t>
        <a:bodyPr/>
        <a:lstStyle/>
        <a:p>
          <a:r>
            <a:rPr lang="pt-BR" b="1"/>
            <a:t>Finalidade: informar, interpretar e opinar.</a:t>
          </a:r>
          <a:endParaRPr lang="en-US"/>
        </a:p>
      </dgm:t>
    </dgm:pt>
    <dgm:pt modelId="{7E47C5F3-68A5-4B26-A374-E35CF1359834}" type="parTrans" cxnId="{D4498DE5-2676-4570-8D9B-3CB0F598EF61}">
      <dgm:prSet/>
      <dgm:spPr/>
      <dgm:t>
        <a:bodyPr/>
        <a:lstStyle/>
        <a:p>
          <a:endParaRPr lang="en-US"/>
        </a:p>
      </dgm:t>
    </dgm:pt>
    <dgm:pt modelId="{8967B474-70D3-4070-BB4C-BC2556773D61}" type="sibTrans" cxnId="{D4498DE5-2676-4570-8D9B-3CB0F598EF61}">
      <dgm:prSet/>
      <dgm:spPr/>
      <dgm:t>
        <a:bodyPr/>
        <a:lstStyle/>
        <a:p>
          <a:endParaRPr lang="en-US"/>
        </a:p>
      </dgm:t>
    </dgm:pt>
    <dgm:pt modelId="{B8CDE95E-8501-447E-90D1-138329D1C59A}">
      <dgm:prSet/>
      <dgm:spPr/>
      <dgm:t>
        <a:bodyPr/>
        <a:lstStyle/>
        <a:p>
          <a:r>
            <a:rPr lang="pt-BR" b="1"/>
            <a:t>Produzido por meios de comunicação (jornais, revistas, TV, internet).</a:t>
          </a:r>
          <a:endParaRPr lang="en-US"/>
        </a:p>
      </dgm:t>
    </dgm:pt>
    <dgm:pt modelId="{FC531186-9B93-4CBC-93F7-93BE4B234E28}" type="parTrans" cxnId="{221C3A1E-E767-4D81-96BD-092955C93337}">
      <dgm:prSet/>
      <dgm:spPr/>
      <dgm:t>
        <a:bodyPr/>
        <a:lstStyle/>
        <a:p>
          <a:endParaRPr lang="en-US"/>
        </a:p>
      </dgm:t>
    </dgm:pt>
    <dgm:pt modelId="{2609CBFB-7565-411D-A8E5-ED0420DE7F5A}" type="sibTrans" cxnId="{221C3A1E-E767-4D81-96BD-092955C93337}">
      <dgm:prSet/>
      <dgm:spPr/>
      <dgm:t>
        <a:bodyPr/>
        <a:lstStyle/>
        <a:p>
          <a:endParaRPr lang="en-US"/>
        </a:p>
      </dgm:t>
    </dgm:pt>
    <dgm:pt modelId="{2B884D5E-E190-4788-8449-330E4EAE6AF4}">
      <dgm:prSet/>
      <dgm:spPr/>
      <dgm:t>
        <a:bodyPr/>
        <a:lstStyle/>
        <a:p>
          <a:r>
            <a:rPr lang="pt-BR" b="1"/>
            <a:t>Usa linguagem clara, objetiva e atual.</a:t>
          </a:r>
          <a:endParaRPr lang="en-US"/>
        </a:p>
      </dgm:t>
    </dgm:pt>
    <dgm:pt modelId="{16070DB6-9FF6-4DE7-AC46-65754AA2B27B}" type="parTrans" cxnId="{7AE96A9A-57EE-4A86-935F-3DE36B28C061}">
      <dgm:prSet/>
      <dgm:spPr/>
      <dgm:t>
        <a:bodyPr/>
        <a:lstStyle/>
        <a:p>
          <a:endParaRPr lang="en-US"/>
        </a:p>
      </dgm:t>
    </dgm:pt>
    <dgm:pt modelId="{5C42925F-5084-4579-990A-7F28DF62CB5D}" type="sibTrans" cxnId="{7AE96A9A-57EE-4A86-935F-3DE36B28C061}">
      <dgm:prSet/>
      <dgm:spPr/>
      <dgm:t>
        <a:bodyPr/>
        <a:lstStyle/>
        <a:p>
          <a:endParaRPr lang="en-US"/>
        </a:p>
      </dgm:t>
    </dgm:pt>
    <dgm:pt modelId="{0FD2EF67-9601-4737-A9F6-85D08AD2DEA1}">
      <dgm:prSet/>
      <dgm:spPr/>
      <dgm:t>
        <a:bodyPr/>
        <a:lstStyle/>
        <a:p>
          <a:r>
            <a:rPr lang="pt-BR" b="1"/>
            <a:t>Divide-se em textos informativos e opinativos</a:t>
          </a:r>
          <a:endParaRPr lang="en-US"/>
        </a:p>
      </dgm:t>
    </dgm:pt>
    <dgm:pt modelId="{55654F38-173E-4B92-96AC-2CECD1500E2E}" type="parTrans" cxnId="{281950DF-066D-419C-84AF-1F5B778BDFBC}">
      <dgm:prSet/>
      <dgm:spPr/>
      <dgm:t>
        <a:bodyPr/>
        <a:lstStyle/>
        <a:p>
          <a:endParaRPr lang="en-US"/>
        </a:p>
      </dgm:t>
    </dgm:pt>
    <dgm:pt modelId="{DD1BCA78-A223-4C42-9B2D-4D64AAB142A1}" type="sibTrans" cxnId="{281950DF-066D-419C-84AF-1F5B778BDFBC}">
      <dgm:prSet/>
      <dgm:spPr/>
      <dgm:t>
        <a:bodyPr/>
        <a:lstStyle/>
        <a:p>
          <a:endParaRPr lang="en-US"/>
        </a:p>
      </dgm:t>
    </dgm:pt>
    <dgm:pt modelId="{AE279CDD-59A6-4927-BEC1-0C698377FE8A}" type="pres">
      <dgm:prSet presAssocID="{3FFD751B-55DD-42A2-A15C-BA9541229E25}" presName="vert0" presStyleCnt="0">
        <dgm:presLayoutVars>
          <dgm:dir/>
          <dgm:animOne val="branch"/>
          <dgm:animLvl val="lvl"/>
        </dgm:presLayoutVars>
      </dgm:prSet>
      <dgm:spPr/>
    </dgm:pt>
    <dgm:pt modelId="{EB3A93AE-6194-4D60-B93D-6457AEF2B169}" type="pres">
      <dgm:prSet presAssocID="{3B6ABBD3-3410-43D8-8770-C5427447DDCB}" presName="thickLine" presStyleLbl="alignNode1" presStyleIdx="0" presStyleCnt="4"/>
      <dgm:spPr/>
    </dgm:pt>
    <dgm:pt modelId="{39076701-1787-400A-9C1D-5329391810F2}" type="pres">
      <dgm:prSet presAssocID="{3B6ABBD3-3410-43D8-8770-C5427447DDCB}" presName="horz1" presStyleCnt="0"/>
      <dgm:spPr/>
    </dgm:pt>
    <dgm:pt modelId="{D23E2AF6-B0EB-4A72-A8E6-E85A4B002A57}" type="pres">
      <dgm:prSet presAssocID="{3B6ABBD3-3410-43D8-8770-C5427447DDCB}" presName="tx1" presStyleLbl="revTx" presStyleIdx="0" presStyleCnt="4"/>
      <dgm:spPr/>
    </dgm:pt>
    <dgm:pt modelId="{857B38A7-78AB-417B-A641-B787AD004A8F}" type="pres">
      <dgm:prSet presAssocID="{3B6ABBD3-3410-43D8-8770-C5427447DDCB}" presName="vert1" presStyleCnt="0"/>
      <dgm:spPr/>
    </dgm:pt>
    <dgm:pt modelId="{04E636A8-C5F4-4502-9EA2-2851B729F583}" type="pres">
      <dgm:prSet presAssocID="{B8CDE95E-8501-447E-90D1-138329D1C59A}" presName="thickLine" presStyleLbl="alignNode1" presStyleIdx="1" presStyleCnt="4"/>
      <dgm:spPr/>
    </dgm:pt>
    <dgm:pt modelId="{96DDE661-120F-4CDD-890F-776AEE8B19EB}" type="pres">
      <dgm:prSet presAssocID="{B8CDE95E-8501-447E-90D1-138329D1C59A}" presName="horz1" presStyleCnt="0"/>
      <dgm:spPr/>
    </dgm:pt>
    <dgm:pt modelId="{DBADA8EF-1D7F-4149-89E5-9446379DB43C}" type="pres">
      <dgm:prSet presAssocID="{B8CDE95E-8501-447E-90D1-138329D1C59A}" presName="tx1" presStyleLbl="revTx" presStyleIdx="1" presStyleCnt="4"/>
      <dgm:spPr/>
    </dgm:pt>
    <dgm:pt modelId="{7EEC5047-F6FD-479B-8CB8-FE3D61280FAF}" type="pres">
      <dgm:prSet presAssocID="{B8CDE95E-8501-447E-90D1-138329D1C59A}" presName="vert1" presStyleCnt="0"/>
      <dgm:spPr/>
    </dgm:pt>
    <dgm:pt modelId="{C88EDCDC-44E4-4442-8584-5ED2D08D6911}" type="pres">
      <dgm:prSet presAssocID="{2B884D5E-E190-4788-8449-330E4EAE6AF4}" presName="thickLine" presStyleLbl="alignNode1" presStyleIdx="2" presStyleCnt="4"/>
      <dgm:spPr/>
    </dgm:pt>
    <dgm:pt modelId="{B09573CC-E5C0-4711-A4BC-7194A746EF50}" type="pres">
      <dgm:prSet presAssocID="{2B884D5E-E190-4788-8449-330E4EAE6AF4}" presName="horz1" presStyleCnt="0"/>
      <dgm:spPr/>
    </dgm:pt>
    <dgm:pt modelId="{3A1E5FB7-8FAA-4FA5-A4BD-AB309CFE4CFB}" type="pres">
      <dgm:prSet presAssocID="{2B884D5E-E190-4788-8449-330E4EAE6AF4}" presName="tx1" presStyleLbl="revTx" presStyleIdx="2" presStyleCnt="4"/>
      <dgm:spPr/>
    </dgm:pt>
    <dgm:pt modelId="{7644514E-2006-4C24-B29F-952FA347242A}" type="pres">
      <dgm:prSet presAssocID="{2B884D5E-E190-4788-8449-330E4EAE6AF4}" presName="vert1" presStyleCnt="0"/>
      <dgm:spPr/>
    </dgm:pt>
    <dgm:pt modelId="{CE395761-D9ED-4744-AD4B-66754C305E05}" type="pres">
      <dgm:prSet presAssocID="{0FD2EF67-9601-4737-A9F6-85D08AD2DEA1}" presName="thickLine" presStyleLbl="alignNode1" presStyleIdx="3" presStyleCnt="4"/>
      <dgm:spPr/>
    </dgm:pt>
    <dgm:pt modelId="{54958ECF-934A-489E-AFBA-D139A350407D}" type="pres">
      <dgm:prSet presAssocID="{0FD2EF67-9601-4737-A9F6-85D08AD2DEA1}" presName="horz1" presStyleCnt="0"/>
      <dgm:spPr/>
    </dgm:pt>
    <dgm:pt modelId="{111CE221-FF4F-4BDF-8589-A65F51CEBCB6}" type="pres">
      <dgm:prSet presAssocID="{0FD2EF67-9601-4737-A9F6-85D08AD2DEA1}" presName="tx1" presStyleLbl="revTx" presStyleIdx="3" presStyleCnt="4"/>
      <dgm:spPr/>
    </dgm:pt>
    <dgm:pt modelId="{AB747D2B-7E29-4EF8-9F96-3EC56DA03060}" type="pres">
      <dgm:prSet presAssocID="{0FD2EF67-9601-4737-A9F6-85D08AD2DEA1}" presName="vert1" presStyleCnt="0"/>
      <dgm:spPr/>
    </dgm:pt>
  </dgm:ptLst>
  <dgm:cxnLst>
    <dgm:cxn modelId="{04CB4E04-B414-4EA3-B81B-7F3BB9A0579E}" type="presOf" srcId="{0FD2EF67-9601-4737-A9F6-85D08AD2DEA1}" destId="{111CE221-FF4F-4BDF-8589-A65F51CEBCB6}" srcOrd="0" destOrd="0" presId="urn:microsoft.com/office/officeart/2008/layout/LinedList"/>
    <dgm:cxn modelId="{221C3A1E-E767-4D81-96BD-092955C93337}" srcId="{3FFD751B-55DD-42A2-A15C-BA9541229E25}" destId="{B8CDE95E-8501-447E-90D1-138329D1C59A}" srcOrd="1" destOrd="0" parTransId="{FC531186-9B93-4CBC-93F7-93BE4B234E28}" sibTransId="{2609CBFB-7565-411D-A8E5-ED0420DE7F5A}"/>
    <dgm:cxn modelId="{4EF44C44-A284-4E6D-866A-463FEB9C2C62}" type="presOf" srcId="{3FFD751B-55DD-42A2-A15C-BA9541229E25}" destId="{AE279CDD-59A6-4927-BEC1-0C698377FE8A}" srcOrd="0" destOrd="0" presId="urn:microsoft.com/office/officeart/2008/layout/LinedList"/>
    <dgm:cxn modelId="{7AE96A9A-57EE-4A86-935F-3DE36B28C061}" srcId="{3FFD751B-55DD-42A2-A15C-BA9541229E25}" destId="{2B884D5E-E190-4788-8449-330E4EAE6AF4}" srcOrd="2" destOrd="0" parTransId="{16070DB6-9FF6-4DE7-AC46-65754AA2B27B}" sibTransId="{5C42925F-5084-4579-990A-7F28DF62CB5D}"/>
    <dgm:cxn modelId="{893F809A-127E-4BA1-95F7-5F35C403B120}" type="presOf" srcId="{B8CDE95E-8501-447E-90D1-138329D1C59A}" destId="{DBADA8EF-1D7F-4149-89E5-9446379DB43C}" srcOrd="0" destOrd="0" presId="urn:microsoft.com/office/officeart/2008/layout/LinedList"/>
    <dgm:cxn modelId="{84B545C0-5CC0-45CA-867B-A36C630CB10F}" type="presOf" srcId="{2B884D5E-E190-4788-8449-330E4EAE6AF4}" destId="{3A1E5FB7-8FAA-4FA5-A4BD-AB309CFE4CFB}" srcOrd="0" destOrd="0" presId="urn:microsoft.com/office/officeart/2008/layout/LinedList"/>
    <dgm:cxn modelId="{281950DF-066D-419C-84AF-1F5B778BDFBC}" srcId="{3FFD751B-55DD-42A2-A15C-BA9541229E25}" destId="{0FD2EF67-9601-4737-A9F6-85D08AD2DEA1}" srcOrd="3" destOrd="0" parTransId="{55654F38-173E-4B92-96AC-2CECD1500E2E}" sibTransId="{DD1BCA78-A223-4C42-9B2D-4D64AAB142A1}"/>
    <dgm:cxn modelId="{D4498DE5-2676-4570-8D9B-3CB0F598EF61}" srcId="{3FFD751B-55DD-42A2-A15C-BA9541229E25}" destId="{3B6ABBD3-3410-43D8-8770-C5427447DDCB}" srcOrd="0" destOrd="0" parTransId="{7E47C5F3-68A5-4B26-A374-E35CF1359834}" sibTransId="{8967B474-70D3-4070-BB4C-BC2556773D61}"/>
    <dgm:cxn modelId="{F3536DF6-B1CE-4A79-ACC8-16263231BD0B}" type="presOf" srcId="{3B6ABBD3-3410-43D8-8770-C5427447DDCB}" destId="{D23E2AF6-B0EB-4A72-A8E6-E85A4B002A57}" srcOrd="0" destOrd="0" presId="urn:microsoft.com/office/officeart/2008/layout/LinedList"/>
    <dgm:cxn modelId="{7F896CCC-6BA7-4B59-B7AF-7A616FE5E8CC}" type="presParOf" srcId="{AE279CDD-59A6-4927-BEC1-0C698377FE8A}" destId="{EB3A93AE-6194-4D60-B93D-6457AEF2B169}" srcOrd="0" destOrd="0" presId="urn:microsoft.com/office/officeart/2008/layout/LinedList"/>
    <dgm:cxn modelId="{BCFCEC25-CE24-4A62-BEC5-9006DF81F78C}" type="presParOf" srcId="{AE279CDD-59A6-4927-BEC1-0C698377FE8A}" destId="{39076701-1787-400A-9C1D-5329391810F2}" srcOrd="1" destOrd="0" presId="urn:microsoft.com/office/officeart/2008/layout/LinedList"/>
    <dgm:cxn modelId="{E9156640-394A-40C5-9150-3EB797B81782}" type="presParOf" srcId="{39076701-1787-400A-9C1D-5329391810F2}" destId="{D23E2AF6-B0EB-4A72-A8E6-E85A4B002A57}" srcOrd="0" destOrd="0" presId="urn:microsoft.com/office/officeart/2008/layout/LinedList"/>
    <dgm:cxn modelId="{E172A2E3-D22F-4A4A-A6F4-032371523EAA}" type="presParOf" srcId="{39076701-1787-400A-9C1D-5329391810F2}" destId="{857B38A7-78AB-417B-A641-B787AD004A8F}" srcOrd="1" destOrd="0" presId="urn:microsoft.com/office/officeart/2008/layout/LinedList"/>
    <dgm:cxn modelId="{45CBDD4E-3454-459A-A5B3-883AFB0B410E}" type="presParOf" srcId="{AE279CDD-59A6-4927-BEC1-0C698377FE8A}" destId="{04E636A8-C5F4-4502-9EA2-2851B729F583}" srcOrd="2" destOrd="0" presId="urn:microsoft.com/office/officeart/2008/layout/LinedList"/>
    <dgm:cxn modelId="{9B25B7BD-CFE1-46A7-91DD-3CE1F7B95234}" type="presParOf" srcId="{AE279CDD-59A6-4927-BEC1-0C698377FE8A}" destId="{96DDE661-120F-4CDD-890F-776AEE8B19EB}" srcOrd="3" destOrd="0" presId="urn:microsoft.com/office/officeart/2008/layout/LinedList"/>
    <dgm:cxn modelId="{98F43D4F-6C32-4430-A947-2E8DCC3E2159}" type="presParOf" srcId="{96DDE661-120F-4CDD-890F-776AEE8B19EB}" destId="{DBADA8EF-1D7F-4149-89E5-9446379DB43C}" srcOrd="0" destOrd="0" presId="urn:microsoft.com/office/officeart/2008/layout/LinedList"/>
    <dgm:cxn modelId="{7DC4E099-95F1-41D7-9320-B0929CFE565C}" type="presParOf" srcId="{96DDE661-120F-4CDD-890F-776AEE8B19EB}" destId="{7EEC5047-F6FD-479B-8CB8-FE3D61280FAF}" srcOrd="1" destOrd="0" presId="urn:microsoft.com/office/officeart/2008/layout/LinedList"/>
    <dgm:cxn modelId="{FD9A97B4-0C5B-47BA-8E3E-395158CE2AD0}" type="presParOf" srcId="{AE279CDD-59A6-4927-BEC1-0C698377FE8A}" destId="{C88EDCDC-44E4-4442-8584-5ED2D08D6911}" srcOrd="4" destOrd="0" presId="urn:microsoft.com/office/officeart/2008/layout/LinedList"/>
    <dgm:cxn modelId="{57DA65A9-E6FF-453F-924F-72BB4DEE4BC8}" type="presParOf" srcId="{AE279CDD-59A6-4927-BEC1-0C698377FE8A}" destId="{B09573CC-E5C0-4711-A4BC-7194A746EF50}" srcOrd="5" destOrd="0" presId="urn:microsoft.com/office/officeart/2008/layout/LinedList"/>
    <dgm:cxn modelId="{E5738DFC-42A5-4A24-BA94-64A10D5AEA1F}" type="presParOf" srcId="{B09573CC-E5C0-4711-A4BC-7194A746EF50}" destId="{3A1E5FB7-8FAA-4FA5-A4BD-AB309CFE4CFB}" srcOrd="0" destOrd="0" presId="urn:microsoft.com/office/officeart/2008/layout/LinedList"/>
    <dgm:cxn modelId="{CCD249D3-5DFC-4E75-83F2-B3B36C3A3268}" type="presParOf" srcId="{B09573CC-E5C0-4711-A4BC-7194A746EF50}" destId="{7644514E-2006-4C24-B29F-952FA347242A}" srcOrd="1" destOrd="0" presId="urn:microsoft.com/office/officeart/2008/layout/LinedList"/>
    <dgm:cxn modelId="{DFA83F6A-EB69-4593-AABA-8AB0EB90A9C4}" type="presParOf" srcId="{AE279CDD-59A6-4927-BEC1-0C698377FE8A}" destId="{CE395761-D9ED-4744-AD4B-66754C305E05}" srcOrd="6" destOrd="0" presId="urn:microsoft.com/office/officeart/2008/layout/LinedList"/>
    <dgm:cxn modelId="{09EA75A7-354C-4074-81C3-9FE2278445BB}" type="presParOf" srcId="{AE279CDD-59A6-4927-BEC1-0C698377FE8A}" destId="{54958ECF-934A-489E-AFBA-D139A350407D}" srcOrd="7" destOrd="0" presId="urn:microsoft.com/office/officeart/2008/layout/LinedList"/>
    <dgm:cxn modelId="{F7A6674B-1723-49DE-8A3E-33A55C1477ED}" type="presParOf" srcId="{54958ECF-934A-489E-AFBA-D139A350407D}" destId="{111CE221-FF4F-4BDF-8589-A65F51CEBCB6}" srcOrd="0" destOrd="0" presId="urn:microsoft.com/office/officeart/2008/layout/LinedList"/>
    <dgm:cxn modelId="{0AB1916D-B390-4141-807C-012A32214CEE}" type="presParOf" srcId="{54958ECF-934A-489E-AFBA-D139A350407D}" destId="{AB747D2B-7E29-4EF8-9F96-3EC56DA030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FAE44E-0D7B-407C-ADD9-737D36B6605C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EF426-AE3B-4329-B3C1-18618627090B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>
              <a:latin typeface="Aptos Display" panose="020F0302020204030204"/>
            </a:rPr>
            <a:t>Professora:</a:t>
          </a:r>
          <a:r>
            <a:rPr lang="pt-BR" sz="2300" b="0" kern="1200">
              <a:latin typeface="Consolas"/>
            </a:rPr>
            <a:t> Aldalina Ribeiro Freitas</a:t>
          </a:r>
          <a:endParaRPr lang="en-US" sz="2300" b="0" kern="1200">
            <a:latin typeface="Aptos Display" panose="020F0302020204030204"/>
          </a:endParaRPr>
        </a:p>
      </dsp:txBody>
      <dsp:txXfrm>
        <a:off x="559800" y="3022743"/>
        <a:ext cx="4320000" cy="720000"/>
      </dsp:txXfrm>
    </dsp:sp>
    <dsp:sp modelId="{C14ADDB3-4B4A-40F7-9C02-8BFCD251C3D6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050CF-51C4-4AE9-B3F8-E8A3E2BD8232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Aluno: Rafael Bruno da Silva</a:t>
          </a:r>
          <a:endParaRPr lang="en-US" sz="2300" kern="1200"/>
        </a:p>
      </dsp:txBody>
      <dsp:txXfrm>
        <a:off x="5635800" y="3022743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A93AE-6194-4D60-B93D-6457AEF2B169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E2AF6-B0EB-4A72-A8E6-E85A4B002A57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b="1" kern="1200"/>
            <a:t>Finalidade: informar, interpretar e opinar.</a:t>
          </a:r>
          <a:endParaRPr lang="en-US" sz="3000" kern="1200"/>
        </a:p>
      </dsp:txBody>
      <dsp:txXfrm>
        <a:off x="0" y="0"/>
        <a:ext cx="6900512" cy="1384035"/>
      </dsp:txXfrm>
    </dsp:sp>
    <dsp:sp modelId="{04E636A8-C5F4-4502-9EA2-2851B729F583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DA8EF-1D7F-4149-89E5-9446379DB43C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b="1" kern="1200"/>
            <a:t>Produzido por meios de comunicação (jornais, revistas, TV, internet).</a:t>
          </a:r>
          <a:endParaRPr lang="en-US" sz="3000" kern="1200"/>
        </a:p>
      </dsp:txBody>
      <dsp:txXfrm>
        <a:off x="0" y="1384035"/>
        <a:ext cx="6900512" cy="1384035"/>
      </dsp:txXfrm>
    </dsp:sp>
    <dsp:sp modelId="{C88EDCDC-44E4-4442-8584-5ED2D08D6911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E5FB7-8FAA-4FA5-A4BD-AB309CFE4CFB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b="1" kern="1200"/>
            <a:t>Usa linguagem clara, objetiva e atual.</a:t>
          </a:r>
          <a:endParaRPr lang="en-US" sz="3000" kern="1200"/>
        </a:p>
      </dsp:txBody>
      <dsp:txXfrm>
        <a:off x="0" y="2768070"/>
        <a:ext cx="6900512" cy="1384035"/>
      </dsp:txXfrm>
    </dsp:sp>
    <dsp:sp modelId="{CE395761-D9ED-4744-AD4B-66754C305E05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CE221-FF4F-4BDF-8589-A65F51CEBCB6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b="1" kern="1200"/>
            <a:t>Divide-se em textos informativos e opinativos</a:t>
          </a:r>
          <a:endParaRPr lang="en-US" sz="3000" kern="1200"/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FF5E77E-13DB-9DBE-3510-25A4A31F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40" y="1906587"/>
            <a:ext cx="11628319" cy="30577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93A02C1-54CF-07D0-13AE-0F0380E88F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33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FF0831-FA11-8B10-0AFD-ABEBE8F6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b="1"/>
              <a:t>Disciplina: Língua portuguesa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08484ED-954A-A796-E201-654A40467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5191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9669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Lupa mostrando declínio de desempenho">
            <a:extLst>
              <a:ext uri="{FF2B5EF4-FFF2-40B4-BE49-F238E27FC236}">
                <a16:creationId xmlns:a16="http://schemas.microsoft.com/office/drawing/2014/main" id="{96869622-6638-ABFE-6690-6236D76AA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2" r="23298" b="834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DC854D-B8F6-8DF4-71B5-B5D60498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21" y="749530"/>
            <a:ext cx="10338918" cy="26746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O Gênero Jornalístico Argumentativo</a:t>
            </a:r>
          </a:p>
          <a:p>
            <a:endParaRPr lang="en-US" sz="48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CA9439-679D-61F8-31D1-71032E616258}"/>
              </a:ext>
            </a:extLst>
          </p:cNvPr>
          <p:cNvSpPr txBox="1"/>
          <p:nvPr/>
        </p:nvSpPr>
        <p:spPr>
          <a:xfrm>
            <a:off x="828402" y="3852238"/>
            <a:ext cx="10552019" cy="93692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 b="1"/>
              <a:t>"</a:t>
            </a:r>
            <a:r>
              <a:rPr lang="en-US" sz="2400" b="1" err="1"/>
              <a:t>Análise</a:t>
            </a:r>
            <a:r>
              <a:rPr lang="en-US" sz="2400" b="1"/>
              <a:t> e </a:t>
            </a:r>
            <a:r>
              <a:rPr lang="en-US" sz="2400" b="1" err="1"/>
              <a:t>características</a:t>
            </a:r>
            <a:r>
              <a:rPr lang="en-US" sz="2400" b="1"/>
              <a:t> da </a:t>
            </a:r>
            <a:r>
              <a:rPr lang="en-US" sz="2400" b="1" err="1"/>
              <a:t>linguagem</a:t>
            </a:r>
            <a:r>
              <a:rPr lang="en-US" sz="2400" b="1"/>
              <a:t> no campo </a:t>
            </a:r>
            <a:r>
              <a:rPr lang="en-US" sz="2400" b="1" err="1"/>
              <a:t>discursivo</a:t>
            </a:r>
            <a:r>
              <a:rPr lang="en-US" sz="2400" b="1"/>
              <a:t> </a:t>
            </a:r>
            <a:r>
              <a:rPr lang="en-US" sz="2400" b="1" err="1"/>
              <a:t>jornalístico</a:t>
            </a:r>
            <a:r>
              <a:rPr lang="en-US" sz="2400" b="1"/>
              <a:t>"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329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56E6F9-0735-75C8-B5A8-207E3186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4000" b="1">
                <a:ea typeface="+mj-lt"/>
                <a:cs typeface="+mj-lt"/>
              </a:rPr>
              <a:t>O que são gêneros de linguagem?</a:t>
            </a:r>
            <a:endParaRPr lang="pt-BR" sz="40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B5C46-7B66-DAF2-80A6-97E5CC3AC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Formas de uso social da língua.</a:t>
            </a:r>
            <a:endParaRPr lang="pt-BR" sz="2000" b="1"/>
          </a:p>
          <a:p>
            <a:pPr marL="0" indent="0">
              <a:buNone/>
            </a:pPr>
            <a:endParaRPr lang="pt-BR" sz="20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Cada gênero tem estrutura, objetivo e estilo próprios.</a:t>
            </a:r>
            <a:endParaRPr lang="pt-BR" sz="2000" b="1"/>
          </a:p>
          <a:p>
            <a:pPr>
              <a:buFont typeface="Arial"/>
              <a:buChar char="•"/>
            </a:pPr>
            <a:endParaRPr lang="pt-BR" sz="20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Exemplo: receita, notícia, carta, crônica, artigo, propaganda.</a:t>
            </a:r>
            <a:endParaRPr lang="pt-BR" sz="2000" b="1"/>
          </a:p>
          <a:p>
            <a:pPr>
              <a:buFont typeface="Arial"/>
              <a:buChar char="•"/>
            </a:pPr>
            <a:endParaRPr lang="pt-BR" sz="20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000" b="1">
                <a:ea typeface="+mn-lt"/>
                <a:cs typeface="+mn-lt"/>
              </a:rPr>
              <a:t>São modelos de comunicação criados pela sociedade.</a:t>
            </a:r>
            <a:endParaRPr lang="pt-BR" sz="2000" b="1"/>
          </a:p>
          <a:p>
            <a:pPr marL="0" indent="0">
              <a:buNone/>
            </a:pPr>
            <a:endParaRPr lang="pt-BR" sz="2000"/>
          </a:p>
        </p:txBody>
      </p:sp>
      <p:pic>
        <p:nvPicPr>
          <p:cNvPr id="5" name="Picture 4" descr="Caixas de ponto de interrogação">
            <a:extLst>
              <a:ext uri="{FF2B5EF4-FFF2-40B4-BE49-F238E27FC236}">
                <a16:creationId xmlns:a16="http://schemas.microsoft.com/office/drawing/2014/main" id="{00BFB35C-360F-FAD7-5F48-70025767A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92" r="2245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4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51675-F376-9E3D-FB26-3BA887DC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34" y="718314"/>
            <a:ext cx="3728625" cy="5479827"/>
          </a:xfrm>
        </p:spPr>
        <p:txBody>
          <a:bodyPr anchor="ctr">
            <a:normAutofit/>
          </a:bodyPr>
          <a:lstStyle/>
          <a:p>
            <a:r>
              <a:rPr lang="pt-BR" sz="5000" b="1">
                <a:ea typeface="+mj-lt"/>
                <a:cs typeface="+mj-lt"/>
              </a:rPr>
              <a:t>O campo discursivo jornalístico</a:t>
            </a:r>
            <a:endParaRPr lang="pt-BR" sz="5000" b="1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9083E458-58C1-F859-8BA5-9C80E216D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907100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132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C86511-247C-B627-B382-5602AABA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190" y="181537"/>
            <a:ext cx="9810916" cy="1624520"/>
          </a:xfrm>
        </p:spPr>
        <p:txBody>
          <a:bodyPr anchor="ctr">
            <a:normAutofit/>
          </a:bodyPr>
          <a:lstStyle/>
          <a:p>
            <a:r>
              <a:rPr lang="pt-BR" b="1">
                <a:ea typeface="+mj-lt"/>
                <a:cs typeface="+mj-lt"/>
              </a:rPr>
              <a:t>O gênero jornalístico argumentativo</a:t>
            </a:r>
            <a:endParaRPr lang="pt-BR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5E8F0-E68C-336C-726C-9DEF7F3BC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155" y="1712259"/>
            <a:ext cx="10846227" cy="46552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pt-BR" b="1">
                <a:ea typeface="+mn-lt"/>
                <a:cs typeface="+mn-lt"/>
              </a:rPr>
              <a:t>Representado por artigos de opinião, editoriais e crônicas argumentativas.</a:t>
            </a:r>
            <a:endParaRPr lang="pt-BR" b="1"/>
          </a:p>
          <a:p>
            <a:pPr marL="0" indent="0">
              <a:buNone/>
            </a:pPr>
            <a:endParaRPr lang="pt-BR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b="1">
                <a:ea typeface="+mn-lt"/>
                <a:cs typeface="+mn-lt"/>
              </a:rPr>
              <a:t>Objetivo: defender um ponto de vista sobre um tema atual.</a:t>
            </a:r>
            <a:endParaRPr lang="pt-BR" b="1"/>
          </a:p>
          <a:p>
            <a:pPr marL="0" indent="0">
              <a:buNone/>
            </a:pPr>
            <a:endParaRPr lang="pt-BR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b="1">
                <a:ea typeface="+mn-lt"/>
                <a:cs typeface="+mn-lt"/>
              </a:rPr>
              <a:t>Combina informação + argumentação + opinião.</a:t>
            </a:r>
            <a:endParaRPr lang="pt-BR" b="1"/>
          </a:p>
          <a:p>
            <a:pPr marL="0" indent="0">
              <a:buNone/>
            </a:pPr>
            <a:endParaRPr lang="pt-BR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b="1">
                <a:ea typeface="+mn-lt"/>
                <a:cs typeface="+mn-lt"/>
              </a:rPr>
              <a:t>Estrutura: introdução do tema → desenvolvimento de argumentos → conclusão com reflexão.</a:t>
            </a:r>
            <a:endParaRPr lang="pt-BR" b="1"/>
          </a:p>
          <a:p>
            <a:pPr marL="0" indent="0">
              <a:buNone/>
            </a:pP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21494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B2CB810-F224-70BF-4696-4AFB7F65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62" y="503425"/>
            <a:ext cx="11363661" cy="1122270"/>
          </a:xfrm>
        </p:spPr>
        <p:txBody>
          <a:bodyPr>
            <a:normAutofit/>
          </a:bodyPr>
          <a:lstStyle/>
          <a:p>
            <a:r>
              <a:rPr lang="pt-BR" sz="3600" b="1">
                <a:solidFill>
                  <a:schemeClr val="tx2"/>
                </a:solidFill>
                <a:ea typeface="+mj-lt"/>
                <a:cs typeface="+mj-lt"/>
              </a:rPr>
              <a:t>Estrutura e linguagem do texto argumentativo jornalístico</a:t>
            </a:r>
            <a:endParaRPr lang="pt-BR" sz="3600" b="1">
              <a:solidFill>
                <a:schemeClr val="tx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756C5C-94E5-65BA-4B47-5B20CAA76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89" y="1611494"/>
            <a:ext cx="10521605" cy="51407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pt-BR" sz="2400" b="1">
                <a:solidFill>
                  <a:schemeClr val="tx2"/>
                </a:solidFill>
                <a:ea typeface="+mn-lt"/>
                <a:cs typeface="+mn-lt"/>
              </a:rPr>
              <a:t>Linguagem: clara, objetiva, mas pode ser crítica e expressiva.</a:t>
            </a:r>
            <a:endParaRPr lang="pt-BR" sz="2400" b="1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endParaRPr lang="pt-BR" sz="2400" b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b="1">
                <a:solidFill>
                  <a:schemeClr val="tx2"/>
                </a:solidFill>
                <a:ea typeface="+mn-lt"/>
                <a:cs typeface="+mn-lt"/>
              </a:rPr>
              <a:t>Marcas linguísticas: verbos de opinião (“acredita-se”, “defende-se”, “é necessário”), conectivos (“portanto”, “porque”, “entretanto”).</a:t>
            </a:r>
            <a:endParaRPr lang="pt-BR" sz="2400" b="1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endParaRPr lang="pt-BR" sz="2400" b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b="1">
                <a:solidFill>
                  <a:schemeClr val="tx2"/>
                </a:solidFill>
                <a:ea typeface="+mn-lt"/>
                <a:cs typeface="+mn-lt"/>
              </a:rPr>
              <a:t>Sequências textuais predominantes: expositiva e argumentativa.</a:t>
            </a:r>
            <a:endParaRPr lang="pt-BR" sz="2400" b="1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endParaRPr lang="pt-BR" sz="2400" b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400" b="1">
                <a:solidFill>
                  <a:schemeClr val="tx2"/>
                </a:solidFill>
                <a:ea typeface="+mn-lt"/>
                <a:cs typeface="+mn-lt"/>
              </a:rPr>
              <a:t>Pode incluir citações, dados e comparações.</a:t>
            </a:r>
            <a:endParaRPr lang="pt-BR" sz="2400" b="1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pt-BR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34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688E31-9A1E-018C-06E5-7E0C9E48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80" y="295966"/>
            <a:ext cx="5711228" cy="1264842"/>
          </a:xfrm>
        </p:spPr>
        <p:txBody>
          <a:bodyPr anchor="ctr">
            <a:normAutofit/>
          </a:bodyPr>
          <a:lstStyle/>
          <a:p>
            <a:r>
              <a:rPr lang="pt-BR" sz="2600" b="1">
                <a:ea typeface="+mj-lt"/>
                <a:cs typeface="+mj-lt"/>
              </a:rPr>
              <a:t>Exemplo de texto jornalístico argumentativo</a:t>
            </a:r>
            <a:endParaRPr lang="pt-BR" sz="26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E1932D-7128-2F7F-B458-A97B5AD91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571" y="5158835"/>
            <a:ext cx="4469512" cy="73756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Wingdings" panose="020B0604020202020204" pitchFamily="34" charset="0"/>
              <a:buChar char="ü"/>
            </a:pPr>
            <a:r>
              <a:rPr lang="pt-BR" sz="2000" b="1" dirty="0">
                <a:ea typeface="+mn-lt"/>
                <a:cs typeface="+mn-lt"/>
              </a:rPr>
              <a:t>Artigo escolhido ( Crônica, “Os discos voadores”</a:t>
            </a:r>
            <a:r>
              <a:rPr lang="pt-BR" sz="2000" dirty="0">
                <a:ea typeface="+mn-lt"/>
                <a:cs typeface="+mn-lt"/>
              </a:rPr>
              <a:t>, de </a:t>
            </a:r>
            <a:r>
              <a:rPr lang="pt-BR" sz="2000" b="1" dirty="0">
                <a:ea typeface="+mn-lt"/>
                <a:cs typeface="+mn-lt"/>
              </a:rPr>
              <a:t>Rachel de Queiroz).</a:t>
            </a:r>
            <a:endParaRPr lang="pt-BR" sz="2000" b="1" dirty="0"/>
          </a:p>
          <a:p>
            <a:pPr marL="0" indent="0">
              <a:buNone/>
            </a:pPr>
            <a:endParaRPr lang="pt-BR" sz="1700" b="1"/>
          </a:p>
          <a:p>
            <a:pPr>
              <a:buFont typeface="Wingdings" panose="020B0604020202020204" pitchFamily="34" charset="0"/>
              <a:buChar char="ü"/>
            </a:pPr>
            <a:endParaRPr lang="pt-BR" sz="1700"/>
          </a:p>
        </p:txBody>
      </p:sp>
      <p:pic>
        <p:nvPicPr>
          <p:cNvPr id="6" name="Imagem 5" descr="Interface gráfica do usuário, Text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A1469FCA-2D19-9B93-C7B6-2DED9FD21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4" y="1720150"/>
            <a:ext cx="2628900" cy="2952750"/>
          </a:xfrm>
          <a:prstGeom prst="rect">
            <a:avLst/>
          </a:prstGeom>
        </p:spPr>
      </p:pic>
      <p:pic>
        <p:nvPicPr>
          <p:cNvPr id="7" name="Imagem 6" descr="Texto, Carta&#10;&#10;O conteúdo gerado por IA pode estar incorreto.">
            <a:extLst>
              <a:ext uri="{FF2B5EF4-FFF2-40B4-BE49-F238E27FC236}">
                <a16:creationId xmlns:a16="http://schemas.microsoft.com/office/drawing/2014/main" id="{4AD809A9-54A2-0443-A68E-DA139800D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120" y="166284"/>
            <a:ext cx="766762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4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Tabela&#10;&#10;O conteúdo gerado por IA pode estar incorreto.">
            <a:extLst>
              <a:ext uri="{FF2B5EF4-FFF2-40B4-BE49-F238E27FC236}">
                <a16:creationId xmlns:a16="http://schemas.microsoft.com/office/drawing/2014/main" id="{9E35FAF1-D336-903C-46E0-B3CEFDF12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03" y="347063"/>
            <a:ext cx="12039104" cy="616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4DF72714-0B43-D582-8BDB-BF1FD7E79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02" y="-4321"/>
            <a:ext cx="8579765" cy="438311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9E79A18-EB69-6773-3F56-802536B59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4545946"/>
            <a:ext cx="86106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19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esenhos em papel colorido">
            <a:extLst>
              <a:ext uri="{FF2B5EF4-FFF2-40B4-BE49-F238E27FC236}">
                <a16:creationId xmlns:a16="http://schemas.microsoft.com/office/drawing/2014/main" id="{3A1D43AA-2CF0-F50F-9BAD-2209DA68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5" b="232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CAE20B-66BF-E50A-1760-35A2E560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729" y="566831"/>
            <a:ext cx="10515600" cy="1325563"/>
          </a:xfrm>
        </p:spPr>
        <p:txBody>
          <a:bodyPr>
            <a:normAutofit/>
          </a:bodyPr>
          <a:lstStyle/>
          <a:p>
            <a:r>
              <a:rPr lang="pt-BR" b="1">
                <a:ea typeface="+mj-lt"/>
                <a:cs typeface="+mj-lt"/>
              </a:rPr>
              <a:t>Conclusão – O papel do gênero jornalístico argumentativo</a:t>
            </a:r>
            <a:endParaRPr lang="pt-BR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85F52-DB66-40FD-21C5-90CE225B0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890"/>
            <a:ext cx="10515600" cy="38246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pt-BR" b="1">
                <a:ea typeface="+mn-lt"/>
                <a:cs typeface="+mn-lt"/>
              </a:rPr>
              <a:t>Estimula a reflexão e o pensamento crítico.</a:t>
            </a:r>
            <a:endParaRPr lang="pt-BR" b="1"/>
          </a:p>
          <a:p>
            <a:pPr>
              <a:buFont typeface="Wingdings" panose="020B0604020202020204" pitchFamily="34" charset="0"/>
              <a:buChar char="Ø"/>
            </a:pPr>
            <a:endParaRPr lang="pt-BR" b="1"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pt-BR" b="1">
                <a:ea typeface="+mn-lt"/>
                <a:cs typeface="+mn-lt"/>
              </a:rPr>
              <a:t>Informa e forma opinião ao mesmo tempo.</a:t>
            </a:r>
            <a:endParaRPr lang="pt-BR" b="1"/>
          </a:p>
          <a:p>
            <a:pPr>
              <a:buFont typeface="Wingdings" panose="020B0604020202020204" pitchFamily="34" charset="0"/>
              <a:buChar char="Ø"/>
            </a:pPr>
            <a:endParaRPr lang="pt-BR" b="1"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pt-BR" b="1" dirty="0">
                <a:ea typeface="+mn-lt"/>
                <a:cs typeface="+mn-lt"/>
              </a:rPr>
              <a:t>Aproxima fatos da realidade do leitor.</a:t>
            </a:r>
            <a:endParaRPr lang="pt-BR" b="1" dirty="0"/>
          </a:p>
          <a:p>
            <a:pPr>
              <a:buFont typeface="Wingdings" panose="020B0604020202020204" pitchFamily="34" charset="0"/>
              <a:buChar char="Ø"/>
            </a:pPr>
            <a:endParaRPr lang="pt-BR" b="1"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pt-BR" b="1" dirty="0">
                <a:ea typeface="+mn-lt"/>
                <a:cs typeface="+mn-lt"/>
              </a:rPr>
              <a:t>Tem função social: promover debate e consciência pública.</a:t>
            </a:r>
            <a:endParaRPr lang="pt-BR" b="1" dirty="0"/>
          </a:p>
          <a:p>
            <a:pPr>
              <a:buFont typeface="Wingdings" panose="020B0604020202020204" pitchFamily="34" charset="0"/>
              <a:buChar char="Ø"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703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B7313-0354-3B91-0436-82D12808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chemeClr val="accent3">
                    <a:lumMod val="76000"/>
                  </a:schemeClr>
                </a:solidFill>
              </a:rPr>
              <a:t>Referencias: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2083F-1A20-C414-7B10-24138B0E4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066"/>
            <a:ext cx="10515600" cy="3041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Google.com.</a:t>
            </a:r>
          </a:p>
          <a:p>
            <a:pPr marL="0" indent="0">
              <a:buNone/>
            </a:pPr>
            <a:r>
              <a:rPr lang="pt-BR"/>
              <a:t>Google AI.</a:t>
            </a:r>
          </a:p>
          <a:p>
            <a:pPr marL="0" indent="0">
              <a:buNone/>
            </a:pPr>
            <a:r>
              <a:rPr lang="pt-BR"/>
              <a:t>ChatGPT.</a:t>
            </a:r>
          </a:p>
          <a:p>
            <a:pPr marL="0" indent="0">
              <a:buNone/>
            </a:pPr>
            <a:r>
              <a:rPr lang="pt-BR">
                <a:ea typeface="+mn-lt"/>
                <a:cs typeface="+mn-lt"/>
              </a:rPr>
              <a:t>https://vestibulares.estrategia.com/portal/materias/portugues/texto-jornalistico/</a:t>
            </a:r>
            <a:endParaRPr lang="pt-BR"/>
          </a:p>
          <a:p>
            <a:pPr marL="0" indent="0">
              <a:buNone/>
            </a:pPr>
            <a:r>
              <a:rPr lang="pt-BR"/>
              <a:t>Texto: .</a:t>
            </a:r>
          </a:p>
          <a:p>
            <a:pPr marL="0" indent="0">
              <a:buNone/>
            </a:pPr>
            <a:endParaRPr lang="pt-BR"/>
          </a:p>
        </p:txBody>
      </p:sp>
      <p:pic>
        <p:nvPicPr>
          <p:cNvPr id="4" name="Imagem 3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EDDE2EFC-163D-3976-9EC5-367CEB6F5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28" y="5569098"/>
            <a:ext cx="3285640" cy="101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79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Tema do Office</vt:lpstr>
      <vt:lpstr>Apresentação do PowerPoint</vt:lpstr>
      <vt:lpstr>Disciplina: Língua portuguesa</vt:lpstr>
      <vt:lpstr>O Gênero Jornalístico Argumentativo </vt:lpstr>
      <vt:lpstr>O que são gêneros de linguagem?</vt:lpstr>
      <vt:lpstr>O campo discursivo jornalístico</vt:lpstr>
      <vt:lpstr>O gênero jornalístico argumentativo</vt:lpstr>
      <vt:lpstr>Estrutura e linguagem do texto argumentativo jornalístico</vt:lpstr>
      <vt:lpstr>Exemplo de texto jornalístico argumentativo</vt:lpstr>
      <vt:lpstr>Apresentação do PowerPoint</vt:lpstr>
      <vt:lpstr>Apresentação do PowerPoint</vt:lpstr>
      <vt:lpstr>Conclusão – O papel do gênero jornalístico argumentativo</vt:lpstr>
      <vt:lpstr>Referencias: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74</cp:revision>
  <dcterms:created xsi:type="dcterms:W3CDTF">2025-11-06T02:21:21Z</dcterms:created>
  <dcterms:modified xsi:type="dcterms:W3CDTF">2025-11-09T02:45:53Z</dcterms:modified>
</cp:coreProperties>
</file>